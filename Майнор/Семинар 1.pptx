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23"/>
  </p:notesMasterIdLst>
  <p:handoutMasterIdLst>
    <p:handoutMasterId r:id="rId24"/>
  </p:handoutMasterIdLst>
  <p:sldIdLst>
    <p:sldId id="290" r:id="rId2"/>
    <p:sldId id="421" r:id="rId3"/>
    <p:sldId id="422" r:id="rId4"/>
    <p:sldId id="402" r:id="rId5"/>
    <p:sldId id="420" r:id="rId6"/>
    <p:sldId id="411" r:id="rId7"/>
    <p:sldId id="410" r:id="rId8"/>
    <p:sldId id="416" r:id="rId9"/>
    <p:sldId id="417" r:id="rId10"/>
    <p:sldId id="418" r:id="rId11"/>
    <p:sldId id="419" r:id="rId12"/>
    <p:sldId id="319" r:id="rId13"/>
    <p:sldId id="423" r:id="rId14"/>
    <p:sldId id="424" r:id="rId15"/>
    <p:sldId id="425" r:id="rId16"/>
    <p:sldId id="426" r:id="rId17"/>
    <p:sldId id="427" r:id="rId18"/>
    <p:sldId id="429" r:id="rId19"/>
    <p:sldId id="432" r:id="rId20"/>
    <p:sldId id="430" r:id="rId21"/>
    <p:sldId id="431" r:id="rId22"/>
  </p:sldIdLst>
  <p:sldSz cx="9144000" cy="6858000" type="screen4x3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22" autoAdjust="0"/>
  </p:normalViewPr>
  <p:slideViewPr>
    <p:cSldViewPr>
      <p:cViewPr varScale="1">
        <p:scale>
          <a:sx n="108" d="100"/>
          <a:sy n="108" d="100"/>
        </p:scale>
        <p:origin x="130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BF938-7EB2-43F3-8346-E84938F3E18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7763C-B770-406D-8F17-124C2CFA40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0385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F1E19-6928-48A1-BD1B-A0AC2E70CA2F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1FE43-30F0-4DE2-A680-5F2672262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5190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UNIDO (United Nations Industrial Development Organization — </a:t>
            </a:r>
            <a:r>
              <a:rPr lang="ru-RU"/>
              <a:t>Организация ООН по проблемам промышленного развития)</a:t>
            </a:r>
          </a:p>
        </p:txBody>
      </p:sp>
    </p:spTree>
    <p:extLst>
      <p:ext uri="{BB962C8B-B14F-4D97-AF65-F5344CB8AC3E}">
        <p14:creationId xmlns:p14="http://schemas.microsoft.com/office/powerpoint/2010/main" val="3619041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>
            <a:extLst>
              <a:ext uri="{FF2B5EF4-FFF2-40B4-BE49-F238E27FC236}">
                <a16:creationId xmlns:a16="http://schemas.microsoft.com/office/drawing/2014/main" id="{4F003912-F129-5314-82E0-3C66871E31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Заметки 2">
            <a:extLst>
              <a:ext uri="{FF2B5EF4-FFF2-40B4-BE49-F238E27FC236}">
                <a16:creationId xmlns:a16="http://schemas.microsoft.com/office/drawing/2014/main" id="{DDFD60D6-D4DA-7476-C4AA-90D676122E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altLang="ru-RU">
                <a:latin typeface="Times New Roman" panose="02020603050405020304" pitchFamily="18" charset="0"/>
              </a:rPr>
              <a:t>Лаборатория Воронова - </a:t>
            </a:r>
            <a:r>
              <a:rPr lang="en-US" altLang="ru-RU">
                <a:latin typeface="Times New Roman" panose="02020603050405020304" pitchFamily="18" charset="0"/>
              </a:rPr>
              <a:t>https://smart-lab.ru/blog/976065.php</a:t>
            </a:r>
            <a:r>
              <a:rPr lang="ru-RU" altLang="ru-RU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9940" name="Дата 3">
            <a:extLst>
              <a:ext uri="{FF2B5EF4-FFF2-40B4-BE49-F238E27FC236}">
                <a16:creationId xmlns:a16="http://schemas.microsoft.com/office/drawing/2014/main" id="{4B55BDA4-1A94-C87E-212F-3D79B64B831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3150621-E16D-4A79-88D7-0ECE92B69968}" type="datetime1">
              <a:rPr lang="ru-RU" altLang="ru-RU" sz="1200" smtClean="0"/>
              <a:pPr/>
              <a:t>12.02.2026</a:t>
            </a:fld>
            <a:endParaRPr lang="ru-RU" altLang="ru-RU" sz="1200"/>
          </a:p>
        </p:txBody>
      </p:sp>
      <p:sp>
        <p:nvSpPr>
          <p:cNvPr id="39941" name="Номер слайда 4">
            <a:extLst>
              <a:ext uri="{FF2B5EF4-FFF2-40B4-BE49-F238E27FC236}">
                <a16:creationId xmlns:a16="http://schemas.microsoft.com/office/drawing/2014/main" id="{A5D074E2-43DF-8081-D6C4-E681B463F6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A570C09-A15D-4EA9-A1F7-6C87E91A88C6}" type="slidenum">
              <a:rPr lang="ru-RU" altLang="ru-RU" sz="1200" smtClean="0"/>
              <a:pPr/>
              <a:t>18</a:t>
            </a:fld>
            <a:endParaRPr lang="ru-RU" altLang="ru-RU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408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65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93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556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71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93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3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20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332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5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431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265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924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283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9877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647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7451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3E0AA4D-00DB-E911-6C72-8DFE78DA85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56BD7E-A714-42C0-BE01-5BBA25399DE7}" type="datetime1">
              <a:rPr lang="ru-RU"/>
              <a:pPr>
                <a:defRPr/>
              </a:pPr>
              <a:t>12.02.2026</a:t>
            </a:fld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D2B3439-B0D6-2FA2-1752-F14A750F46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911696-47EE-811F-463D-EF116DFDE9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B078A-F87C-4797-AC23-85A1D4511E5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34125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0705A6-F4B8-4371-B45B-9C7C613F55C8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887B9A-CC15-48BE-B155-9B6E9247E6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90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arasova72@mail.ru" TargetMode="External"/><Relationship Id="rId2" Type="http://schemas.openxmlformats.org/officeDocument/2006/relationships/hyperlink" Target="mailto:yutarasova@hse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&#1088;&#1077;&#1096;&#1077;&#1085;&#1080;&#1077;-&#1074;&#1077;&#1088;&#1085;&#1086;&#1077;.&#1088;&#1092;/unido-metodik" TargetMode="External"/><Relationship Id="rId3" Type="http://schemas.openxmlformats.org/officeDocument/2006/relationships/hyperlink" Target="https://www.glavbukh.ru/art/391503-investitsionnye-proekty-vidy-etapy-byudjetirovanie" TargetMode="External"/><Relationship Id="rId7" Type="http://schemas.openxmlformats.org/officeDocument/2006/relationships/hyperlink" Target="https://&#1085;&#1072;&#1094;&#1080;&#1086;&#1085;&#1072;&#1083;&#1100;&#1085;&#1099;&#1077;&#1087;&#1088;&#1086;&#1077;&#1082;&#1090;&#1099;.&#1088;&#1092;/new-project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vestprojects.info/" TargetMode="External"/><Relationship Id="rId5" Type="http://schemas.openxmlformats.org/officeDocument/2006/relationships/hyperlink" Target="https://alfabank.ru/alfa-investor/t/krasnye-flagi-v-investitsiyah-gid-po-riskam/" TargetMode="External"/><Relationship Id="rId4" Type="http://schemas.openxmlformats.org/officeDocument/2006/relationships/hyperlink" Target="https://biz360.ru/materials/dengi-dlya-razvitiya-dolgovoe-dolevoe-ili-partnyerskoe-finansirovanie-vybrat-biznesu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mart-lab.ru/blog/976065.ph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75656" y="1556792"/>
            <a:ext cx="6120680" cy="1614041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7030A0"/>
                </a:solidFill>
              </a:rPr>
              <a:t>Корпоративные инвестиции и проектный бизнес</a:t>
            </a:r>
            <a:br>
              <a:rPr lang="ru-RU" sz="3600" b="1" dirty="0">
                <a:solidFill>
                  <a:srgbClr val="7030A0"/>
                </a:solidFill>
              </a:rPr>
            </a:br>
            <a:r>
              <a:rPr lang="ru-RU" sz="2400" b="1" dirty="0">
                <a:solidFill>
                  <a:srgbClr val="7030A0"/>
                </a:solidFill>
              </a:rPr>
              <a:t>(семинар – ЗАПИСЬ в Смарт ЛМС!!!)</a:t>
            </a:r>
            <a:endParaRPr lang="ru-RU" sz="3600" b="1" dirty="0">
              <a:solidFill>
                <a:srgbClr val="7030A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59632" y="3687168"/>
            <a:ext cx="6296744" cy="1450047"/>
          </a:xfrm>
        </p:spPr>
        <p:txBody>
          <a:bodyPr>
            <a:noAutofit/>
          </a:bodyPr>
          <a:lstStyle/>
          <a:p>
            <a:pPr algn="r"/>
            <a:r>
              <a:rPr lang="ru-RU" dirty="0"/>
              <a:t>Тарасова Юлия Александровна</a:t>
            </a:r>
          </a:p>
          <a:p>
            <a:pPr algn="r"/>
            <a:r>
              <a:rPr lang="ru-RU" dirty="0"/>
              <a:t>К.э.н., доцент департамента</a:t>
            </a:r>
          </a:p>
          <a:p>
            <a:pPr algn="r"/>
            <a:r>
              <a:rPr lang="ru-RU" dirty="0"/>
              <a:t>финансов ШЭМ</a:t>
            </a:r>
          </a:p>
          <a:p>
            <a:pPr algn="r"/>
            <a:r>
              <a:rPr lang="en-US" sz="2000" dirty="0">
                <a:hlinkClick r:id="rId2"/>
              </a:rPr>
              <a:t>yutarasova@hse.ru</a:t>
            </a:r>
            <a:r>
              <a:rPr lang="en-US" sz="2000" dirty="0"/>
              <a:t>; </a:t>
            </a:r>
            <a:r>
              <a:rPr lang="en-US" sz="2000" dirty="0">
                <a:hlinkClick r:id="rId3"/>
              </a:rPr>
              <a:t>tarasova72@mail.ru</a:t>
            </a:r>
            <a:endParaRPr lang="ru-RU" sz="2000" dirty="0"/>
          </a:p>
        </p:txBody>
      </p:sp>
      <p:sp>
        <p:nvSpPr>
          <p:cNvPr id="4" name="Москва, 2017"/>
          <p:cNvSpPr txBox="1">
            <a:spLocks noChangeArrowheads="1"/>
          </p:cNvSpPr>
          <p:nvPr/>
        </p:nvSpPr>
        <p:spPr bwMode="auto">
          <a:xfrm>
            <a:off x="1979712" y="6256337"/>
            <a:ext cx="4721225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7" tIns="35717" rIns="35717" bIns="35717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ru-RU" altLang="ru-RU" sz="1700" dirty="0">
                <a:solidFill>
                  <a:srgbClr val="253957"/>
                </a:solidFill>
                <a:latin typeface="Arial Narrow" pitchFamily="34" charset="0"/>
                <a:ea typeface="Arial Narrow" pitchFamily="34" charset="0"/>
                <a:cs typeface="Arial Narrow" pitchFamily="34" charset="0"/>
                <a:sym typeface="Arial Narrow" pitchFamily="34" charset="0"/>
              </a:rPr>
              <a:t>Санкт-Петербург, 2025/2026 </a:t>
            </a:r>
            <a:r>
              <a:rPr lang="ru-RU" altLang="ru-RU" sz="1700" dirty="0" err="1">
                <a:solidFill>
                  <a:srgbClr val="253957"/>
                </a:solidFill>
                <a:latin typeface="Arial Narrow" pitchFamily="34" charset="0"/>
                <a:ea typeface="Arial Narrow" pitchFamily="34" charset="0"/>
                <a:cs typeface="Arial Narrow" pitchFamily="34" charset="0"/>
                <a:sym typeface="Arial Narrow" pitchFamily="34" charset="0"/>
              </a:rPr>
              <a:t>уч.год</a:t>
            </a:r>
            <a:endParaRPr lang="ru-RU" altLang="ru-RU" sz="1700" dirty="0">
              <a:solidFill>
                <a:srgbClr val="253957"/>
              </a:solidFill>
              <a:latin typeface="Arial Narrow" pitchFamily="34" charset="0"/>
              <a:ea typeface="Arial Narrow" pitchFamily="34" charset="0"/>
              <a:cs typeface="Arial Narrow" pitchFamily="34" charset="0"/>
              <a:sym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0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6226BB-B008-8204-E108-C72656FF1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635512"/>
            <a:ext cx="7200799" cy="1593812"/>
          </a:xfrm>
        </p:spPr>
        <p:txBody>
          <a:bodyPr>
            <a:normAutofit/>
          </a:bodyPr>
          <a:lstStyle/>
          <a:p>
            <a:r>
              <a:rPr lang="ru-RU" b="1" dirty="0"/>
              <a:t>Формула оценивания</a:t>
            </a:r>
            <a:br>
              <a:rPr lang="ru-RU" dirty="0"/>
            </a:br>
            <a:r>
              <a:rPr lang="ru-RU" sz="2700" dirty="0"/>
              <a:t>(Способ округления результирующей оценки - по методу Гаусса)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F870FB-E772-E9D4-590B-059946A94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3608" y="4581128"/>
            <a:ext cx="3465758" cy="149734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800" dirty="0"/>
              <a:t>3 модуль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400" dirty="0"/>
              <a:t>тест 1 по первым трем темам (</a:t>
            </a:r>
            <a:r>
              <a:rPr lang="ru-RU" sz="2400" u="sng" dirty="0"/>
              <a:t>18.03</a:t>
            </a:r>
            <a:r>
              <a:rPr lang="ru-RU" sz="2400" dirty="0"/>
              <a:t>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56D21D-83F6-73CE-F89B-C33A93D92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4048" y="4077072"/>
            <a:ext cx="3337560" cy="21454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800" dirty="0"/>
              <a:t>4 модуль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400" dirty="0"/>
              <a:t>тест 2 (</a:t>
            </a:r>
            <a:r>
              <a:rPr lang="ru-RU" sz="2400" u="sng" dirty="0"/>
              <a:t>03.06</a:t>
            </a:r>
            <a:r>
              <a:rPr lang="ru-RU" sz="240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400" dirty="0"/>
              <a:t>задачи (</a:t>
            </a:r>
            <a:r>
              <a:rPr lang="ru-RU" sz="2400" u="sng" dirty="0"/>
              <a:t>03.06</a:t>
            </a:r>
            <a:r>
              <a:rPr lang="ru-RU" sz="240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400" dirty="0"/>
              <a:t>ИП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2ACFB177-994E-8D39-4FD9-DE11F8EE8F8F}"/>
              </a:ext>
            </a:extLst>
          </p:cNvPr>
          <p:cNvSpPr txBox="1">
            <a:spLocks/>
          </p:cNvSpPr>
          <p:nvPr/>
        </p:nvSpPr>
        <p:spPr>
          <a:xfrm>
            <a:off x="611560" y="2505126"/>
            <a:ext cx="8064896" cy="12961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57150" indent="0" algn="ctr">
              <a:buFont typeface="Arial"/>
              <a:buNone/>
            </a:pPr>
            <a:r>
              <a:rPr lang="ru-RU" sz="2800" dirty="0" err="1"/>
              <a:t>О</a:t>
            </a:r>
            <a:r>
              <a:rPr lang="ru-RU" sz="2800" baseline="-25000" dirty="0" err="1"/>
              <a:t>рез</a:t>
            </a:r>
            <a:r>
              <a:rPr lang="ru-RU" sz="2800" dirty="0"/>
              <a:t> = 0,15*</a:t>
            </a:r>
            <a:r>
              <a:rPr lang="ru-RU" sz="2800" dirty="0" err="1"/>
              <a:t>О</a:t>
            </a:r>
            <a:r>
              <a:rPr lang="ru-RU" sz="2800" baseline="-25000" dirty="0" err="1"/>
              <a:t>тест</a:t>
            </a:r>
            <a:r>
              <a:rPr lang="ru-RU" sz="2800" baseline="-25000" dirty="0"/>
              <a:t> 1</a:t>
            </a:r>
            <a:r>
              <a:rPr lang="ru-RU" sz="2800" dirty="0"/>
              <a:t> + 0,15*</a:t>
            </a:r>
            <a:r>
              <a:rPr lang="ru-RU" sz="2800" dirty="0" err="1"/>
              <a:t>О</a:t>
            </a:r>
            <a:r>
              <a:rPr lang="ru-RU" sz="2800" baseline="-25000" dirty="0" err="1"/>
              <a:t>тест</a:t>
            </a:r>
            <a:r>
              <a:rPr lang="ru-RU" sz="2800" baseline="-25000" dirty="0"/>
              <a:t> 2</a:t>
            </a:r>
            <a:r>
              <a:rPr lang="ru-RU" sz="2800" dirty="0"/>
              <a:t> + 0,2*</a:t>
            </a:r>
            <a:r>
              <a:rPr lang="ru-RU" sz="2800" dirty="0" err="1"/>
              <a:t>О</a:t>
            </a:r>
            <a:r>
              <a:rPr lang="ru-RU" sz="2800" baseline="-25000" dirty="0" err="1"/>
              <a:t>задачи</a:t>
            </a:r>
            <a:r>
              <a:rPr lang="ru-RU" sz="2800" dirty="0"/>
              <a:t> + </a:t>
            </a:r>
          </a:p>
          <a:p>
            <a:pPr marL="57150" indent="0" algn="ctr">
              <a:buFont typeface="Arial"/>
              <a:buNone/>
            </a:pPr>
            <a:r>
              <a:rPr lang="ru-RU" sz="2800" dirty="0"/>
              <a:t> + 0,25*</a:t>
            </a:r>
            <a:r>
              <a:rPr lang="ru-RU" sz="2800" dirty="0" err="1"/>
              <a:t>О</a:t>
            </a:r>
            <a:r>
              <a:rPr lang="ru-RU" sz="2800" baseline="-25000" dirty="0" err="1"/>
              <a:t>текст</a:t>
            </a:r>
            <a:r>
              <a:rPr lang="ru-RU" sz="2800" baseline="-25000" dirty="0"/>
              <a:t> проекта</a:t>
            </a:r>
            <a:r>
              <a:rPr lang="ru-RU" sz="2800" dirty="0"/>
              <a:t> +0,25*</a:t>
            </a:r>
            <a:r>
              <a:rPr lang="ru-RU" sz="2800" dirty="0" err="1"/>
              <a:t>О</a:t>
            </a:r>
            <a:r>
              <a:rPr lang="ru-RU" sz="2800" baseline="-25000" dirty="0" err="1"/>
              <a:t>защита</a:t>
            </a:r>
            <a:endParaRPr lang="ru-RU" sz="2800" dirty="0"/>
          </a:p>
          <a:p>
            <a:pPr marL="457200" lvl="1" indent="0">
              <a:buFont typeface="Arial"/>
              <a:buNone/>
            </a:pPr>
            <a:endParaRPr lang="ru-RU" sz="2400" dirty="0"/>
          </a:p>
          <a:p>
            <a:pPr marL="457200" lvl="1" indent="0">
              <a:buFont typeface="Arial"/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9550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2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2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2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3C28C-D265-D4FD-28D2-149CDBEF1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096" y="692697"/>
            <a:ext cx="6798734" cy="57606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Характеристики оценок (ПУД)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627E34-AC8A-FB6C-7D43-4C56679F9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680519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Тесты будут закрытого типа с ограниченным временем на их выполнение, выбор одного или более правильных ответов, материал для тестов включает все темы дисциплины</a:t>
            </a:r>
          </a:p>
          <a:p>
            <a:r>
              <a:rPr lang="ru-RU" dirty="0"/>
              <a:t>Задачи должны содержать правильный итоговый ответ и правильные промежуточные решения, примерные задачи будут разбираться на семинарах</a:t>
            </a:r>
          </a:p>
          <a:p>
            <a:r>
              <a:rPr lang="ru-RU" dirty="0"/>
              <a:t>Будет представлено несколько типов задач</a:t>
            </a:r>
          </a:p>
          <a:p>
            <a:pPr lvl="1"/>
            <a:r>
              <a:rPr lang="ru-RU" dirty="0"/>
              <a:t>закрытые (с выбором одного верного ответа)</a:t>
            </a:r>
          </a:p>
          <a:p>
            <a:pPr lvl="1"/>
            <a:r>
              <a:rPr lang="ru-RU" dirty="0"/>
              <a:t>в виде эссе</a:t>
            </a:r>
          </a:p>
          <a:p>
            <a:pPr lvl="2"/>
            <a:r>
              <a:rPr lang="ru-RU" dirty="0"/>
              <a:t>вписать промежуточные ответы и итоговый ответ</a:t>
            </a:r>
          </a:p>
          <a:p>
            <a:pPr lvl="2"/>
            <a:r>
              <a:rPr lang="ru-RU" dirty="0"/>
              <a:t>полностью расписать решение задачи и указать итоговый ответ</a:t>
            </a:r>
          </a:p>
          <a:p>
            <a:r>
              <a:rPr lang="ru-RU" dirty="0"/>
              <a:t>Если оценка за тесты и/или задачи ниже удовлетворительной оценки (1, 2 или 3 балла), тогда студент может их пересдать; при получении положительной оценки, итоговая оценка будет </a:t>
            </a:r>
            <a:r>
              <a:rPr lang="ru-RU" b="1" u="sng" dirty="0"/>
              <a:t>усреднена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525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00AFA-7B25-053F-817C-53AA9E6F8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1144039"/>
            <a:ext cx="7633742" cy="63870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Примеры форм контроля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648059-1385-BEE8-EA99-D5EE72ADF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2975" y="2571750"/>
            <a:ext cx="2476897" cy="3521546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ru-RU" b="1" u="sng" dirty="0">
                <a:solidFill>
                  <a:schemeClr val="tx1"/>
                </a:solidFill>
              </a:rPr>
              <a:t>ТЕСТ</a:t>
            </a:r>
          </a:p>
          <a:p>
            <a:pPr marL="0" indent="0">
              <a:buNone/>
            </a:pPr>
            <a:r>
              <a:rPr lang="ru-RU" b="1" dirty="0">
                <a:solidFill>
                  <a:srgbClr val="7030A0"/>
                </a:solidFill>
              </a:rPr>
              <a:t>Покупка квартиры – это _______________ инвестиции</a:t>
            </a:r>
          </a:p>
          <a:p>
            <a:r>
              <a:rPr lang="ru-RU" dirty="0"/>
              <a:t>реальные</a:t>
            </a:r>
          </a:p>
          <a:p>
            <a:r>
              <a:rPr lang="ru-RU" dirty="0"/>
              <a:t>финансовые</a:t>
            </a:r>
          </a:p>
          <a:p>
            <a:r>
              <a:rPr lang="ru-RU" dirty="0"/>
              <a:t>интеллектуальные</a:t>
            </a:r>
          </a:p>
          <a:p>
            <a:r>
              <a:rPr lang="ru-RU" dirty="0"/>
              <a:t>спекулятивные</a:t>
            </a:r>
          </a:p>
          <a:p>
            <a:r>
              <a:rPr lang="ru-RU" dirty="0"/>
              <a:t>венчурные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D6B9DA-C77F-41BE-BC08-CB380BCA5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55976" y="2494697"/>
            <a:ext cx="3888432" cy="3670607"/>
          </a:xfrm>
        </p:spPr>
        <p:txBody>
          <a:bodyPr>
            <a:normAutofit fontScale="70000" lnSpcReduction="20000"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ru-RU" altLang="ru-RU" b="1" dirty="0"/>
              <a:t>ЗАДАЧА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ru-RU" altLang="ru-RU" dirty="0"/>
              <a:t>Вам обещают равномерно выплатить 3 </a:t>
            </a:r>
            <a:r>
              <a:rPr lang="ru-RU" altLang="ru-RU" dirty="0" err="1"/>
              <a:t>млн.д.ед</a:t>
            </a:r>
            <a:r>
              <a:rPr lang="ru-RU" altLang="ru-RU" dirty="0"/>
              <a:t>. в год в течение 3 лет. Получите ли вы обещанную сумму при 10%?</a:t>
            </a:r>
          </a:p>
          <a:p>
            <a:pPr marL="214313" lvl="1" indent="-214313">
              <a:spcBef>
                <a:spcPts val="0"/>
              </a:spcBef>
            </a:pPr>
            <a:r>
              <a:rPr lang="ru-RU" altLang="ru-RU" dirty="0"/>
              <a:t>Да</a:t>
            </a:r>
          </a:p>
          <a:p>
            <a:pPr marL="214313" lvl="1" indent="-214313">
              <a:spcBef>
                <a:spcPts val="0"/>
              </a:spcBef>
            </a:pPr>
            <a:r>
              <a:rPr lang="ru-RU" altLang="ru-RU" dirty="0"/>
              <a:t>Нет</a:t>
            </a:r>
          </a:p>
          <a:p>
            <a:pPr marL="214313" lvl="1" indent="-214313">
              <a:spcBef>
                <a:spcPts val="0"/>
              </a:spcBef>
            </a:pPr>
            <a:r>
              <a:rPr lang="ru-RU" altLang="ru-RU" dirty="0"/>
              <a:t>Не хватает данных</a:t>
            </a:r>
          </a:p>
          <a:p>
            <a:pPr marL="214313" lvl="1" indent="-214313">
              <a:spcBef>
                <a:spcPts val="0"/>
              </a:spcBef>
            </a:pPr>
            <a:r>
              <a:rPr lang="ru-RU" altLang="ru-RU" dirty="0"/>
              <a:t>Нет верного ответа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ru-RU" altLang="ru-RU" dirty="0"/>
              <a:t>Или </a:t>
            </a:r>
          </a:p>
          <a:p>
            <a:pPr marL="0" indent="0">
              <a:buNone/>
            </a:pPr>
            <a:r>
              <a:rPr lang="en-US" altLang="ru-RU" dirty="0"/>
              <a:t>2</a:t>
            </a:r>
            <a:r>
              <a:rPr lang="ru-RU" altLang="ru-RU" dirty="0"/>
              <a:t>,5 млн</a:t>
            </a:r>
            <a:r>
              <a:rPr lang="en-US" altLang="ru-RU" dirty="0"/>
              <a:t> </a:t>
            </a:r>
            <a:r>
              <a:rPr lang="ru-RU" altLang="ru-RU" dirty="0" err="1"/>
              <a:t>д.ед</a:t>
            </a:r>
            <a:r>
              <a:rPr lang="ru-RU" altLang="ru-RU" dirty="0"/>
              <a:t>.</a:t>
            </a:r>
          </a:p>
          <a:p>
            <a:pPr marL="0" indent="0">
              <a:buNone/>
            </a:pPr>
            <a:r>
              <a:rPr lang="ru-RU" altLang="ru-RU" dirty="0"/>
              <a:t>3,5 млн</a:t>
            </a:r>
            <a:r>
              <a:rPr lang="en-US" altLang="ru-RU" dirty="0"/>
              <a:t> </a:t>
            </a:r>
            <a:r>
              <a:rPr lang="ru-RU" altLang="ru-RU" dirty="0" err="1"/>
              <a:t>д.ед</a:t>
            </a:r>
            <a:r>
              <a:rPr lang="ru-RU" altLang="ru-RU" dirty="0"/>
              <a:t>.</a:t>
            </a:r>
          </a:p>
          <a:p>
            <a:pPr marL="0" indent="0">
              <a:buNone/>
            </a:pPr>
            <a:r>
              <a:rPr lang="ru-RU" altLang="ru-RU" dirty="0"/>
              <a:t>1,5 млн</a:t>
            </a:r>
            <a:r>
              <a:rPr lang="en-US" altLang="ru-RU" dirty="0"/>
              <a:t> </a:t>
            </a:r>
            <a:r>
              <a:rPr lang="ru-RU" altLang="ru-RU" dirty="0" err="1"/>
              <a:t>д.ед</a:t>
            </a:r>
            <a:r>
              <a:rPr lang="ru-RU" altLang="ru-RU" dirty="0"/>
              <a:t>.</a:t>
            </a:r>
          </a:p>
          <a:p>
            <a:pPr marL="0" indent="0">
              <a:buNone/>
            </a:pPr>
            <a:r>
              <a:rPr lang="ru-RU" altLang="ru-RU" dirty="0"/>
              <a:t>3,0 млн</a:t>
            </a:r>
            <a:r>
              <a:rPr lang="en-US" altLang="ru-RU" dirty="0"/>
              <a:t> </a:t>
            </a:r>
            <a:r>
              <a:rPr lang="ru-RU" altLang="ru-RU" dirty="0" err="1"/>
              <a:t>д.ед</a:t>
            </a:r>
            <a:r>
              <a:rPr lang="ru-RU" alt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367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A986-B157-46A8-D4F2-091BC3620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1E3F8-8142-5A79-32EC-F54FB666F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96" y="764704"/>
            <a:ext cx="7272808" cy="1152128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Инвестиционный проект (ИП)</a:t>
            </a:r>
            <a:br>
              <a:rPr lang="ru-RU" sz="4400" dirty="0"/>
            </a:br>
            <a:r>
              <a:rPr lang="ru-RU" sz="4400" dirty="0"/>
              <a:t>4 модуль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2E4526-AC83-A834-EF91-54A4F4812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2492896"/>
            <a:ext cx="8064896" cy="3744416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ru-RU" sz="2400" dirty="0"/>
              <a:t>Оценка за проект состоит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200" dirty="0"/>
              <a:t>из оценки за текст работы (до </a:t>
            </a:r>
            <a:r>
              <a:rPr lang="ru-RU" sz="2200" u="sng" dirty="0"/>
              <a:t>27 мая</a:t>
            </a:r>
            <a:r>
              <a:rPr lang="ru-RU" sz="2200" dirty="0"/>
              <a:t>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200" dirty="0"/>
              <a:t>из оценки за защиту (с </a:t>
            </a:r>
            <a:r>
              <a:rPr lang="ru-RU" sz="2200" u="sng" dirty="0"/>
              <a:t>29 апреля</a:t>
            </a:r>
            <a:r>
              <a:rPr lang="ru-RU" sz="220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400" dirty="0"/>
              <a:t>Защита – питчинг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200" dirty="0"/>
              <a:t>Выступление 5-10 минут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200" dirty="0"/>
              <a:t>Количество слайдов 3-5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400" dirty="0"/>
              <a:t>Невосполняемая форма контроля (см. ПУД)</a:t>
            </a:r>
          </a:p>
          <a:p>
            <a:pPr marL="57150" indent="0" algn="ctr"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7179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951FE-0555-BD70-C0CC-C4D8BE10E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Критерии инвестиционного проекта (ИП) – каждый по 2 балла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36DE91-528D-7431-C52B-27DA980E6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Описание ИП (тема 1 вопрос 2 – 1.2; тема 3)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Бюджет и стратегия ИП (тема 1)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Методы финансирования ИП (тема 2)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Методы оценки ИП (тема 4, 5)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Степень окупаемости ИП (1.3, темы 4 - 6)</a:t>
            </a:r>
          </a:p>
        </p:txBody>
      </p:sp>
    </p:spTree>
    <p:extLst>
      <p:ext uri="{BB962C8B-B14F-4D97-AF65-F5344CB8AC3E}">
        <p14:creationId xmlns:p14="http://schemas.microsoft.com/office/powerpoint/2010/main" val="121447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B4711-4C6F-4188-7942-D79A5D219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Описание ИП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419FC-8F4D-FEDE-1AAC-1F2E8261B0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1600" y="2487168"/>
            <a:ext cx="4331238" cy="367813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Название</a:t>
            </a:r>
          </a:p>
          <a:p>
            <a:r>
              <a:rPr lang="ru-RU" dirty="0"/>
              <a:t>Вид (1.2)</a:t>
            </a:r>
          </a:p>
          <a:p>
            <a:r>
              <a:rPr lang="ru-RU" dirty="0"/>
              <a:t>Отрасль</a:t>
            </a:r>
          </a:p>
          <a:p>
            <a:r>
              <a:rPr lang="ru-RU" dirty="0"/>
              <a:t>Услуга / Продукт</a:t>
            </a:r>
          </a:p>
          <a:p>
            <a:r>
              <a:rPr lang="ru-RU" dirty="0"/>
              <a:t>Новый / Существующий</a:t>
            </a:r>
          </a:p>
          <a:p>
            <a:r>
              <a:rPr lang="ru-RU" dirty="0"/>
              <a:t>Соотносится</a:t>
            </a:r>
          </a:p>
          <a:p>
            <a:pPr lvl="1"/>
            <a:r>
              <a:rPr lang="ru-RU" dirty="0"/>
              <a:t>с целью ИП</a:t>
            </a:r>
          </a:p>
          <a:p>
            <a:pPr lvl="1"/>
            <a:r>
              <a:rPr lang="ru-RU" dirty="0"/>
              <a:t>с методами финансирования</a:t>
            </a:r>
          </a:p>
          <a:p>
            <a:pPr lvl="1"/>
            <a:r>
              <a:rPr lang="ru-RU" dirty="0"/>
              <a:t>с бюджетом ИП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486EF7-4365-FC7B-06F6-638074450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104" y="2487168"/>
            <a:ext cx="2736304" cy="3447288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Риски проекта (тема 3.1, 3.2)</a:t>
            </a:r>
          </a:p>
          <a:p>
            <a:r>
              <a:rPr lang="ru-RU" b="1" dirty="0">
                <a:solidFill>
                  <a:srgbClr val="7030A0"/>
                </a:solidFill>
              </a:rPr>
              <a:t>Методы анализа риска (3.3)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851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E7DCB7-D973-9646-70F1-4A640787A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Бюджет и стратегия ИП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F8FF75-EF7B-0C7E-B982-6DBB1EDE3E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Должны соответствовать названию, цели</a:t>
            </a:r>
          </a:p>
          <a:p>
            <a:pPr marL="457200" lvl="1" indent="0">
              <a:buNone/>
            </a:pPr>
            <a:r>
              <a:rPr lang="ru-RU" sz="2400" dirty="0"/>
              <a:t>1. Возможные доходные и расходные статьи за период 5-</a:t>
            </a:r>
            <a:r>
              <a:rPr lang="ru-RU" sz="2400" b="1" dirty="0">
                <a:solidFill>
                  <a:srgbClr val="7030A0"/>
                </a:solidFill>
              </a:rPr>
              <a:t>10</a:t>
            </a:r>
            <a:r>
              <a:rPr lang="ru-RU" sz="2400" dirty="0"/>
              <a:t> лет (1.3)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4396F8-FA56-51F0-04D2-0DEC0B1626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2. Инвестиционные стратегии или одна стратегия (1.1)</a:t>
            </a:r>
          </a:p>
          <a:p>
            <a:pPr marL="0" indent="0">
              <a:buNone/>
            </a:pPr>
            <a:r>
              <a:rPr lang="ru-RU" dirty="0"/>
              <a:t>3. Можно расписать </a:t>
            </a:r>
            <a:r>
              <a:rPr lang="ru-RU" b="1" dirty="0">
                <a:solidFill>
                  <a:srgbClr val="7030A0"/>
                </a:solidFill>
              </a:rPr>
              <a:t>этапы</a:t>
            </a:r>
            <a:r>
              <a:rPr lang="ru-RU" dirty="0"/>
              <a:t> (1.2)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568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4A739-BE5D-BFFE-66C6-C86A431F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3. Методы финансирования ИП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48B003-1095-B00F-C420-1CE0C3CB2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539150" cy="3447288"/>
          </a:xfrm>
        </p:spPr>
        <p:txBody>
          <a:bodyPr/>
          <a:lstStyle/>
          <a:p>
            <a:r>
              <a:rPr lang="ru-RU" dirty="0"/>
              <a:t>Источники финансирования (2.1)</a:t>
            </a:r>
          </a:p>
          <a:p>
            <a:pPr lvl="1"/>
            <a:r>
              <a:rPr lang="ru-RU" dirty="0"/>
              <a:t>Обоснование их использования</a:t>
            </a:r>
          </a:p>
          <a:p>
            <a:pPr lvl="1"/>
            <a:r>
              <a:rPr lang="ru-RU" dirty="0"/>
              <a:t>Расчет коэффициентов</a:t>
            </a:r>
          </a:p>
          <a:p>
            <a:pPr lvl="1"/>
            <a:r>
              <a:rPr lang="ru-RU" dirty="0"/>
              <a:t>Рационализация</a:t>
            </a:r>
          </a:p>
          <a:p>
            <a:r>
              <a:rPr lang="ru-RU" dirty="0"/>
              <a:t>Методы (2.2)</a:t>
            </a:r>
          </a:p>
          <a:p>
            <a:pPr lvl="1"/>
            <a:r>
              <a:rPr lang="ru-RU" dirty="0"/>
              <a:t>Обоснование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265D5B-36DD-B750-0F33-AE5FCBB3C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8064" y="2487168"/>
            <a:ext cx="2834648" cy="3447288"/>
          </a:xfrm>
        </p:spPr>
        <p:txBody>
          <a:bodyPr/>
          <a:lstStyle/>
          <a:p>
            <a:r>
              <a:rPr lang="ru-RU" dirty="0"/>
              <a:t>Налоги и амортизация (2.3)</a:t>
            </a:r>
          </a:p>
          <a:p>
            <a:r>
              <a:rPr lang="ru-RU" b="1" dirty="0">
                <a:solidFill>
                  <a:srgbClr val="7030A0"/>
                </a:solidFill>
              </a:rPr>
              <a:t>Точка безубыточности</a:t>
            </a:r>
          </a:p>
        </p:txBody>
      </p:sp>
    </p:spTree>
    <p:extLst>
      <p:ext uri="{BB962C8B-B14F-4D97-AF65-F5344CB8AC3E}">
        <p14:creationId xmlns:p14="http://schemas.microsoft.com/office/powerpoint/2010/main" val="378970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16208-A9CC-64AD-3684-704EC878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9D271-FC54-159B-AECB-B1945FC0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4. Методы оценки ИП</a:t>
            </a:r>
            <a:br>
              <a:rPr lang="ru-RU" dirty="0"/>
            </a:br>
            <a:r>
              <a:rPr lang="ru-RU" dirty="0"/>
              <a:t>(тема 4, 5)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5B2F4-C02C-7989-361B-67717161C1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Норма прибыли на инвестиции (ROI)</a:t>
            </a:r>
          </a:p>
          <a:p>
            <a:r>
              <a:rPr lang="ru-RU" dirty="0"/>
              <a:t>Бухгалтерская рентабельность инвестиций (ARR)</a:t>
            </a:r>
          </a:p>
          <a:p>
            <a:r>
              <a:rPr lang="ru-RU" dirty="0"/>
              <a:t>Индекс рентабельности инвестиций (PI) или Дисконтированная рентабельность инвестиций (DPI)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B072D1-571B-C22F-41DE-08D89DD176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Период (срок) окупаемости инвестиций (РР) или Дисконтированный период (срок) окупаемости (DPP)</a:t>
            </a:r>
          </a:p>
          <a:p>
            <a:r>
              <a:rPr lang="ru-RU" b="1" dirty="0">
                <a:solidFill>
                  <a:srgbClr val="7030A0"/>
                </a:solidFill>
              </a:rPr>
              <a:t>Точка Фишера </a:t>
            </a:r>
          </a:p>
          <a:p>
            <a:r>
              <a:rPr lang="ru-RU" b="1" dirty="0">
                <a:solidFill>
                  <a:srgbClr val="7030A0"/>
                </a:solidFill>
              </a:rPr>
              <a:t>Чистая терминальная стоимость (NTV)</a:t>
            </a:r>
          </a:p>
        </p:txBody>
      </p:sp>
    </p:spTree>
    <p:extLst>
      <p:ext uri="{BB962C8B-B14F-4D97-AF65-F5344CB8AC3E}">
        <p14:creationId xmlns:p14="http://schemas.microsoft.com/office/powerpoint/2010/main" val="339866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7292F-EDE7-F31C-2465-16726152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BE0AF7-CFD9-DE4A-99FF-2FCCC3CB2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915337"/>
            <a:ext cx="6912768" cy="1303867"/>
          </a:xfrm>
        </p:spPr>
        <p:txBody>
          <a:bodyPr>
            <a:normAutofit fontScale="90000"/>
          </a:bodyPr>
          <a:lstStyle/>
          <a:p>
            <a:r>
              <a:rPr lang="ru-RU" dirty="0"/>
              <a:t>5. Степень окупаемости ИП</a:t>
            </a:r>
            <a:br>
              <a:rPr lang="ru-RU" dirty="0"/>
            </a:br>
            <a:r>
              <a:rPr lang="en-US" dirty="0"/>
              <a:t>(</a:t>
            </a:r>
            <a:r>
              <a:rPr lang="ru-RU" dirty="0"/>
              <a:t>1.3, темы 4-6)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49216A-6135-42B4-0B5D-687402319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576" y="2487168"/>
            <a:ext cx="3528392" cy="3678136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FCF</a:t>
            </a:r>
            <a:r>
              <a:rPr lang="ru-RU" b="1" dirty="0">
                <a:solidFill>
                  <a:srgbClr val="7030A0"/>
                </a:solidFill>
              </a:rPr>
              <a:t> (1.3)</a:t>
            </a:r>
            <a:endParaRPr lang="en-US" b="1" dirty="0">
              <a:solidFill>
                <a:srgbClr val="7030A0"/>
              </a:solidFill>
            </a:endParaRPr>
          </a:p>
          <a:p>
            <a:r>
              <a:rPr lang="ru-RU" b="1" dirty="0">
                <a:solidFill>
                  <a:srgbClr val="7030A0"/>
                </a:solidFill>
              </a:rPr>
              <a:t>Инкрементальные и релевантные </a:t>
            </a:r>
            <a:r>
              <a:rPr lang="en-US" b="1" dirty="0">
                <a:solidFill>
                  <a:srgbClr val="7030A0"/>
                </a:solidFill>
              </a:rPr>
              <a:t>CFs</a:t>
            </a:r>
            <a:r>
              <a:rPr lang="ru-RU" b="1" dirty="0">
                <a:solidFill>
                  <a:srgbClr val="7030A0"/>
                </a:solidFill>
              </a:rPr>
              <a:t> (1.3)</a:t>
            </a:r>
            <a:endParaRPr lang="en-US" b="1" dirty="0">
              <a:solidFill>
                <a:srgbClr val="7030A0"/>
              </a:solidFill>
            </a:endParaRPr>
          </a:p>
          <a:p>
            <a:r>
              <a:rPr lang="en-US" dirty="0"/>
              <a:t>DCF</a:t>
            </a:r>
            <a:r>
              <a:rPr lang="ru-RU" dirty="0"/>
              <a:t> за 5-</a:t>
            </a:r>
            <a:r>
              <a:rPr lang="ru-RU" b="1" dirty="0">
                <a:solidFill>
                  <a:srgbClr val="7030A0"/>
                </a:solidFill>
              </a:rPr>
              <a:t>10</a:t>
            </a:r>
            <a:r>
              <a:rPr lang="ru-RU" dirty="0"/>
              <a:t> лет</a:t>
            </a:r>
          </a:p>
          <a:p>
            <a:pPr lvl="1"/>
            <a:r>
              <a:rPr lang="ru-RU" sz="1800" dirty="0"/>
              <a:t>Ставка дисконтирования (тема 6)</a:t>
            </a:r>
          </a:p>
          <a:p>
            <a:pPr lvl="1"/>
            <a:r>
              <a:rPr lang="ru-RU" sz="1800" dirty="0"/>
              <a:t>Влияние инфляции и налогов на денежные потоки (1.3)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BA4B76-8CF7-C85F-2958-F07483F00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68" y="2487167"/>
            <a:ext cx="4104456" cy="3750145"/>
          </a:xfrm>
        </p:spPr>
        <p:txBody>
          <a:bodyPr>
            <a:normAutofit fontScale="92500" lnSpcReduction="20000"/>
          </a:bodyPr>
          <a:lstStyle/>
          <a:p>
            <a:r>
              <a:rPr lang="ru-RU" sz="2600" dirty="0"/>
              <a:t>Чистая текущая стоимость (NPV) и  Внутренняя норма прибыли инвестиций (IRR)</a:t>
            </a:r>
          </a:p>
          <a:p>
            <a:pPr lvl="1"/>
            <a:r>
              <a:rPr lang="ru-RU" sz="2300" b="1" dirty="0">
                <a:solidFill>
                  <a:srgbClr val="7030A0"/>
                </a:solidFill>
              </a:rPr>
              <a:t>Модифицированная норма прибыли (MIRR) и множественность IRR</a:t>
            </a:r>
          </a:p>
          <a:p>
            <a:r>
              <a:rPr lang="ru-RU" sz="2600" dirty="0"/>
              <a:t>Формулы</a:t>
            </a:r>
          </a:p>
          <a:p>
            <a:pPr lvl="1"/>
            <a:r>
              <a:rPr lang="ru-RU" sz="2300" dirty="0"/>
              <a:t>Тема 1 вопрос 3 (1.3)</a:t>
            </a:r>
          </a:p>
          <a:p>
            <a:pPr lvl="1"/>
            <a:r>
              <a:rPr lang="ru-RU" sz="2300" dirty="0"/>
              <a:t>тема 4 – 6</a:t>
            </a:r>
          </a:p>
          <a:p>
            <a:pPr lvl="1"/>
            <a:r>
              <a:rPr lang="ru-RU" sz="2300" dirty="0"/>
              <a:t>Шпаргалка в Смарт ЛМС</a:t>
            </a:r>
          </a:p>
        </p:txBody>
      </p:sp>
    </p:spTree>
    <p:extLst>
      <p:ext uri="{BB962C8B-B14F-4D97-AF65-F5344CB8AC3E}">
        <p14:creationId xmlns:p14="http://schemas.microsoft.com/office/powerpoint/2010/main" val="225000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2B0AD-95A5-ACC9-5289-C5D97783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633" y="692696"/>
            <a:ext cx="6798734" cy="56944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Ссылки на ресурсы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0A191B-D19A-F9C7-B7DF-F27313A7A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28800"/>
            <a:ext cx="8136904" cy="475252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sz="2000" dirty="0">
                <a:hlinkClick r:id="rId3"/>
              </a:rPr>
              <a:t>https://www.glavbukh.ru/art/391503-investitsionnye-proekty-vidy-etapy-byudjetirovanie</a:t>
            </a:r>
            <a:endParaRPr lang="ru-RU" sz="200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sz="2000" dirty="0">
                <a:hlinkClick r:id="rId4"/>
              </a:rPr>
              <a:t>https://biz360.ru/materials/dengi-dlya-razvitiya-dolgovoe-dolevoe-ili-partnyerskoe-finansirovanie-vybrat-biznesu/</a:t>
            </a:r>
            <a:endParaRPr lang="ru-RU" sz="200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sz="2000" dirty="0">
                <a:hlinkClick r:id="rId5"/>
              </a:rPr>
              <a:t>Чего следует избегать при покупке акций и облигаций: опыт 2025 и взгляд в 2026</a:t>
            </a:r>
            <a:endParaRPr lang="ru-RU" sz="200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sz="2000" b="1" dirty="0"/>
              <a:t>Инвестиционные проекты России </a:t>
            </a:r>
            <a:r>
              <a:rPr lang="en-US" sz="2000" b="1" dirty="0">
                <a:hlinkClick r:id="rId6"/>
              </a:rPr>
              <a:t>https://investprojects.info/</a:t>
            </a:r>
            <a:br>
              <a:rPr lang="ru-RU" sz="2000" b="1" dirty="0"/>
            </a:br>
            <a:r>
              <a:rPr lang="ru-RU" sz="2000" b="1" dirty="0"/>
              <a:t>Национальные проекты России </a:t>
            </a:r>
            <a:r>
              <a:rPr lang="en-US" sz="2000" b="1" dirty="0">
                <a:hlinkClick r:id="rId7"/>
              </a:rPr>
              <a:t>https://xn--80aapampemcchfmo7a3c9ehj.xn--p1ai/new-projects/</a:t>
            </a:r>
            <a:endParaRPr lang="ru-RU" sz="200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sz="2000" dirty="0"/>
              <a:t>Руководство по оценке эффективности инвестиций (методика </a:t>
            </a:r>
            <a:r>
              <a:rPr lang="ru-RU" sz="2000" b="1" dirty="0"/>
              <a:t>ЮНИДО</a:t>
            </a:r>
            <a:r>
              <a:rPr lang="ru-RU" sz="2000" dirty="0"/>
              <a:t>) - </a:t>
            </a:r>
            <a:r>
              <a:rPr lang="ru-RU" sz="2000" dirty="0">
                <a:hlinkClick r:id="rId8"/>
              </a:rPr>
              <a:t>https://xn----dtbhaacat8bfloi8h.xn--p1ai/unido-metodik</a:t>
            </a:r>
            <a:endParaRPr lang="ru-RU" sz="200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sz="2000" dirty="0"/>
              <a:t>Ссылки на сайты и публикации в Смарт ЛМС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7542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EAAC18-EA4C-2C53-5A0A-362F36F8C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915337"/>
            <a:ext cx="7632848" cy="1303867"/>
          </a:xfrm>
        </p:spPr>
        <p:txBody>
          <a:bodyPr>
            <a:noAutofit/>
          </a:bodyPr>
          <a:lstStyle/>
          <a:p>
            <a:r>
              <a:rPr lang="ru-RU" sz="3200" b="1" dirty="0"/>
              <a:t>Мой пример - Создание портфеля для </a:t>
            </a:r>
            <a:r>
              <a:rPr lang="ru-RU" sz="3200" b="1" dirty="0" err="1"/>
              <a:t>самофинансирующихся</a:t>
            </a:r>
            <a:r>
              <a:rPr lang="ru-RU" sz="3200" b="1" dirty="0"/>
              <a:t> инвестиций (1)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D4D431-D5C7-17F6-EC9B-AF8F1AA6C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576" y="2487167"/>
            <a:ext cx="2376264" cy="367813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Критерий ИП – </a:t>
            </a:r>
          </a:p>
          <a:p>
            <a:pPr marL="0" indent="0">
              <a:buNone/>
            </a:pPr>
            <a:r>
              <a:rPr lang="ru-RU" dirty="0"/>
              <a:t>1. </a:t>
            </a:r>
            <a:r>
              <a:rPr lang="ru-RU" u="sng" dirty="0"/>
              <a:t>Описание</a:t>
            </a:r>
          </a:p>
          <a:p>
            <a:pPr marL="0" indent="0">
              <a:buNone/>
            </a:pPr>
            <a:r>
              <a:rPr lang="ru-RU" sz="2000" dirty="0"/>
              <a:t>Должно соотноситься</a:t>
            </a:r>
          </a:p>
          <a:p>
            <a:pPr marL="0" indent="0">
              <a:buNone/>
            </a:pPr>
            <a:r>
              <a:rPr lang="ru-RU" sz="2000" dirty="0"/>
              <a:t>с целью ИП</a:t>
            </a:r>
          </a:p>
          <a:p>
            <a:pPr marL="0" indent="0">
              <a:buNone/>
            </a:pPr>
            <a:r>
              <a:rPr lang="ru-RU" sz="2000" dirty="0"/>
              <a:t>с методами финансирования</a:t>
            </a:r>
          </a:p>
          <a:p>
            <a:pPr marL="0" indent="0">
              <a:buNone/>
            </a:pPr>
            <a:r>
              <a:rPr lang="ru-RU" sz="2000" dirty="0"/>
              <a:t>с бюджетом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3F4251-4A58-BF09-8ADB-5EB82BF15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31840" y="2487168"/>
            <a:ext cx="5256584" cy="3606128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Характеристика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Что такое </a:t>
            </a:r>
            <a:r>
              <a:rPr lang="ru-RU" dirty="0" err="1"/>
              <a:t>самофинансирующиеся</a:t>
            </a:r>
            <a:r>
              <a:rPr lang="ru-RU" dirty="0"/>
              <a:t> инвестиции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Вид – ср/срочный и д/срочный, мелкий, безрисковый, локальный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Отрасль - финансовая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Услуга – открытие депозита в разных банках (первая 5), покупка ценных бумаг, ПДС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Новый ИП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Риск существенной потери дохода  - почти нет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Методы оценки – диверсификация, анализ чувствительности (диаграмма Торнадо)</a:t>
            </a:r>
          </a:p>
        </p:txBody>
      </p:sp>
    </p:spTree>
    <p:extLst>
      <p:ext uri="{BB962C8B-B14F-4D97-AF65-F5344CB8AC3E}">
        <p14:creationId xmlns:p14="http://schemas.microsoft.com/office/powerpoint/2010/main" val="341844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1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1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1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12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1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12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12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E26A6-290B-2E18-F60B-FF7177185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7DDAE-B2DE-2EC6-59E9-3DEF7C0CC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915337"/>
            <a:ext cx="7632848" cy="1303867"/>
          </a:xfrm>
        </p:spPr>
        <p:txBody>
          <a:bodyPr>
            <a:noAutofit/>
          </a:bodyPr>
          <a:lstStyle/>
          <a:p>
            <a:r>
              <a:rPr lang="ru-RU" sz="3200" b="1" dirty="0"/>
              <a:t>Создание портфеля для </a:t>
            </a:r>
            <a:r>
              <a:rPr lang="ru-RU" sz="3200" b="1" dirty="0" err="1"/>
              <a:t>самофинансирующихся</a:t>
            </a:r>
            <a:r>
              <a:rPr lang="ru-RU" sz="3200" b="1" dirty="0"/>
              <a:t> инвестиций  (2)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062F0D-0B20-6EC2-21D5-56A5CB5A8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576" y="2487167"/>
            <a:ext cx="3312368" cy="360612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Критерий ИП - 2. </a:t>
            </a:r>
            <a:r>
              <a:rPr lang="ru-RU" u="sng" dirty="0"/>
              <a:t>Бюджет и стратегия</a:t>
            </a:r>
          </a:p>
          <a:p>
            <a:pPr marL="0" indent="0">
              <a:buNone/>
            </a:pPr>
            <a:r>
              <a:rPr lang="ru-RU" dirty="0"/>
              <a:t>должны соответствовать названию, цели</a:t>
            </a:r>
          </a:p>
          <a:p>
            <a:r>
              <a:rPr lang="ru-RU" dirty="0"/>
              <a:t>Этапы (1.2)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sz="2200" dirty="0" err="1"/>
              <a:t>Прединвестиционный</a:t>
            </a:r>
            <a:r>
              <a:rPr lang="ru-RU" sz="2200" dirty="0"/>
              <a:t> – отдала посреднику деньги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sz="2200" dirty="0"/>
              <a:t>Инвестиционный – согласовываем детали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sz="2200" dirty="0"/>
              <a:t>Эксплуатационный – получение доходов, обсуждение других вариантов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ru-RU" sz="2200" dirty="0"/>
              <a:t>Аналитический – оценка альтернативных вариантов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EEC2E7-D7E5-EB9A-920A-ECCA0063E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1960" y="2487168"/>
            <a:ext cx="4176464" cy="360612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sz="1800" dirty="0"/>
              <a:t>Характеристика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ru-RU" sz="1600" dirty="0"/>
              <a:t>Возможные доходные и расходные статьи (1.3)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ru-RU" sz="1400" dirty="0"/>
              <a:t>з/п (основное место работы, </a:t>
            </a:r>
            <a:r>
              <a:rPr lang="ru-RU" sz="1400" dirty="0" err="1"/>
              <a:t>доп.работа</a:t>
            </a:r>
            <a:r>
              <a:rPr lang="ru-RU" sz="1400" dirty="0"/>
              <a:t>)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ru-RU" sz="1400" dirty="0"/>
              <a:t>проценты от вложений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ru-RU" sz="1400" dirty="0"/>
              <a:t>доход от продажи ц/б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ru-RU" sz="1400" dirty="0"/>
              <a:t>налоги с дивидендов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ru-RU" sz="1400" dirty="0"/>
              <a:t>комиссионные посреднику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ru-RU" sz="1600" dirty="0"/>
              <a:t>Инвестиционные стратегии или одна стратегия (1.1)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ru-RU" sz="1400" dirty="0"/>
              <a:t>Консервативная 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ru-RU" sz="1400" dirty="0"/>
              <a:t>Диверсифицированная </a:t>
            </a:r>
          </a:p>
        </p:txBody>
      </p:sp>
    </p:spTree>
    <p:extLst>
      <p:ext uri="{BB962C8B-B14F-4D97-AF65-F5344CB8AC3E}">
        <p14:creationId xmlns:p14="http://schemas.microsoft.com/office/powerpoint/2010/main" val="199322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1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F66C3-EE48-9C09-B0B3-C3F73DF4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2F065D-A5D9-D4AA-8702-3D4324A9C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915337"/>
            <a:ext cx="7632848" cy="1303867"/>
          </a:xfrm>
        </p:spPr>
        <p:txBody>
          <a:bodyPr>
            <a:noAutofit/>
          </a:bodyPr>
          <a:lstStyle/>
          <a:p>
            <a:r>
              <a:rPr lang="ru-RU" sz="3200" b="1" dirty="0"/>
              <a:t>Создание портфеля для </a:t>
            </a:r>
            <a:r>
              <a:rPr lang="ru-RU" sz="3200" b="1" dirty="0" err="1"/>
              <a:t>самофинансирующихся</a:t>
            </a:r>
            <a:r>
              <a:rPr lang="ru-RU" sz="3200" b="1" dirty="0"/>
              <a:t> инвестиций (3)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DF8449-492B-7AE7-33E0-D5C994E94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576" y="2487168"/>
            <a:ext cx="2664296" cy="360612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Критерий ИП – 3. </a:t>
            </a:r>
            <a:r>
              <a:rPr lang="ru-RU" u="sng" dirty="0"/>
              <a:t>Методы финансирования</a:t>
            </a:r>
          </a:p>
          <a:p>
            <a:r>
              <a:rPr lang="ru-RU" dirty="0"/>
              <a:t>Источники финансирования (2.1)</a:t>
            </a:r>
          </a:p>
          <a:p>
            <a:r>
              <a:rPr lang="ru-RU" dirty="0"/>
              <a:t>Обоснование</a:t>
            </a:r>
          </a:p>
          <a:p>
            <a:pPr lvl="1"/>
            <a:r>
              <a:rPr lang="ru-RU" dirty="0"/>
              <a:t>Внутренние собственные</a:t>
            </a:r>
          </a:p>
          <a:p>
            <a:pPr lvl="1"/>
            <a:r>
              <a:rPr lang="ru-RU" dirty="0"/>
              <a:t>Возможно – потребительский кредит, овердрафт</a:t>
            </a:r>
          </a:p>
          <a:p>
            <a:pPr lvl="1"/>
            <a:r>
              <a:rPr lang="ru-RU" dirty="0"/>
              <a:t>Рационализация – депозит и ц/б плюс долгосрочный инструмент</a:t>
            </a:r>
          </a:p>
          <a:p>
            <a:pPr lvl="2"/>
            <a:r>
              <a:rPr lang="ru-RU" dirty="0"/>
              <a:t>не брать кредит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645ED9-5057-60F1-F8B8-044AD2572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35896" y="2487168"/>
            <a:ext cx="4752528" cy="360612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Источники финансирования (2.1)</a:t>
            </a:r>
          </a:p>
          <a:p>
            <a:pPr lvl="1"/>
            <a:r>
              <a:rPr lang="ru-RU" dirty="0"/>
              <a:t>Расчет коэффициента самофинансирования</a:t>
            </a:r>
          </a:p>
          <a:p>
            <a:r>
              <a:rPr lang="ru-RU" dirty="0"/>
              <a:t>Характеристика</a:t>
            </a:r>
          </a:p>
          <a:p>
            <a:pPr lvl="1"/>
            <a:r>
              <a:rPr lang="ru-RU" dirty="0"/>
              <a:t>Методы и обоснование (2.2)</a:t>
            </a:r>
          </a:p>
          <a:p>
            <a:pPr lvl="2"/>
            <a:r>
              <a:rPr lang="ru-RU" dirty="0"/>
              <a:t>Инвестиционный кредит – долгосрочный (возврат 13%)</a:t>
            </a:r>
          </a:p>
          <a:p>
            <a:pPr lvl="2"/>
            <a:r>
              <a:rPr lang="ru-RU" dirty="0"/>
              <a:t>Грант на обучение (с последующим отчетом)</a:t>
            </a:r>
          </a:p>
          <a:p>
            <a:pPr lvl="1"/>
            <a:r>
              <a:rPr lang="ru-RU" dirty="0"/>
              <a:t>Налоги и </a:t>
            </a:r>
            <a:r>
              <a:rPr lang="ru-RU" strike="sngStrike" dirty="0"/>
              <a:t>амортизация</a:t>
            </a:r>
            <a:r>
              <a:rPr lang="ru-RU" dirty="0"/>
              <a:t> (2.3)</a:t>
            </a:r>
          </a:p>
          <a:p>
            <a:pPr lvl="2"/>
            <a:r>
              <a:rPr lang="ru-RU" dirty="0"/>
              <a:t>Возврат 13%, </a:t>
            </a:r>
            <a:r>
              <a:rPr lang="ru-RU" dirty="0" err="1"/>
              <a:t>гос.безвозмездная</a:t>
            </a:r>
            <a:r>
              <a:rPr lang="ru-RU" dirty="0"/>
              <a:t> помощь</a:t>
            </a:r>
          </a:p>
          <a:p>
            <a:pPr lvl="1"/>
            <a:r>
              <a:rPr lang="ru-RU" dirty="0"/>
              <a:t>Точка безубыточности</a:t>
            </a:r>
          </a:p>
          <a:p>
            <a:pPr lvl="2"/>
            <a:r>
              <a:rPr lang="ru-RU" dirty="0"/>
              <a:t>Правило 70-20-10</a:t>
            </a:r>
          </a:p>
          <a:p>
            <a:pPr lvl="3"/>
            <a:r>
              <a:rPr lang="ru-RU" dirty="0"/>
              <a:t>70% на необходимые расходы</a:t>
            </a:r>
          </a:p>
          <a:p>
            <a:pPr lvl="3"/>
            <a:r>
              <a:rPr lang="ru-RU" u="sng" dirty="0"/>
              <a:t>20% на сбережения и инвестиции</a:t>
            </a:r>
          </a:p>
          <a:p>
            <a:pPr lvl="3"/>
            <a:r>
              <a:rPr lang="ru-RU" dirty="0"/>
              <a:t>10% на погашение долгов или достижение финансовых целей</a:t>
            </a:r>
          </a:p>
        </p:txBody>
      </p:sp>
    </p:spTree>
    <p:extLst>
      <p:ext uri="{BB962C8B-B14F-4D97-AF65-F5344CB8AC3E}">
        <p14:creationId xmlns:p14="http://schemas.microsoft.com/office/powerpoint/2010/main" val="348952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1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1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1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1D6E9-ABAC-E8BC-7C05-F2AF86F05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3BD91-1C1A-C6F7-C975-3994C861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915337"/>
            <a:ext cx="7704856" cy="1303867"/>
          </a:xfrm>
        </p:spPr>
        <p:txBody>
          <a:bodyPr>
            <a:noAutofit/>
          </a:bodyPr>
          <a:lstStyle/>
          <a:p>
            <a:r>
              <a:rPr lang="ru-RU" sz="3200" b="1" dirty="0"/>
              <a:t>Создание портфеля для </a:t>
            </a:r>
            <a:r>
              <a:rPr lang="ru-RU" sz="3200" b="1" dirty="0" err="1"/>
              <a:t>самофинансирующихся</a:t>
            </a:r>
            <a:r>
              <a:rPr lang="ru-RU" sz="3200" b="1" dirty="0"/>
              <a:t> инвестиций (4)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553766-A853-8A35-1C69-1A6B8CEF9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576" y="2487168"/>
            <a:ext cx="2675054" cy="34472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Критерий ИП – </a:t>
            </a:r>
          </a:p>
          <a:p>
            <a:pPr marL="0" indent="0">
              <a:buNone/>
            </a:pPr>
            <a:r>
              <a:rPr lang="ru-RU" dirty="0"/>
              <a:t>4. </a:t>
            </a:r>
            <a:r>
              <a:rPr lang="ru-RU" u="sng" dirty="0"/>
              <a:t>Методы оценки</a:t>
            </a:r>
          </a:p>
          <a:p>
            <a:pPr marL="457200" lvl="1" indent="0">
              <a:buNone/>
            </a:pPr>
            <a:r>
              <a:rPr lang="ru-RU" dirty="0"/>
              <a:t>Норма прибыли на инвестиции (ROI) и Бухгалтерская рентабельность инвестиций (ARR)</a:t>
            </a:r>
          </a:p>
          <a:p>
            <a:pPr marL="0" indent="0">
              <a:buNone/>
            </a:pPr>
            <a:endParaRPr lang="ru-RU" u="sng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B4517F-5488-27BB-A54B-7F2167D62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63888" y="2487168"/>
            <a:ext cx="4824536" cy="360612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Характеристика</a:t>
            </a:r>
          </a:p>
          <a:p>
            <a:pPr lvl="1"/>
            <a:r>
              <a:rPr lang="ru-RU" dirty="0"/>
              <a:t>Индекс рентабельности инвестиций (PI) или Дисконтированная рентабельность инвестиций (DPI) Период (срок) окупаемости инвестиций (РР) или Дисконтированный период (срок) окупаемости (DPP)</a:t>
            </a:r>
          </a:p>
          <a:p>
            <a:pPr lvl="1"/>
            <a:r>
              <a:rPr lang="ru-RU" strike="sngStrike" dirty="0"/>
              <a:t>Точка Фишера </a:t>
            </a:r>
          </a:p>
          <a:p>
            <a:pPr lvl="1"/>
            <a:r>
              <a:rPr lang="ru-RU" dirty="0"/>
              <a:t>Чистая терминальная стоимость (NTV) – если по постоянному потоку дивидендов</a:t>
            </a:r>
          </a:p>
        </p:txBody>
      </p:sp>
    </p:spTree>
    <p:extLst>
      <p:ext uri="{BB962C8B-B14F-4D97-AF65-F5344CB8AC3E}">
        <p14:creationId xmlns:p14="http://schemas.microsoft.com/office/powerpoint/2010/main" val="1231735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5BC8-5E0A-78A5-12B6-110D62140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F5E19-9C90-D123-A489-D91EF3A92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915337"/>
            <a:ext cx="7704856" cy="1303867"/>
          </a:xfrm>
        </p:spPr>
        <p:txBody>
          <a:bodyPr>
            <a:noAutofit/>
          </a:bodyPr>
          <a:lstStyle/>
          <a:p>
            <a:r>
              <a:rPr lang="ru-RU" sz="3200" b="1" dirty="0"/>
              <a:t>Создание портфеля для </a:t>
            </a:r>
            <a:r>
              <a:rPr lang="ru-RU" sz="3200" b="1" dirty="0" err="1"/>
              <a:t>самофинансирующихся</a:t>
            </a:r>
            <a:r>
              <a:rPr lang="ru-RU" sz="3200" b="1" dirty="0"/>
              <a:t> инвестиций (5)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5204E8-2E31-C1BE-3C11-0A2DD7D3D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576" y="2487168"/>
            <a:ext cx="2376264" cy="34472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1800" dirty="0"/>
              <a:t>Критерий ИП – </a:t>
            </a:r>
          </a:p>
          <a:p>
            <a:pPr marL="0" indent="0">
              <a:buNone/>
            </a:pPr>
            <a:r>
              <a:rPr lang="ru-RU" sz="1800" dirty="0"/>
              <a:t>5. </a:t>
            </a:r>
            <a:r>
              <a:rPr lang="ru-RU" sz="1800" u="sng" dirty="0"/>
              <a:t>Степень окупаемости</a:t>
            </a:r>
            <a:r>
              <a:rPr lang="ru-RU" sz="1800" dirty="0"/>
              <a:t> </a:t>
            </a:r>
          </a:p>
          <a:p>
            <a:pPr marL="457200" lvl="1" indent="0">
              <a:buNone/>
            </a:pPr>
            <a:r>
              <a:rPr lang="ru-RU" sz="1800" dirty="0"/>
              <a:t>тема 4 – 6</a:t>
            </a:r>
          </a:p>
          <a:p>
            <a:pPr marL="457200" lvl="1" indent="0">
              <a:buNone/>
            </a:pPr>
            <a:r>
              <a:rPr lang="ru-RU" sz="1800" dirty="0"/>
              <a:t>шпаргалка в Смарт ЛМС</a:t>
            </a:r>
            <a:endParaRPr lang="ru-RU" sz="1800" u="sng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4FF034-4569-E28A-05B3-4BABF8956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31840" y="2487168"/>
            <a:ext cx="5256584" cy="360612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Характеристика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FCF</a:t>
            </a:r>
            <a:r>
              <a:rPr lang="ru-RU" b="1" dirty="0">
                <a:solidFill>
                  <a:srgbClr val="7030A0"/>
                </a:solidFill>
              </a:rPr>
              <a:t> (1.3)</a:t>
            </a:r>
            <a:endParaRPr lang="en-US" b="1" dirty="0">
              <a:solidFill>
                <a:srgbClr val="7030A0"/>
              </a:solidFill>
            </a:endParaRPr>
          </a:p>
          <a:p>
            <a:pPr lvl="1"/>
            <a:r>
              <a:rPr lang="ru-RU" b="1" dirty="0">
                <a:solidFill>
                  <a:srgbClr val="7030A0"/>
                </a:solidFill>
              </a:rPr>
              <a:t>Инкрементальные и релевантные </a:t>
            </a:r>
            <a:r>
              <a:rPr lang="en-US" b="1" dirty="0">
                <a:solidFill>
                  <a:srgbClr val="7030A0"/>
                </a:solidFill>
              </a:rPr>
              <a:t>CFs</a:t>
            </a:r>
            <a:r>
              <a:rPr lang="ru-RU" b="1" dirty="0">
                <a:solidFill>
                  <a:srgbClr val="7030A0"/>
                </a:solidFill>
              </a:rPr>
              <a:t> (1.3)</a:t>
            </a:r>
            <a:endParaRPr lang="en-US" b="1" dirty="0">
              <a:solidFill>
                <a:srgbClr val="7030A0"/>
              </a:solidFill>
            </a:endParaRPr>
          </a:p>
          <a:p>
            <a:r>
              <a:rPr lang="en-US" dirty="0"/>
              <a:t>DCF</a:t>
            </a:r>
            <a:endParaRPr lang="ru-RU" dirty="0"/>
          </a:p>
          <a:p>
            <a:pPr lvl="1"/>
            <a:r>
              <a:rPr lang="ru-RU" sz="1700" dirty="0"/>
              <a:t>Ставка дисконтирования (тема 6)</a:t>
            </a:r>
          </a:p>
          <a:p>
            <a:pPr lvl="2"/>
            <a:r>
              <a:rPr lang="ru-RU" sz="1600" dirty="0"/>
              <a:t>Лаборатория (Воронов в ТГ)</a:t>
            </a:r>
          </a:p>
          <a:p>
            <a:pPr lvl="1"/>
            <a:r>
              <a:rPr lang="ru-RU" sz="1700" dirty="0"/>
              <a:t>Влияние инфляции и налогов на денежные потоки (1.3)</a:t>
            </a:r>
          </a:p>
          <a:p>
            <a:r>
              <a:rPr lang="ru-RU" sz="2600" dirty="0"/>
              <a:t>Чистая текущая стоимость (NPV) и  Внутренняя норма прибыли инвестиций (IRR)</a:t>
            </a:r>
          </a:p>
          <a:p>
            <a:pPr lvl="1"/>
            <a:r>
              <a:rPr lang="ru-RU" sz="2300" strike="sngStrike" dirty="0"/>
              <a:t>Модифицированная норма прибыли (MIRR) и множественность IRR</a:t>
            </a:r>
          </a:p>
        </p:txBody>
      </p:sp>
    </p:spTree>
    <p:extLst>
      <p:ext uri="{BB962C8B-B14F-4D97-AF65-F5344CB8AC3E}">
        <p14:creationId xmlns:p14="http://schemas.microsoft.com/office/powerpoint/2010/main" val="142430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1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1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12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1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12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12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12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17589-CCEC-8128-87E3-46509281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905" y="620687"/>
            <a:ext cx="7654189" cy="581235"/>
          </a:xfrm>
        </p:spPr>
        <p:txBody>
          <a:bodyPr>
            <a:normAutofit fontScale="9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ru-RU" sz="2800" dirty="0"/>
              <a:t>Расчет стоимости </a:t>
            </a:r>
            <a:r>
              <a:rPr lang="ru-RU" sz="2800"/>
              <a:t>собственного капитала (в теме 6)</a:t>
            </a:r>
            <a:br>
              <a:rPr lang="ru-RU" sz="2800" dirty="0"/>
            </a:br>
            <a:r>
              <a:rPr lang="fr-FR" sz="2000" dirty="0">
                <a:hlinkClick r:id="rId3"/>
              </a:rPr>
              <a:t>https://smart-lab.ru/blog/976065.php</a:t>
            </a:r>
            <a:endParaRPr lang="ru-RU" sz="2800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7D2BBFE2-85E4-BDC3-16CD-E16518ED9FA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10883992"/>
              </p:ext>
            </p:extLst>
          </p:nvPr>
        </p:nvGraphicFramePr>
        <p:xfrm>
          <a:off x="611560" y="1446365"/>
          <a:ext cx="7992888" cy="5006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3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8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9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ru-RU" sz="1800"/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ru-RU" sz="1800" dirty="0"/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на к. 2023</a:t>
                      </a:r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на к. 2024</a:t>
                      </a:r>
                    </a:p>
                  </a:txBody>
                  <a:tcPr marL="91449" marR="91449"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ru-RU" sz="1800" dirty="0">
                          <a:solidFill>
                            <a:srgbClr val="0070C0"/>
                          </a:solidFill>
                        </a:rPr>
                        <a:t>r</a:t>
                      </a:r>
                      <a:r>
                        <a:rPr lang="en-US" altLang="ru-RU" sz="1800" baseline="-25000" dirty="0">
                          <a:solidFill>
                            <a:srgbClr val="0070C0"/>
                          </a:solidFill>
                        </a:rPr>
                        <a:t>f</a:t>
                      </a:r>
                      <a:r>
                        <a:rPr lang="en-US" altLang="ru-RU" sz="1800" dirty="0">
                          <a:solidFill>
                            <a:srgbClr val="0070C0"/>
                          </a:solidFill>
                        </a:rPr>
                        <a:t> </a:t>
                      </a:r>
                      <a:endParaRPr lang="ru-RU" sz="1800" dirty="0"/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altLang="ru-RU" sz="1800" dirty="0">
                          <a:solidFill>
                            <a:srgbClr val="0070C0"/>
                          </a:solidFill>
                        </a:rPr>
                        <a:t>доходность безрискового актива </a:t>
                      </a:r>
                      <a:r>
                        <a:rPr lang="ru-RU" sz="1800" dirty="0"/>
                        <a:t>(по доходности 10-летних ОФЗ)</a:t>
                      </a:r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11.86%</a:t>
                      </a:r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15.22%</a:t>
                      </a:r>
                    </a:p>
                  </a:txBody>
                  <a:tcPr marL="91449" marR="91449" marT="45728" marB="45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ru-RU" sz="1800" dirty="0">
                          <a:solidFill>
                            <a:srgbClr val="0070C0"/>
                          </a:solidFill>
                        </a:rPr>
                        <a:t>ERP</a:t>
                      </a:r>
                      <a:endParaRPr lang="ru-RU" sz="1800" dirty="0"/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altLang="ru-RU" sz="1800" dirty="0">
                          <a:solidFill>
                            <a:srgbClr val="0070C0"/>
                          </a:solidFill>
                        </a:rPr>
                        <a:t>премия за корпоративный (рыночный) риск</a:t>
                      </a:r>
                      <a:endParaRPr lang="ru-RU" sz="1800" dirty="0"/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5.75%</a:t>
                      </a:r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6.12%</a:t>
                      </a:r>
                    </a:p>
                  </a:txBody>
                  <a:tcPr marL="91449" marR="91449" marT="45728" marB="45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6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l-GR" altLang="ru-RU" sz="1800" dirty="0">
                          <a:solidFill>
                            <a:srgbClr val="0070C0"/>
                          </a:solidFill>
                        </a:rPr>
                        <a:t>β</a:t>
                      </a:r>
                      <a:r>
                        <a:rPr lang="en-US" altLang="ru-RU" sz="1800" baseline="-25000" dirty="0">
                          <a:solidFill>
                            <a:srgbClr val="0070C0"/>
                          </a:solidFill>
                        </a:rPr>
                        <a:t>j</a:t>
                      </a:r>
                      <a:r>
                        <a:rPr lang="en-US" altLang="ru-RU" sz="1800" dirty="0">
                          <a:solidFill>
                            <a:srgbClr val="0070C0"/>
                          </a:solidFill>
                        </a:rPr>
                        <a:t> </a:t>
                      </a:r>
                      <a:endParaRPr lang="ru-RU" sz="1800" dirty="0"/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altLang="ru-RU" sz="1800" dirty="0">
                          <a:solidFill>
                            <a:srgbClr val="0070C0"/>
                          </a:solidFill>
                        </a:rPr>
                        <a:t>зависит от отрасли</a:t>
                      </a:r>
                      <a:endParaRPr lang="en-US" altLang="ru-RU" sz="1800" dirty="0">
                        <a:solidFill>
                          <a:srgbClr val="0070C0"/>
                        </a:solidFill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sz="1800" dirty="0"/>
                        <a:t>«Химия и нефтехимия» </a:t>
                      </a:r>
                      <a:r>
                        <a:rPr lang="en-US" sz="1800" dirty="0"/>
                        <a:t>- </a:t>
                      </a:r>
                      <a:r>
                        <a:rPr lang="ru-RU" sz="1800" dirty="0"/>
                        <a:t>наименьшее значение</a:t>
                      </a:r>
                      <a:endParaRPr lang="en-US" sz="1800" dirty="0"/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sz="1800" dirty="0"/>
                        <a:t>«Нефть и газ»</a:t>
                      </a:r>
                      <a:endParaRPr lang="en-US" sz="1800" dirty="0"/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sz="1800" dirty="0"/>
                        <a:t>«Информационные технологии» - наибольшее значение</a:t>
                      </a:r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ru-RU" sz="1800" dirty="0"/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0,58</a:t>
                      </a: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ru-RU" sz="1800" dirty="0"/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1,00</a:t>
                      </a: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ru-RU" sz="1800" dirty="0"/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1,38</a:t>
                      </a:r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ru-RU" sz="1800" dirty="0"/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0,59</a:t>
                      </a: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ru-RU" sz="1800" dirty="0"/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1,01</a:t>
                      </a: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ru-RU" sz="1800" dirty="0"/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1,33</a:t>
                      </a:r>
                    </a:p>
                  </a:txBody>
                  <a:tcPr marL="91449" marR="91449" marT="45728" marB="45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9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ru-RU" sz="1800" dirty="0">
                          <a:solidFill>
                            <a:srgbClr val="0070C0"/>
                          </a:solidFill>
                        </a:rPr>
                        <a:t>r</a:t>
                      </a:r>
                      <a:r>
                        <a:rPr lang="en-US" altLang="ru-RU" sz="1800" baseline="-25000" dirty="0">
                          <a:solidFill>
                            <a:srgbClr val="0070C0"/>
                          </a:solidFill>
                        </a:rPr>
                        <a:t>e</a:t>
                      </a:r>
                      <a:r>
                        <a:rPr lang="ru-RU" altLang="ru-RU" sz="18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ru-RU" sz="1800" dirty="0"/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altLang="ru-RU" sz="18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</a:rPr>
                        <a:t>Стоимость собственного капитала</a:t>
                      </a:r>
                      <a:endParaRPr lang="en-US" altLang="ru-RU" sz="18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sz="1800" dirty="0"/>
                        <a:t>«Химия и нефтехимия»</a:t>
                      </a:r>
                      <a:endParaRPr lang="en-US" sz="1800" dirty="0"/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sz="1800" dirty="0"/>
                        <a:t>«Нефть и газ»</a:t>
                      </a:r>
                      <a:endParaRPr lang="en-US" sz="1800" dirty="0"/>
                    </a:p>
                    <a:p>
                      <a:pPr lvl="1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sz="1800" dirty="0"/>
                        <a:t>«Информационные технологии»</a:t>
                      </a:r>
                      <a:endParaRPr lang="ru-RU" altLang="ru-RU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ru-RU" sz="1800" dirty="0"/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14,9%</a:t>
                      </a: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17,6%</a:t>
                      </a: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19,8%</a:t>
                      </a:r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ru-RU" sz="1800" dirty="0"/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18,9%</a:t>
                      </a: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21,4%</a:t>
                      </a: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23,4%</a:t>
                      </a:r>
                    </a:p>
                  </a:txBody>
                  <a:tcPr marL="91449" marR="91449" marT="45728" marB="45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1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ru-RU" sz="1800" dirty="0">
                          <a:solidFill>
                            <a:srgbClr val="0070C0"/>
                          </a:solidFill>
                        </a:rPr>
                        <a:t>r</a:t>
                      </a:r>
                      <a:r>
                        <a:rPr lang="en-US" altLang="ru-RU" sz="1800" baseline="-25000" dirty="0">
                          <a:solidFill>
                            <a:srgbClr val="0070C0"/>
                          </a:solidFill>
                        </a:rPr>
                        <a:t>e</a:t>
                      </a:r>
                      <a:r>
                        <a:rPr lang="ru-RU" altLang="ru-RU" sz="18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ru-RU" sz="1800" dirty="0"/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 marL="0" lvl="1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ru-RU" altLang="ru-RU" sz="1800" dirty="0">
                          <a:solidFill>
                            <a:srgbClr val="0070C0"/>
                          </a:solidFill>
                        </a:rPr>
                        <a:t>Для российского рынка в целом (в среднем по экономике)</a:t>
                      </a:r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ru-RU" sz="1800" dirty="0"/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ru-RU" sz="1800" dirty="0"/>
                        <a:t>17,6%</a:t>
                      </a:r>
                    </a:p>
                  </a:txBody>
                  <a:tcPr marL="91449" marR="91449" marT="45728" marB="45728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dirty="0"/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21,3%</a:t>
                      </a:r>
                    </a:p>
                  </a:txBody>
                  <a:tcPr marL="91449" marR="91449" marT="45728" marB="457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318526-A752-525E-C01A-26132BF4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Оформление ИП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83AE1E-CE71-FE9F-879F-D2BD7419B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Times New Roman</a:t>
            </a:r>
            <a:endParaRPr lang="ru-RU" dirty="0"/>
          </a:p>
          <a:p>
            <a:r>
              <a:rPr lang="ru-RU" dirty="0"/>
              <a:t>12 или 14 кегль</a:t>
            </a:r>
            <a:endParaRPr lang="en-US" dirty="0"/>
          </a:p>
          <a:p>
            <a:r>
              <a:rPr lang="en-US" dirty="0"/>
              <a:t>1.</a:t>
            </a:r>
            <a:r>
              <a:rPr lang="ru-RU" dirty="0"/>
              <a:t>5 интервал</a:t>
            </a:r>
          </a:p>
          <a:p>
            <a:r>
              <a:rPr lang="ru-RU" dirty="0"/>
              <a:t>Абзацный отступ</a:t>
            </a:r>
          </a:p>
          <a:p>
            <a:r>
              <a:rPr lang="ru-RU" dirty="0"/>
              <a:t>Выравнивание по ширине</a:t>
            </a:r>
          </a:p>
          <a:p>
            <a:r>
              <a:rPr lang="ru-RU" dirty="0"/>
              <a:t>Заголовки по центру</a:t>
            </a:r>
          </a:p>
          <a:p>
            <a:r>
              <a:rPr lang="ru-RU" dirty="0"/>
              <a:t>Титульный лист не обязателен</a:t>
            </a:r>
          </a:p>
        </p:txBody>
      </p:sp>
    </p:spTree>
    <p:extLst>
      <p:ext uri="{BB962C8B-B14F-4D97-AF65-F5344CB8AC3E}">
        <p14:creationId xmlns:p14="http://schemas.microsoft.com/office/powerpoint/2010/main" val="4168850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C6E83C-6344-D04A-889F-37CB00CB1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90A3A7-AD78-D69B-B7D7-B0C94363E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2490135"/>
            <a:ext cx="7488831" cy="3531153"/>
          </a:xfrm>
        </p:spPr>
        <p:txBody>
          <a:bodyPr/>
          <a:lstStyle/>
          <a:p>
            <a:r>
              <a:rPr lang="ru-RU" dirty="0"/>
              <a:t>К следующему семинару или через семинар сжато и лаконично подготовить ИП по первым трем критериям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Описание ИП (тема 1 вопрос 2 – 1.2; тема 3)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Бюджет и стратегия ИП (тема 1)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Методы финансирования ИП (тема 2)</a:t>
            </a:r>
          </a:p>
        </p:txBody>
      </p:sp>
    </p:spTree>
    <p:extLst>
      <p:ext uri="{BB962C8B-B14F-4D97-AF65-F5344CB8AC3E}">
        <p14:creationId xmlns:p14="http://schemas.microsoft.com/office/powerpoint/2010/main" val="3736045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A6C4E-D8FB-C7B6-F376-1A7BD6D1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</a:t>
            </a:r>
            <a:r>
              <a:rPr lang="ru-RU"/>
              <a:t>для семинаров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B63B50-F2FA-7B5D-6DF2-5D1D7CE27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Тексты задач без ответов выложены или будут дополнены </a:t>
            </a:r>
            <a:r>
              <a:rPr lang="ru-RU"/>
              <a:t>в файле в </a:t>
            </a:r>
            <a:r>
              <a:rPr lang="ru-RU" dirty="0"/>
              <a:t>Смарт ЛМС  в секции «Материалы для семинаров 3 модуля»</a:t>
            </a:r>
          </a:p>
        </p:txBody>
      </p:sp>
    </p:spTree>
    <p:extLst>
      <p:ext uri="{BB962C8B-B14F-4D97-AF65-F5344CB8AC3E}">
        <p14:creationId xmlns:p14="http://schemas.microsoft.com/office/powerpoint/2010/main" val="39591913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1614</TotalTime>
  <Words>1454</Words>
  <Application>Microsoft Office PowerPoint</Application>
  <PresentationFormat>Экран (4:3)</PresentationFormat>
  <Paragraphs>251</Paragraphs>
  <Slides>21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Arial Narrow</vt:lpstr>
      <vt:lpstr>Calibri</vt:lpstr>
      <vt:lpstr>Garamond</vt:lpstr>
      <vt:lpstr>Times New Roman</vt:lpstr>
      <vt:lpstr>Wingdings</vt:lpstr>
      <vt:lpstr>Натуральные материалы</vt:lpstr>
      <vt:lpstr>Корпоративные инвестиции и проектный бизнес (семинар – ЗАПИСЬ в Смарт ЛМС!!!)</vt:lpstr>
      <vt:lpstr>Формула оценивания (Способ округления результирующей оценки - по методу Гаусса)</vt:lpstr>
      <vt:lpstr>Характеристики оценок (ПУД)</vt:lpstr>
      <vt:lpstr>Примеры форм контроля</vt:lpstr>
      <vt:lpstr>Инвестиционный проект (ИП) 4 модуль</vt:lpstr>
      <vt:lpstr>Критерии инвестиционного проекта (ИП) – каждый по 2 балла</vt:lpstr>
      <vt:lpstr>1. Описание ИП</vt:lpstr>
      <vt:lpstr>2. Бюджет и стратегия ИП</vt:lpstr>
      <vt:lpstr>3. Методы финансирования ИП</vt:lpstr>
      <vt:lpstr>4. Методы оценки ИП (тема 4, 5)</vt:lpstr>
      <vt:lpstr>5. Степень окупаемости ИП (1.3, темы 4-6)</vt:lpstr>
      <vt:lpstr>Ссылки на ресурсы</vt:lpstr>
      <vt:lpstr>Мой пример - Создание портфеля для самофинансирующихся инвестиций (1)</vt:lpstr>
      <vt:lpstr>Создание портфеля для самофинансирующихся инвестиций  (2)</vt:lpstr>
      <vt:lpstr>Создание портфеля для самофинансирующихся инвестиций (3)</vt:lpstr>
      <vt:lpstr>Создание портфеля для самофинансирующихся инвестиций (4)</vt:lpstr>
      <vt:lpstr>Создание портфеля для самофинансирующихся инвестиций (5)</vt:lpstr>
      <vt:lpstr>Расчет стоимости собственного капитала (в теме 6) https://smart-lab.ru/blog/976065.php</vt:lpstr>
      <vt:lpstr>Оформление ИП</vt:lpstr>
      <vt:lpstr>Домашнее задание</vt:lpstr>
      <vt:lpstr>Задачи для семинаров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 инвестиционного анализа</dc:title>
  <dc:creator>Пользователь Windows</dc:creator>
  <cp:lastModifiedBy>Тарасова Юлия Александровна</cp:lastModifiedBy>
  <cp:revision>203</cp:revision>
  <cp:lastPrinted>2026-02-10T12:10:54Z</cp:lastPrinted>
  <dcterms:created xsi:type="dcterms:W3CDTF">2024-09-02T08:18:05Z</dcterms:created>
  <dcterms:modified xsi:type="dcterms:W3CDTF">2026-02-12T17:02:28Z</dcterms:modified>
</cp:coreProperties>
</file>