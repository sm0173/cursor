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7"/>
  </p:notesMasterIdLst>
  <p:sldIdLst>
    <p:sldId id="263" r:id="rId2"/>
    <p:sldId id="281" r:id="rId3"/>
    <p:sldId id="282" r:id="rId4"/>
    <p:sldId id="300" r:id="rId5"/>
    <p:sldId id="283" r:id="rId6"/>
    <p:sldId id="319" r:id="rId7"/>
    <p:sldId id="305" r:id="rId8"/>
    <p:sldId id="320" r:id="rId9"/>
    <p:sldId id="312" r:id="rId10"/>
    <p:sldId id="288" r:id="rId11"/>
    <p:sldId id="314" r:id="rId12"/>
    <p:sldId id="315" r:id="rId13"/>
    <p:sldId id="309" r:id="rId14"/>
    <p:sldId id="31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E8D43-07BA-4BD8-9FE3-48C54A89A9EF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109580-7E8A-4E9E-908A-174C7683F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5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61FE43-30F0-4DE2-A680-5F267226205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528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3429F-1962-5296-1BB5-1E7A8304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029E1E9-816E-2BB3-D91A-BFBF5E531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019F15-1D6B-ABBE-B4EE-0C1579514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F1C51F-C812-8649-42CC-5796A11632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61FE43-30F0-4DE2-A680-5F267226205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82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705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31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617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29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65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41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703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77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66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57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142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175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806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530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920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586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45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E66CE9-8C85-4FC0-AA5F-36217C5353B5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3C4EA3-CC4B-488F-B5A0-554D0828B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83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lavbukh.ru/art/391503-investitsionnye-proekty-vidy-etapy-byudjetirovani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nsultant.ru/document/cons_doc_LAW_22142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&#1088;&#1077;&#1096;&#1077;&#1085;&#1080;&#1077;-&#1074;&#1077;&#1088;&#1085;&#1086;&#1077;.&#1088;&#1092;/unido-metodi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&#1085;&#1072;&#1094;&#1080;&#1086;&#1085;&#1072;&#1083;&#1100;&#1085;&#1099;&#1077;&#1087;&#1088;&#1086;&#1077;&#1082;&#1090;&#1099;.&#1088;&#1092;/new-projects/" TargetMode="External"/><Relationship Id="rId2" Type="http://schemas.openxmlformats.org/officeDocument/2006/relationships/hyperlink" Target="https://investprojects.inf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51584" y="720241"/>
            <a:ext cx="7344816" cy="1498178"/>
          </a:xfrm>
        </p:spPr>
        <p:txBody>
          <a:bodyPr>
            <a:noAutofit/>
          </a:bodyPr>
          <a:lstStyle/>
          <a:p>
            <a:r>
              <a:rPr lang="ru-RU" sz="3200" b="1" dirty="0"/>
              <a:t>1.2. Инвестиционный проект: понятие, классификация и особенности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66151" y="2787588"/>
            <a:ext cx="7910003" cy="3133818"/>
          </a:xfrm>
        </p:spPr>
        <p:txBody>
          <a:bodyPr>
            <a:normAutofit/>
          </a:bodyPr>
          <a:lstStyle/>
          <a:p>
            <a:r>
              <a:rPr lang="ru-RU" dirty="0"/>
              <a:t>Инвестиционный проект: определение, типологизация</a:t>
            </a:r>
          </a:p>
          <a:p>
            <a:r>
              <a:rPr lang="ru-RU" dirty="0"/>
              <a:t>Этапы (стадии) реализации инвестиционного проекта, их характеристика</a:t>
            </a:r>
          </a:p>
          <a:p>
            <a:r>
              <a:rPr lang="ru-RU" dirty="0"/>
              <a:t>Содержание инвестиционного проекта, финансовые составляющие</a:t>
            </a:r>
          </a:p>
          <a:p>
            <a:r>
              <a:rPr lang="ru-RU" dirty="0"/>
              <a:t>Корпоративный портфель проектов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4365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31473" y="1193971"/>
            <a:ext cx="6120680" cy="634082"/>
          </a:xfrm>
        </p:spPr>
        <p:txBody>
          <a:bodyPr>
            <a:noAutofit/>
          </a:bodyPr>
          <a:lstStyle/>
          <a:p>
            <a:r>
              <a:rPr lang="ru-RU" b="1" dirty="0"/>
              <a:t>Инвестиционный проект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2256" y="2539014"/>
            <a:ext cx="10395752" cy="368430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sz="1800" dirty="0"/>
              <a:t>ИЛИ это комплекс мероприятий, обосновывающий вложения капитала в создание нового или расширение действующего производства, для получения дохода (рассматривали ситуацию № 3)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ИЛИ это план мероприятий, разработанный с целью вложения средств в различные активы или предприятия с перспективой получения дохода в будущем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ИЛИ это комплексный план вложения ресурсов (финансовых, материальных, человеческих) для достижения конкретных экономических или социальных целей </a:t>
            </a:r>
            <a:r>
              <a:rPr lang="ru-RU" sz="1400" dirty="0"/>
              <a:t>(Источник: </a:t>
            </a:r>
            <a:r>
              <a:rPr lang="ru-RU" sz="1400" dirty="0">
                <a:hlinkClick r:id="rId3"/>
              </a:rPr>
              <a:t>https://www.glavbukh.ru/art/391503-investitsionnye-proekty-vidy-etapy-byudjetirovanie</a:t>
            </a:r>
            <a:r>
              <a:rPr lang="ru-RU" sz="1400" dirty="0"/>
              <a:t>)</a:t>
            </a:r>
            <a:endParaRPr lang="ru-RU" sz="1800" dirty="0"/>
          </a:p>
          <a:p>
            <a:pPr>
              <a:spcBef>
                <a:spcPts val="0"/>
              </a:spcBef>
            </a:pPr>
            <a:r>
              <a:rPr lang="ru-RU" sz="1800" dirty="0"/>
              <a:t>ИЛИ - обоснование экономической целесообразности, объема и сроков осуществления капитальных вложений, в том числе необходимая проектная документация, разработанная в соответствии с законодательством Российской Федерации, а также описание практических действий по осуществлению инвестиций (бизнес-план) </a:t>
            </a:r>
            <a:r>
              <a:rPr lang="en-US" sz="1300" dirty="0"/>
              <a:t>[</a:t>
            </a:r>
            <a:r>
              <a:rPr lang="ru-RU" sz="1300" b="1" u="sng" dirty="0">
                <a:hlinkClick r:id="rId4"/>
              </a:rPr>
              <a:t>"Об инвестиционной деятельности в РФ, осуществляемой в форме капитальных вложений"</a:t>
            </a:r>
            <a:r>
              <a:rPr lang="en-US" sz="1300" dirty="0"/>
              <a:t>]</a:t>
            </a: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130574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5253" y="1190811"/>
            <a:ext cx="8229600" cy="504056"/>
          </a:xfrm>
        </p:spPr>
        <p:txBody>
          <a:bodyPr>
            <a:noAutofit/>
          </a:bodyPr>
          <a:lstStyle/>
          <a:p>
            <a:r>
              <a:rPr lang="ru-RU" sz="3600" b="1" dirty="0"/>
              <a:t>Виды инвестиционных проектов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2155" y="2769832"/>
            <a:ext cx="10298097" cy="253013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dirty="0"/>
              <a:t>По сроку реализации</a:t>
            </a:r>
          </a:p>
          <a:p>
            <a:pPr>
              <a:spcBef>
                <a:spcPts val="0"/>
              </a:spcBef>
            </a:pPr>
            <a:r>
              <a:rPr lang="ru-RU" dirty="0"/>
              <a:t>По объему необходимых вложений</a:t>
            </a:r>
          </a:p>
          <a:p>
            <a:pPr>
              <a:spcBef>
                <a:spcPts val="0"/>
              </a:spcBef>
            </a:pPr>
            <a:r>
              <a:rPr lang="ru-RU" dirty="0"/>
              <a:t>По степени риска</a:t>
            </a:r>
          </a:p>
          <a:p>
            <a:pPr>
              <a:spcBef>
                <a:spcPts val="0"/>
              </a:spcBef>
            </a:pPr>
            <a:r>
              <a:rPr lang="ru-RU" dirty="0"/>
              <a:t>В зависимости от масштабов и значимости</a:t>
            </a:r>
          </a:p>
        </p:txBody>
      </p:sp>
    </p:spTree>
    <p:extLst>
      <p:ext uri="{BB962C8B-B14F-4D97-AF65-F5344CB8AC3E}">
        <p14:creationId xmlns:p14="http://schemas.microsoft.com/office/powerpoint/2010/main" val="2092292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789B-AECA-4439-B3E6-4E53E886E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B9EA4-BD08-CAE9-8C68-71C74042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186" y="1124744"/>
            <a:ext cx="8036262" cy="6340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Типы инвестиционного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0619BA-B37A-0647-F343-C68057A59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521" y="2734321"/>
            <a:ext cx="10422385" cy="3151573"/>
          </a:xfrm>
        </p:spPr>
        <p:txBody>
          <a:bodyPr>
            <a:normAutofit/>
          </a:bodyPr>
          <a:lstStyle/>
          <a:p>
            <a:r>
              <a:rPr lang="ru-RU" sz="2800" b="1" dirty="0"/>
              <a:t>Условно выделяют следующие типы</a:t>
            </a:r>
          </a:p>
          <a:p>
            <a:pPr lvl="1"/>
            <a:r>
              <a:rPr lang="ru-RU" sz="2400" dirty="0"/>
              <a:t>Производственные</a:t>
            </a:r>
          </a:p>
          <a:p>
            <a:pPr lvl="1"/>
            <a:r>
              <a:rPr lang="ru-RU" sz="2400" dirty="0"/>
              <a:t>Экономические</a:t>
            </a:r>
          </a:p>
          <a:p>
            <a:pPr lvl="1"/>
            <a:r>
              <a:rPr lang="ru-RU" sz="2400" dirty="0"/>
              <a:t>Научно-технические</a:t>
            </a:r>
          </a:p>
          <a:p>
            <a:pPr lvl="1"/>
            <a:r>
              <a:rPr lang="ru-RU" sz="2400" b="1" dirty="0">
                <a:solidFill>
                  <a:srgbClr val="7030A0"/>
                </a:solidFill>
              </a:rPr>
              <a:t>Экологические</a:t>
            </a:r>
          </a:p>
          <a:p>
            <a:pPr lvl="1"/>
            <a:r>
              <a:rPr lang="ru-RU" sz="2400" b="1" dirty="0">
                <a:solidFill>
                  <a:srgbClr val="7030A0"/>
                </a:solidFill>
              </a:rPr>
              <a:t>Социальные</a:t>
            </a:r>
          </a:p>
        </p:txBody>
      </p:sp>
    </p:spTree>
    <p:extLst>
      <p:ext uri="{BB962C8B-B14F-4D97-AF65-F5344CB8AC3E}">
        <p14:creationId xmlns:p14="http://schemas.microsoft.com/office/powerpoint/2010/main" val="3677839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5640" y="723513"/>
            <a:ext cx="6696744" cy="1440160"/>
          </a:xfrm>
        </p:spPr>
        <p:txBody>
          <a:bodyPr>
            <a:noAutofit/>
          </a:bodyPr>
          <a:lstStyle/>
          <a:p>
            <a:r>
              <a:rPr lang="ru-RU" sz="3200" b="1" dirty="0"/>
              <a:t>Этапы реализации инвестиционных проектов (ИП)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6140" y="2769832"/>
            <a:ext cx="9685538" cy="3395471"/>
          </a:xfrm>
        </p:spPr>
        <p:txBody>
          <a:bodyPr>
            <a:noAutofit/>
          </a:bodyPr>
          <a:lstStyle/>
          <a:p>
            <a:r>
              <a:rPr lang="ru-RU" dirty="0"/>
              <a:t>С момента возникновения идеи и до получения прибыли инвестиционный проект проходит этапы, которые составляют, так называемый, жизненный цикл или инвестиционный цикл</a:t>
            </a:r>
          </a:p>
          <a:p>
            <a:r>
              <a:rPr lang="ru-RU" dirty="0"/>
              <a:t>Выделяют следующие этапы</a:t>
            </a:r>
          </a:p>
          <a:p>
            <a:pPr lvl="1"/>
            <a:r>
              <a:rPr lang="ru-RU" sz="1800" dirty="0" err="1"/>
              <a:t>Прединвестиционный</a:t>
            </a:r>
            <a:endParaRPr lang="ru-RU" sz="1800" dirty="0"/>
          </a:p>
          <a:p>
            <a:pPr lvl="1"/>
            <a:r>
              <a:rPr lang="ru-RU" sz="1800" dirty="0"/>
              <a:t>Инвестиционный</a:t>
            </a:r>
          </a:p>
          <a:p>
            <a:pPr lvl="1"/>
            <a:r>
              <a:rPr lang="ru-RU" sz="1800" dirty="0"/>
              <a:t>Эксплуатационный</a:t>
            </a:r>
          </a:p>
          <a:p>
            <a:pPr lvl="1"/>
            <a:r>
              <a:rPr lang="ru-RU" sz="1800" dirty="0"/>
              <a:t>Аналитический</a:t>
            </a:r>
          </a:p>
        </p:txBody>
      </p:sp>
    </p:spTree>
    <p:extLst>
      <p:ext uri="{BB962C8B-B14F-4D97-AF65-F5344CB8AC3E}">
        <p14:creationId xmlns:p14="http://schemas.microsoft.com/office/powerpoint/2010/main" val="8402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2B0AD-95A5-ACC9-5289-C5D97783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Оценка эффективности инвестиционных проектов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0A191B-D19A-F9C7-B7DF-F27313A7A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2583712"/>
            <a:ext cx="10398642" cy="347858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dirty="0"/>
              <a:t>Этот процесс позволяет оценить потенциальную доходность и риски проекта перед его реализацией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dirty="0"/>
              <a:t>Основные финансовые показатели, которые определяют эффективность проекта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ru-RU" b="1" dirty="0"/>
              <a:t>NPV</a:t>
            </a:r>
            <a:r>
              <a:rPr lang="ru-RU" dirty="0"/>
              <a:t> – чистая приведенная стоимость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ru-RU" b="1" dirty="0"/>
              <a:t>IRR</a:t>
            </a:r>
            <a:r>
              <a:rPr lang="ru-RU" dirty="0"/>
              <a:t> – внутренняя норма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ru-RU" b="1" dirty="0"/>
              <a:t>PI </a:t>
            </a:r>
            <a:r>
              <a:rPr lang="ru-RU" dirty="0"/>
              <a:t>– индекс рентабельности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ru-RU" b="1" dirty="0"/>
              <a:t>DPP </a:t>
            </a:r>
            <a:r>
              <a:rPr lang="ru-RU" dirty="0"/>
              <a:t>– дисконтированный период окупаемости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dirty="0"/>
              <a:t>Руководство по оценке эффективности инвестиций (методика </a:t>
            </a:r>
            <a:r>
              <a:rPr lang="ru-RU" b="1" dirty="0"/>
              <a:t>ЮНИДО</a:t>
            </a:r>
            <a:r>
              <a:rPr lang="ru-RU" dirty="0"/>
              <a:t>) - </a:t>
            </a:r>
            <a:r>
              <a:rPr lang="ru-RU" dirty="0">
                <a:hlinkClick r:id="rId2"/>
              </a:rPr>
              <a:t>https://xn----dtbhaacat8bfloi8h.xn--p1ai/unido-metodik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5420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D0FD5-D89B-8D65-D2A7-8C6834B2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568" y="692697"/>
            <a:ext cx="7776864" cy="1526508"/>
          </a:xfrm>
        </p:spPr>
        <p:txBody>
          <a:bodyPr>
            <a:normAutofit/>
          </a:bodyPr>
          <a:lstStyle/>
          <a:p>
            <a:r>
              <a:rPr lang="ru-RU" sz="3600" dirty="0"/>
              <a:t>Бюджетирование инвестиционного проекта (ИП)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3EBC40-C0C1-1D72-FCB4-C2DE7BBBC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954" y="2490135"/>
            <a:ext cx="10164932" cy="3675168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ru-RU" sz="2000" dirty="0"/>
              <a:t>Правильное финансовое планирование – основа успешной реализации любого ИП</a:t>
            </a:r>
          </a:p>
          <a:p>
            <a:pPr>
              <a:spcAft>
                <a:spcPts val="0"/>
              </a:spcAft>
            </a:pPr>
            <a:r>
              <a:rPr lang="ru-RU" sz="2000" dirty="0"/>
              <a:t>Грамотно составленный бюджет позволяет</a:t>
            </a:r>
          </a:p>
          <a:p>
            <a:pPr lvl="1">
              <a:spcAft>
                <a:spcPts val="0"/>
              </a:spcAft>
            </a:pPr>
            <a:r>
              <a:rPr lang="ru-RU" sz="1600" dirty="0"/>
              <a:t>контролировать денежные потоки</a:t>
            </a:r>
          </a:p>
          <a:p>
            <a:pPr lvl="1">
              <a:spcAft>
                <a:spcPts val="0"/>
              </a:spcAft>
            </a:pPr>
            <a:r>
              <a:rPr lang="ru-RU" sz="1600" dirty="0"/>
              <a:t>минимизировать риски</a:t>
            </a:r>
          </a:p>
          <a:p>
            <a:pPr lvl="1">
              <a:spcAft>
                <a:spcPts val="0"/>
              </a:spcAft>
            </a:pPr>
            <a:r>
              <a:rPr lang="ru-RU" sz="1600" dirty="0"/>
              <a:t>обеспечивать эффективное использование ресурсов на всех этапах проекта</a:t>
            </a:r>
          </a:p>
          <a:p>
            <a:pPr>
              <a:spcAft>
                <a:spcPts val="0"/>
              </a:spcAft>
            </a:pPr>
            <a:r>
              <a:rPr lang="ru-RU" sz="2000" dirty="0"/>
              <a:t>Составление инвестиционного бюджета начинается с определения общего объема необходимых капиталовложений</a:t>
            </a:r>
          </a:p>
          <a:p>
            <a:pPr lvl="1">
              <a:spcAft>
                <a:spcPts val="0"/>
              </a:spcAft>
            </a:pPr>
            <a:r>
              <a:rPr lang="ru-RU" sz="1600" dirty="0"/>
              <a:t>расчет стартовых инвестиций</a:t>
            </a:r>
          </a:p>
          <a:p>
            <a:pPr lvl="1">
              <a:spcAft>
                <a:spcPts val="0"/>
              </a:spcAft>
            </a:pPr>
            <a:r>
              <a:rPr lang="ru-RU" sz="1600" dirty="0"/>
              <a:t>прогнозирование текущих расходов</a:t>
            </a:r>
          </a:p>
          <a:p>
            <a:pPr lvl="1">
              <a:spcAft>
                <a:spcPts val="0"/>
              </a:spcAft>
            </a:pPr>
            <a:r>
              <a:rPr lang="ru-RU" sz="1600" dirty="0"/>
              <a:t>планирование источников финансирования</a:t>
            </a:r>
          </a:p>
          <a:p>
            <a:pPr lvl="1">
              <a:spcAft>
                <a:spcPts val="0"/>
              </a:spcAft>
            </a:pPr>
            <a:r>
              <a:rPr lang="ru-RU" sz="1600" dirty="0"/>
              <a:t>разработку графика поступления и расходования средств с учетом временной стоимости денег</a:t>
            </a:r>
          </a:p>
        </p:txBody>
      </p:sp>
    </p:spTree>
    <p:extLst>
      <p:ext uri="{BB962C8B-B14F-4D97-AF65-F5344CB8AC3E}">
        <p14:creationId xmlns:p14="http://schemas.microsoft.com/office/powerpoint/2010/main" val="33236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F6CB7-E818-9B8F-2603-5915FA85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454" y="982132"/>
            <a:ext cx="8566952" cy="1303867"/>
          </a:xfrm>
        </p:spPr>
        <p:txBody>
          <a:bodyPr>
            <a:normAutofit fontScale="90000"/>
          </a:bodyPr>
          <a:lstStyle/>
          <a:p>
            <a:r>
              <a:rPr lang="ru-RU" dirty="0"/>
              <a:t>Формирование бюджета капиталовложений корпорации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37ACE5-BB9F-E62F-5DA8-8E095461E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241" y="2592280"/>
            <a:ext cx="9871969" cy="3645033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lang="ru-RU" dirty="0"/>
              <a:t>это многоэтапный процесс выбора долгосрочных инвестиционных проектов</a:t>
            </a:r>
          </a:p>
          <a:p>
            <a:pPr lvl="1">
              <a:spcAft>
                <a:spcPts val="0"/>
              </a:spcAft>
            </a:pPr>
            <a:r>
              <a:rPr lang="ru-RU" dirty="0"/>
              <a:t>выявление потребностей</a:t>
            </a:r>
          </a:p>
          <a:p>
            <a:pPr lvl="1">
              <a:spcAft>
                <a:spcPts val="0"/>
              </a:spcAft>
            </a:pPr>
            <a:r>
              <a:rPr lang="ru-RU" dirty="0"/>
              <a:t>оценку потенциальных проектов (оборудование, расширение)</a:t>
            </a:r>
          </a:p>
          <a:p>
            <a:pPr lvl="1">
              <a:spcAft>
                <a:spcPts val="0"/>
              </a:spcAft>
            </a:pPr>
            <a:r>
              <a:rPr lang="ru-RU" dirty="0"/>
              <a:t>приоритизацию на основе ожидаемой прибыли и рисков</a:t>
            </a:r>
          </a:p>
          <a:p>
            <a:pPr lvl="1">
              <a:spcAft>
                <a:spcPts val="0"/>
              </a:spcAft>
            </a:pPr>
            <a:r>
              <a:rPr lang="ru-RU" dirty="0"/>
              <a:t>распределение ресурсов</a:t>
            </a:r>
          </a:p>
          <a:p>
            <a:pPr>
              <a:spcAft>
                <a:spcPts val="0"/>
              </a:spcAft>
            </a:pPr>
            <a:r>
              <a:rPr lang="ru-RU" dirty="0"/>
              <a:t>Распределение ресурсов происходит</a:t>
            </a:r>
          </a:p>
          <a:p>
            <a:pPr lvl="1">
              <a:spcAft>
                <a:spcPts val="0"/>
              </a:spcAft>
            </a:pPr>
            <a:r>
              <a:rPr lang="ru-RU" dirty="0"/>
              <a:t>дисконтированный денежный поток и срок окупаемости</a:t>
            </a:r>
          </a:p>
          <a:p>
            <a:pPr>
              <a:spcAft>
                <a:spcPts val="0"/>
              </a:spcAft>
            </a:pPr>
            <a:r>
              <a:rPr lang="ru-RU" dirty="0"/>
              <a:t>Семь методов, влияющих на составление капитальных бюджетов</a:t>
            </a:r>
          </a:p>
          <a:p>
            <a:pPr lvl="1">
              <a:spcAft>
                <a:spcPts val="0"/>
              </a:spcAft>
            </a:pPr>
            <a:r>
              <a:rPr lang="ru-RU" dirty="0"/>
              <a:t>чистая приведенная стоимость (NPV), внутренняя норма доходности (IRR), индекс рентабельности (PI), срок окупаемости, дисконтированный срок окупаемости, модифицированная внутренняя норма доходности (MIRR) и анализ реальных опционов</a:t>
            </a:r>
          </a:p>
          <a:p>
            <a:pPr lvl="1"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1964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2F88-FC3D-ACBE-9901-0D2A326B6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CDA7F-3F6F-79B8-1E7B-8B1737F87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1704" y="980728"/>
            <a:ext cx="5256584" cy="936104"/>
          </a:xfrm>
        </p:spPr>
        <p:txBody>
          <a:bodyPr>
            <a:noAutofit/>
          </a:bodyPr>
          <a:lstStyle/>
          <a:p>
            <a:r>
              <a:rPr lang="ru-RU" sz="3200" b="1" dirty="0"/>
              <a:t>МОЖНО СКАЗАТЬ, ЧТО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26EFFC-D5B3-326D-5CAD-B6E1A2DCE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305" y="2492896"/>
            <a:ext cx="9392575" cy="3600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dirty="0"/>
              <a:t>Инвестиционный проект — гибкий инструмент</a:t>
            </a:r>
          </a:p>
          <a:p>
            <a:pPr>
              <a:spcBef>
                <a:spcPts val="0"/>
              </a:spcBef>
            </a:pPr>
            <a:r>
              <a:rPr lang="ru-RU" dirty="0"/>
              <a:t>По мере реализации на каждом этапе он корректируется с учётом возникших сложностей или изменений обстоятельств</a:t>
            </a:r>
          </a:p>
          <a:p>
            <a:pPr>
              <a:spcBef>
                <a:spcPts val="0"/>
              </a:spcBef>
            </a:pPr>
            <a:r>
              <a:rPr lang="ru-RU" dirty="0"/>
              <a:t>Основа успешной реализации любого инвестиционного проекта – оптимальное финансовое планирование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контроль за денежными потоками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минимизация рисков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обеспечение эффективного использование ресурсов на всех этапах реализации проекта</a:t>
            </a:r>
          </a:p>
          <a:p>
            <a:pPr>
              <a:spcBef>
                <a:spcPts val="0"/>
              </a:spcBef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9663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3592" y="548680"/>
            <a:ext cx="7334472" cy="1600200"/>
          </a:xfrm>
        </p:spPr>
        <p:txBody>
          <a:bodyPr>
            <a:normAutofit/>
          </a:bodyPr>
          <a:lstStyle/>
          <a:p>
            <a:r>
              <a:rPr lang="ru-RU" dirty="0"/>
              <a:t>Бизнес-план</a:t>
            </a:r>
            <a:br>
              <a:rPr lang="ru-RU" dirty="0"/>
            </a:br>
            <a:r>
              <a:rPr lang="ru-RU" dirty="0"/>
              <a:t>инвестиционного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35837" y="2636913"/>
            <a:ext cx="9463596" cy="3489251"/>
          </a:xfrm>
        </p:spPr>
        <p:txBody>
          <a:bodyPr>
            <a:normAutofit/>
          </a:bodyPr>
          <a:lstStyle/>
          <a:p>
            <a:r>
              <a:rPr lang="ru-RU" dirty="0"/>
              <a:t>Назначение бизнес-плана</a:t>
            </a:r>
          </a:p>
          <a:p>
            <a:r>
              <a:rPr lang="ru-RU" dirty="0"/>
              <a:t>Критерии оценки инвестиционного проекта</a:t>
            </a:r>
          </a:p>
          <a:p>
            <a:r>
              <a:rPr lang="ru-RU" dirty="0"/>
              <a:t>Оценка финансовой состоятельности (жизнеспособности) проекта – анализ ликвидности проекта в ходе его реализации</a:t>
            </a:r>
          </a:p>
          <a:p>
            <a:r>
              <a:rPr lang="ru-RU" dirty="0"/>
              <a:t>Содержание решений инвестиционного характера</a:t>
            </a:r>
          </a:p>
        </p:txBody>
      </p:sp>
    </p:spTree>
    <p:extLst>
      <p:ext uri="{BB962C8B-B14F-4D97-AF65-F5344CB8AC3E}">
        <p14:creationId xmlns:p14="http://schemas.microsoft.com/office/powerpoint/2010/main" val="252948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9B5D6-2268-B853-EA56-CA6D6940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Корпоративный портфель проектов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5B96C5-0A29-BBCA-635A-1F8FF0E26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219" y="2556769"/>
            <a:ext cx="10005134" cy="360853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набор проектов, программ проектов и других работ, объединенных вместе для достижения более эффективного управления и обеспечения выполнения стратегических целей организации</a:t>
            </a:r>
          </a:p>
          <a:p>
            <a:r>
              <a:rPr lang="ru-RU" dirty="0"/>
              <a:t>несколько ключевых участников: руководитель проектного офиса, руководитель проекта и стейкхолдеры (заинтересованная сторона)</a:t>
            </a:r>
          </a:p>
          <a:p>
            <a:r>
              <a:rPr lang="ru-RU" dirty="0"/>
              <a:t>пять систем: </a:t>
            </a:r>
            <a:r>
              <a:rPr lang="en-US" dirty="0"/>
              <a:t>ADVANTA, Wrike, Microsoft Project, </a:t>
            </a:r>
            <a:r>
              <a:rPr lang="en-US" dirty="0" err="1"/>
              <a:t>Naumen</a:t>
            </a:r>
            <a:r>
              <a:rPr lang="en-US" dirty="0"/>
              <a:t> Project Ruler </a:t>
            </a:r>
            <a:r>
              <a:rPr lang="ru-RU" dirty="0"/>
              <a:t>и </a:t>
            </a:r>
            <a:r>
              <a:rPr lang="en-US" dirty="0"/>
              <a:t>ELMA365 </a:t>
            </a:r>
            <a:r>
              <a:rPr lang="ru-RU" dirty="0"/>
              <a:t>Проекты</a:t>
            </a:r>
          </a:p>
          <a:p>
            <a:r>
              <a:rPr lang="ru-RU" dirty="0"/>
              <a:t>«Корпоративный инвестиционный портфель» – это источник дополнительного пассивного дохода для корпоративных клиентов (за счёт инвестирования части прибыли в дивидендные акции надежных компаний)</a:t>
            </a:r>
          </a:p>
        </p:txBody>
      </p:sp>
    </p:spTree>
    <p:extLst>
      <p:ext uri="{BB962C8B-B14F-4D97-AF65-F5344CB8AC3E}">
        <p14:creationId xmlns:p14="http://schemas.microsoft.com/office/powerpoint/2010/main" val="5669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B72F-0138-CDFF-3F7A-6275612C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4C934-30B5-8B8F-9C68-F41CC547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587" y="692697"/>
            <a:ext cx="9916357" cy="1656183"/>
          </a:xfrm>
        </p:spPr>
        <p:txBody>
          <a:bodyPr>
            <a:normAutofit/>
          </a:bodyPr>
          <a:lstStyle/>
          <a:p>
            <a:r>
              <a:rPr lang="ru-RU" dirty="0"/>
              <a:t>Матрица портфелей</a:t>
            </a:r>
            <a:br>
              <a:rPr lang="ru-RU" dirty="0"/>
            </a:br>
            <a:r>
              <a:rPr lang="ru-RU" sz="1800" dirty="0"/>
              <a:t>это инструмент стратегического управления для анализа и принятия решений по различным направлениям бизнеса или продуктам компании, классифицирующий их по двум осям (вертикальной и горизонтальной) для определения приоритетов инвестиций, развития или ликвидации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450C5C-E207-912A-1E54-8A34CC0F2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139" y="2654423"/>
            <a:ext cx="9916357" cy="358289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dirty="0"/>
              <a:t>Два из четырех основных видов матрицы</a:t>
            </a:r>
          </a:p>
          <a:p>
            <a:pPr lvl="1">
              <a:spcBef>
                <a:spcPts val="0"/>
              </a:spcBef>
            </a:pPr>
            <a:r>
              <a:rPr lang="en-US" dirty="0"/>
              <a:t>Boston Consulting Group (BCG) – </a:t>
            </a:r>
            <a:r>
              <a:rPr lang="ru-RU" dirty="0"/>
              <a:t>темп роста рынка (вертикальная ось) и относительная доля рынка (горизонтальная) – для анализа продуктового портфеля</a:t>
            </a:r>
          </a:p>
          <a:p>
            <a:pPr lvl="2">
              <a:spcBef>
                <a:spcPts val="0"/>
              </a:spcBef>
            </a:pPr>
            <a:r>
              <a:rPr lang="ru-RU" altLang="ru-RU" b="1" dirty="0">
                <a:solidFill>
                  <a:srgbClr val="0A0A0A"/>
                </a:solidFill>
              </a:rPr>
              <a:t>Звезды:</a:t>
            </a:r>
            <a:r>
              <a:rPr lang="ru-RU" altLang="ru-RU" dirty="0">
                <a:solidFill>
                  <a:srgbClr val="0A0A0A"/>
                </a:solidFill>
              </a:rPr>
              <a:t> Высокий рост, высокая доля (требуют инвестиций)</a:t>
            </a:r>
          </a:p>
          <a:p>
            <a:pPr lvl="2">
              <a:spcBef>
                <a:spcPts val="0"/>
              </a:spcBef>
            </a:pPr>
            <a:r>
              <a:rPr lang="ru-RU" altLang="ru-RU" b="1" dirty="0">
                <a:solidFill>
                  <a:srgbClr val="0A0A0A"/>
                </a:solidFill>
              </a:rPr>
              <a:t>Дойные коровы:</a:t>
            </a:r>
            <a:r>
              <a:rPr lang="ru-RU" altLang="ru-RU" dirty="0">
                <a:solidFill>
                  <a:srgbClr val="0A0A0A"/>
                </a:solidFill>
              </a:rPr>
              <a:t> Низкий рост, высокая доля (источники прибыли)</a:t>
            </a:r>
          </a:p>
          <a:p>
            <a:pPr lvl="2">
              <a:spcBef>
                <a:spcPts val="0"/>
              </a:spcBef>
            </a:pPr>
            <a:r>
              <a:rPr lang="ru-RU" altLang="ru-RU" b="1" dirty="0">
                <a:solidFill>
                  <a:srgbClr val="0A0A0A"/>
                </a:solidFill>
              </a:rPr>
              <a:t>Вопросительные знаки (Проблемные):</a:t>
            </a:r>
            <a:r>
              <a:rPr lang="ru-RU" altLang="ru-RU" dirty="0">
                <a:solidFill>
                  <a:srgbClr val="0A0A0A"/>
                </a:solidFill>
              </a:rPr>
              <a:t> Высокий рост, низкая доля (рискованные, требуют анализа)</a:t>
            </a:r>
          </a:p>
          <a:p>
            <a:pPr lvl="2">
              <a:spcBef>
                <a:spcPts val="0"/>
              </a:spcBef>
            </a:pPr>
            <a:r>
              <a:rPr lang="ru-RU" altLang="ru-RU" b="1" dirty="0">
                <a:solidFill>
                  <a:srgbClr val="0A0A0A"/>
                </a:solidFill>
              </a:rPr>
              <a:t>Собаки:</a:t>
            </a:r>
            <a:r>
              <a:rPr lang="ru-RU" altLang="ru-RU" dirty="0">
                <a:solidFill>
                  <a:srgbClr val="0A0A0A"/>
                </a:solidFill>
              </a:rPr>
              <a:t> Низкий рост, низкая доля (потенциально к ликвидации)</a:t>
            </a:r>
            <a:endParaRPr lang="ru-RU" dirty="0"/>
          </a:p>
          <a:p>
            <a:pPr lvl="1">
              <a:spcBef>
                <a:spcPts val="0"/>
              </a:spcBef>
            </a:pPr>
            <a:r>
              <a:rPr lang="ru-RU" dirty="0"/>
              <a:t>Матрица </a:t>
            </a:r>
            <a:r>
              <a:rPr lang="en-US" dirty="0"/>
              <a:t>GE/McKinsey</a:t>
            </a:r>
            <a:r>
              <a:rPr lang="ru-RU" dirty="0"/>
              <a:t> - привлекательность отрасли (вертикальная) и конкурентная позиция бизнеса (горизонтальная) - для оценки бизнес-единиц</a:t>
            </a:r>
          </a:p>
        </p:txBody>
      </p:sp>
    </p:spTree>
    <p:extLst>
      <p:ext uri="{BB962C8B-B14F-4D97-AF65-F5344CB8AC3E}">
        <p14:creationId xmlns:p14="http://schemas.microsoft.com/office/powerpoint/2010/main" val="3004545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0DC911-7195-F5E7-00B7-9210A4E65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592" y="915338"/>
            <a:ext cx="7488832" cy="1303867"/>
          </a:xfrm>
        </p:spPr>
        <p:txBody>
          <a:bodyPr>
            <a:normAutofit fontScale="90000"/>
          </a:bodyPr>
          <a:lstStyle/>
          <a:p>
            <a:r>
              <a:rPr lang="ru-RU" dirty="0"/>
              <a:t>Корпоративный проектный бизнес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749B2F-6B58-1FD7-A606-0962CF513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Характеристика</a:t>
            </a:r>
          </a:p>
          <a:p>
            <a:pPr lvl="1"/>
            <a:r>
              <a:rPr lang="ru-RU" dirty="0"/>
              <a:t>система управления, где вся деятельность компании строится вокруг проектов</a:t>
            </a:r>
          </a:p>
          <a:p>
            <a:pPr lvl="1"/>
            <a:r>
              <a:rPr lang="ru-RU" dirty="0"/>
              <a:t>повышение эффективности через стандартизацию, методологию и централизованный контроль</a:t>
            </a:r>
          </a:p>
          <a:p>
            <a:pPr lvl="1"/>
            <a:r>
              <a:rPr lang="ru-RU" dirty="0"/>
              <a:t>Проектный Офис или EPM-систему, позволяющие синхронизировать работу множества проектов со стратегическими целями организации, оптимизируя ресурсы, риски и прозрачность управления</a:t>
            </a:r>
          </a:p>
          <a:p>
            <a:r>
              <a:rPr lang="ru-RU" dirty="0"/>
              <a:t>Стандарты корпоративного проектного бизнеса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2782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1F180-28A3-5C9B-D657-7F26B8C4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анализа иерархий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Analytic</a:t>
            </a:r>
            <a:r>
              <a:rPr lang="ru-RU" dirty="0"/>
              <a:t> </a:t>
            </a:r>
            <a:r>
              <a:rPr lang="ru-RU" dirty="0" err="1"/>
              <a:t>Hierarchy</a:t>
            </a:r>
            <a:r>
              <a:rPr lang="ru-RU" dirty="0"/>
              <a:t> Process, AHP)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34B826-B5CE-8F9A-0B45-40BCA43E0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90136"/>
            <a:ext cx="9730663" cy="367516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это один из наиболее известных методов многокритериального анализа, предназначенный для выбора, ранжирования и обоснования решений на основе субъективных предпочтений лица, принимающего решение; то есть процедура поддержки принятия решений с учетом субъективных и объективных критериев оценки</a:t>
            </a:r>
          </a:p>
          <a:p>
            <a:r>
              <a:rPr lang="ru-RU" dirty="0"/>
              <a:t>Метод был разработан Томасом </a:t>
            </a:r>
            <a:r>
              <a:rPr lang="ru-RU" dirty="0" err="1"/>
              <a:t>Саати</a:t>
            </a:r>
            <a:r>
              <a:rPr lang="ru-RU" dirty="0"/>
              <a:t> в 1970-х годах</a:t>
            </a:r>
          </a:p>
          <a:p>
            <a:r>
              <a:rPr lang="ru-RU" dirty="0"/>
              <a:t>Получил широкое распространение в задачах, где необходимо учитывать множественные, часто конфликтующие, критерии</a:t>
            </a:r>
          </a:p>
          <a:p>
            <a:r>
              <a:rPr lang="ru-RU" dirty="0"/>
              <a:t>Плюс – высокая универсальность (для решения практически любых задач)</a:t>
            </a:r>
          </a:p>
          <a:p>
            <a:r>
              <a:rPr lang="ru-RU" dirty="0"/>
              <a:t>Минус – большой объём информации от разных экспертов (вспоминаем </a:t>
            </a:r>
            <a:r>
              <a:rPr lang="ru-RU" dirty="0" err="1"/>
              <a:t>Дамодарана</a:t>
            </a:r>
            <a:r>
              <a:rPr lang="ru-RU" dirty="0"/>
              <a:t> и его мифы)</a:t>
            </a:r>
          </a:p>
        </p:txBody>
      </p:sp>
    </p:spTree>
    <p:extLst>
      <p:ext uri="{BB962C8B-B14F-4D97-AF65-F5344CB8AC3E}">
        <p14:creationId xmlns:p14="http://schemas.microsoft.com/office/powerpoint/2010/main" val="2842417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774367"/>
            <a:ext cx="8229600" cy="155158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dirty="0"/>
              <a:t>Инвестиционные проекты России</a:t>
            </a:r>
            <a:br>
              <a:rPr lang="ru-RU" sz="2800" b="1" dirty="0"/>
            </a:br>
            <a:r>
              <a:rPr lang="en-US" sz="2400" b="1" dirty="0">
                <a:hlinkClick r:id="rId2"/>
              </a:rPr>
              <a:t>https://investprojects.info/</a:t>
            </a:r>
            <a:br>
              <a:rPr lang="ru-RU" sz="2400" b="1" dirty="0"/>
            </a:br>
            <a:r>
              <a:rPr lang="ru-RU" sz="2400" b="1" dirty="0"/>
              <a:t>Национальные проекты России</a:t>
            </a:r>
            <a:br>
              <a:rPr lang="ru-RU" sz="2400" b="1" dirty="0"/>
            </a:br>
            <a:r>
              <a:rPr lang="en-US" sz="2000" b="1" dirty="0">
                <a:hlinkClick r:id="rId3"/>
              </a:rPr>
              <a:t>https://xn--80aapampemcchfmo7a3c9ehj.xn--p1ai/new-projects/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3135" y="2711302"/>
            <a:ext cx="10473070" cy="3702894"/>
          </a:xfrm>
        </p:spPr>
        <p:txBody>
          <a:bodyPr>
            <a:normAutofit/>
          </a:bodyPr>
          <a:lstStyle/>
          <a:p>
            <a:r>
              <a:rPr lang="ru-RU" dirty="0"/>
              <a:t>Цифровая платформа инвестиционных проектов, реализуемых в России и странах ЕАЭС</a:t>
            </a:r>
          </a:p>
          <a:p>
            <a:r>
              <a:rPr lang="ru-RU" dirty="0"/>
              <a:t>Информационно-аналитический портал инвестиционных проектов, реализуемых в России </a:t>
            </a:r>
          </a:p>
          <a:p>
            <a:r>
              <a:rPr lang="ru-RU" dirty="0"/>
              <a:t>Уникальная база крупных объектов промышленного и гражданского строительства с частным инвестированием, информация о которых, как правило, не публикуется в открытых источниках и на тендерных площадках. Ежедневно обновляется и добавляется не менее 40 проектов.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67979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113</TotalTime>
  <Words>985</Words>
  <Application>Microsoft Office PowerPoint</Application>
  <PresentationFormat>Широкоэкранный</PresentationFormat>
  <Paragraphs>101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Garamond</vt:lpstr>
      <vt:lpstr>Натуральные материалы</vt:lpstr>
      <vt:lpstr>1.2. Инвестиционный проект: понятие, классификация и особенности</vt:lpstr>
      <vt:lpstr>Инвестиционный проект</vt:lpstr>
      <vt:lpstr>Виды инвестиционных проектов</vt:lpstr>
      <vt:lpstr>Типы инвестиционного проекта</vt:lpstr>
      <vt:lpstr>Этапы реализации инвестиционных проектов (ИП)</vt:lpstr>
      <vt:lpstr>Оценка эффективности инвестиционных проектов</vt:lpstr>
      <vt:lpstr>Бюджетирование инвестиционного проекта (ИП) </vt:lpstr>
      <vt:lpstr>Формирование бюджета капиталовложений корпорации </vt:lpstr>
      <vt:lpstr>МОЖНО СКАЗАТЬ, ЧТО</vt:lpstr>
      <vt:lpstr>Бизнес-план инвестиционного проекта</vt:lpstr>
      <vt:lpstr>Корпоративный портфель проектов</vt:lpstr>
      <vt:lpstr>Матрица портфелей это инструмент стратегического управления для анализа и принятия решений по различным направлениям бизнеса или продуктам компании, классифицирующий их по двум осям (вертикальной и горизонтальной) для определения приоритетов инвестиций, развития или ликвидации</vt:lpstr>
      <vt:lpstr>Корпоративный проектный бизнес</vt:lpstr>
      <vt:lpstr>Метод анализа иерархий (Analytic Hierarchy Process, AHP)</vt:lpstr>
      <vt:lpstr>Инвестиционные проекты России https://investprojects.info/ Национальные проекты России https://xn--80aapampemcchfmo7a3c9ehj.xn--p1ai/new-projects/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Тарасова Юлия Александровна</dc:creator>
  <cp:lastModifiedBy>Тарасова Юлия Александровна</cp:lastModifiedBy>
  <cp:revision>11</cp:revision>
  <dcterms:created xsi:type="dcterms:W3CDTF">2026-01-13T19:23:59Z</dcterms:created>
  <dcterms:modified xsi:type="dcterms:W3CDTF">2026-01-14T11:09:27Z</dcterms:modified>
</cp:coreProperties>
</file>