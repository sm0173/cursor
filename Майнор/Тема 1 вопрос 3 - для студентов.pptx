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3"/>
  </p:notesMasterIdLst>
  <p:handoutMasterIdLst>
    <p:handoutMasterId r:id="rId24"/>
  </p:handoutMasterIdLst>
  <p:sldIdLst>
    <p:sldId id="262" r:id="rId2"/>
    <p:sldId id="409" r:id="rId3"/>
    <p:sldId id="407" r:id="rId4"/>
    <p:sldId id="408" r:id="rId5"/>
    <p:sldId id="279" r:id="rId6"/>
    <p:sldId id="394" r:id="rId7"/>
    <p:sldId id="395" r:id="rId8"/>
    <p:sldId id="396" r:id="rId9"/>
    <p:sldId id="280" r:id="rId10"/>
    <p:sldId id="392" r:id="rId11"/>
    <p:sldId id="319" r:id="rId12"/>
    <p:sldId id="317" r:id="rId13"/>
    <p:sldId id="316" r:id="rId14"/>
    <p:sldId id="398" r:id="rId15"/>
    <p:sldId id="401" r:id="rId16"/>
    <p:sldId id="403" r:id="rId17"/>
    <p:sldId id="405" r:id="rId18"/>
    <p:sldId id="402" r:id="rId19"/>
    <p:sldId id="399" r:id="rId20"/>
    <p:sldId id="400" r:id="rId21"/>
    <p:sldId id="406" r:id="rId22"/>
  </p:sldIdLst>
  <p:sldSz cx="9144000" cy="6858000" type="screen4x3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F938-7EB2-43F3-8346-E84938F3E18B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7763C-B770-406D-8F17-124C2CFA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038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F1E19-6928-48A1-BD1B-A0AC2E70CA2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1FE43-30F0-4DE2-A680-5F2672262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51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b="1"/>
              <a:t>Финансовый подход</a:t>
            </a: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129911A-E0A5-42DB-A565-F7A87F72DAD7}" type="slidenum">
              <a:rPr lang="ru-RU" altLang="ru-RU" sz="1200" smtClean="0"/>
              <a:pPr/>
              <a:t>5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4139092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раз слайда 1">
            <a:extLst>
              <a:ext uri="{FF2B5EF4-FFF2-40B4-BE49-F238E27FC236}">
                <a16:creationId xmlns:a16="http://schemas.microsoft.com/office/drawing/2014/main" id="{721D157B-4F56-6053-E057-C1AE793ABB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Заметки 2">
            <a:extLst>
              <a:ext uri="{FF2B5EF4-FFF2-40B4-BE49-F238E27FC236}">
                <a16:creationId xmlns:a16="http://schemas.microsoft.com/office/drawing/2014/main" id="{19360D49-8915-394B-B0E3-1950A5AC9C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Обратите внимание, что </a:t>
            </a:r>
            <a:r>
              <a:rPr lang="en-US" altLang="ru-RU"/>
              <a:t>OCF </a:t>
            </a:r>
            <a:r>
              <a:rPr lang="ru-RU" altLang="ru-RU"/>
              <a:t>связан с тремя видами прибыли. Назовите их - </a:t>
            </a:r>
            <a:r>
              <a:rPr lang="en-US" altLang="ru-RU"/>
              <a:t>EBIT, EBITDA, NOPAT</a:t>
            </a:r>
            <a:r>
              <a:rPr lang="ru-RU" altLang="ru-RU"/>
              <a:t>. Последняя включает в себя проценты по кредитам.</a:t>
            </a:r>
            <a:endParaRPr lang="en-US" altLang="ru-RU"/>
          </a:p>
          <a:p>
            <a:r>
              <a:rPr lang="ru-RU" altLang="ru-RU"/>
              <a:t>Что с амортизацией </a:t>
            </a:r>
            <a:r>
              <a:rPr lang="en-US" altLang="ru-RU"/>
              <a:t>(DA)</a:t>
            </a:r>
            <a:r>
              <a:rPr lang="ru-RU" altLang="ru-RU"/>
              <a:t>? Как вы думаете? Правильно – ее нет в подобных организациях.</a:t>
            </a:r>
          </a:p>
        </p:txBody>
      </p:sp>
      <p:sp>
        <p:nvSpPr>
          <p:cNvPr id="31748" name="Номер слайда 3">
            <a:extLst>
              <a:ext uri="{FF2B5EF4-FFF2-40B4-BE49-F238E27FC236}">
                <a16:creationId xmlns:a16="http://schemas.microsoft.com/office/drawing/2014/main" id="{9FDCDF4D-E7DD-FD39-F022-CF2622FB9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D9C90A-37BA-4E95-A784-5AD21F7584FC}" type="slidenum">
              <a:rPr lang="ru-RU" altLang="ru-RU" sz="1200"/>
              <a:pPr/>
              <a:t>6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>
            <a:extLst>
              <a:ext uri="{FF2B5EF4-FFF2-40B4-BE49-F238E27FC236}">
                <a16:creationId xmlns:a16="http://schemas.microsoft.com/office/drawing/2014/main" id="{B6271385-79B0-661B-5EFD-0B213ADB9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Заметки 2">
            <a:extLst>
              <a:ext uri="{FF2B5EF4-FFF2-40B4-BE49-F238E27FC236}">
                <a16:creationId xmlns:a16="http://schemas.microsoft.com/office/drawing/2014/main" id="{99E1DEC6-FAE2-F88C-D437-C73A3ED3DC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ru-RU"/>
              <a:t>Capital Expenditure</a:t>
            </a:r>
            <a:r>
              <a:rPr lang="ru-RU" altLang="ru-RU"/>
              <a:t> – капитальные затраты (расходы, вложения), которые делает предприятие для приобретения внеоборотных активов (более 1 года) и на их модернизацию. В РСБУ их нет, в МСФО есть отдельная статья. В нашем случае мы показываем, сколько компания максимально может потратить на инвестиции во внеоборотные активы.</a:t>
            </a:r>
          </a:p>
        </p:txBody>
      </p:sp>
      <p:sp>
        <p:nvSpPr>
          <p:cNvPr id="32772" name="Номер слайда 3">
            <a:extLst>
              <a:ext uri="{FF2B5EF4-FFF2-40B4-BE49-F238E27FC236}">
                <a16:creationId xmlns:a16="http://schemas.microsoft.com/office/drawing/2014/main" id="{FEF92D6A-63CB-225B-8550-7F379106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94954E8-774E-4474-A4A4-D63BFAD4E2F7}" type="slidenum">
              <a:rPr lang="ru-RU" altLang="ru-RU" sz="1200"/>
              <a:pPr/>
              <a:t>7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>
            <a:extLst>
              <a:ext uri="{FF2B5EF4-FFF2-40B4-BE49-F238E27FC236}">
                <a16:creationId xmlns:a16="http://schemas.microsoft.com/office/drawing/2014/main" id="{7D288974-7CBD-D009-DBAF-F499446E74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>
            <a:extLst>
              <a:ext uri="{FF2B5EF4-FFF2-40B4-BE49-F238E27FC236}">
                <a16:creationId xmlns:a16="http://schemas.microsoft.com/office/drawing/2014/main" id="{D53644AD-A75E-4654-1E00-7841DEF3C4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Пассивные потоки с финансовой точки зрения можно разбить на две группы – владельцам и кредиторам. И, как я чуть раньше говорила, его надо распределять между владельцами капитала.</a:t>
            </a:r>
          </a:p>
          <a:p>
            <a:r>
              <a:rPr lang="ru-RU" altLang="ru-RU"/>
              <a:t>Таким образом, наш активный денежный поток включает три потока. </a:t>
            </a:r>
          </a:p>
        </p:txBody>
      </p:sp>
      <p:sp>
        <p:nvSpPr>
          <p:cNvPr id="33796" name="Номер слайда 3">
            <a:extLst>
              <a:ext uri="{FF2B5EF4-FFF2-40B4-BE49-F238E27FC236}">
                <a16:creationId xmlns:a16="http://schemas.microsoft.com/office/drawing/2014/main" id="{9270D13D-AE71-863E-0070-3E7F4D9B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958296-99A5-43AD-85C0-0371A6E10ABE}" type="slidenum">
              <a:rPr lang="ru-RU" altLang="ru-RU" sz="1200"/>
              <a:pPr/>
              <a:t>8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Эта информация есть в шпаргалке. Можно сверяться.</a:t>
            </a:r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F312157-F235-4330-9807-9EEEB2160E33}" type="slidenum">
              <a:rPr lang="ru-RU" altLang="ru-RU" sz="1200" smtClean="0"/>
              <a:pPr/>
              <a:t>9</a:t>
            </a:fld>
            <a:endParaRPr lang="ru-RU" altLang="ru-RU" sz="1200"/>
          </a:p>
        </p:txBody>
      </p:sp>
    </p:spTree>
    <p:extLst>
      <p:ext uri="{BB962C8B-B14F-4D97-AF65-F5344CB8AC3E}">
        <p14:creationId xmlns:p14="http://schemas.microsoft.com/office/powerpoint/2010/main" val="2556724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>
            <a:extLst>
              <a:ext uri="{FF2B5EF4-FFF2-40B4-BE49-F238E27FC236}">
                <a16:creationId xmlns:a16="http://schemas.microsoft.com/office/drawing/2014/main" id="{5A00E86A-D76C-BF44-6F83-876A133387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>
            <a:extLst>
              <a:ext uri="{FF2B5EF4-FFF2-40B4-BE49-F238E27FC236}">
                <a16:creationId xmlns:a16="http://schemas.microsoft.com/office/drawing/2014/main" id="{1C869FC7-2DDC-3143-EBD1-FF5EBC14B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dirty="0"/>
          </a:p>
        </p:txBody>
      </p:sp>
      <p:sp>
        <p:nvSpPr>
          <p:cNvPr id="34820" name="Номер слайда 3">
            <a:extLst>
              <a:ext uri="{FF2B5EF4-FFF2-40B4-BE49-F238E27FC236}">
                <a16:creationId xmlns:a16="http://schemas.microsoft.com/office/drawing/2014/main" id="{F35D308F-958E-5540-CA81-B519CEBA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AE4563-1DDA-4372-AF8F-2E95E6DDC5EF}" type="slidenum">
              <a:rPr lang="ru-RU" altLang="ru-RU" sz="1200"/>
              <a:pPr/>
              <a:t>10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и следующий слайд - </a:t>
            </a:r>
            <a:r>
              <a:rPr lang="en-US" dirty="0"/>
              <a:t>https://xn--h1adjbc1b9c.xn--p1ai/relevantnye-nerelevantnye-i-nevozvratnye-izderzhki/#:~:text=%D0%A2%D0%B8%D0%BF%D1%8B%20%D1%80%D0%B5%D0%BB%D0%B5%D0%B2%D0%B0%D0%BD%D1%82%D0%BD%D1%8B%D1%85%20%D0%B8%20%D0%BD%D0%B5%D1%80%D0%B5%D0%BB%D0%B5%D0%B2%D0%B0%D0%BD%D1%82%D0%BD%D1%8B%D1%85%20%D0%B7%D0%B0%D1%82%D1%80%D0%B0%D1%82,%D0%BF.</a:t>
            </a:r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32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1FE43-30F0-4DE2-A680-5F267226205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69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40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5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3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5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1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3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20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33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5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31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265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924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283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987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647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45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85800" y="1905000"/>
            <a:ext cx="7772400" cy="41910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12CBD-D610-4E3C-B870-B72EFD657A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178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7772400" cy="201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85800" y="4076700"/>
            <a:ext cx="7772400" cy="201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25EA9-EE51-14F5-83E6-EF2D428C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A7A433-D0D8-0C3B-611E-EB97E134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A1579D-83C3-F34F-60BA-2E8417B1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6C635-92CA-4179-AD63-666A32F5BF9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186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0705A6-F4B8-4371-B45B-9C7C613F55C8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90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avbukh.ru/art/391503-investitsionnye-proekty-vidy-etapy-byudjetirovanie#zag_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avbukh.ru/art/391503-investitsionnye-proekty-vidy-etapy-byudjetirovanie#zag_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7272808" cy="1498178"/>
          </a:xfrm>
        </p:spPr>
        <p:txBody>
          <a:bodyPr>
            <a:noAutofit/>
          </a:bodyPr>
          <a:lstStyle/>
          <a:p>
            <a:r>
              <a:rPr lang="ru-RU" sz="3200" b="1" dirty="0"/>
              <a:t>1.3. Экономическое содержание и виды денежных потоков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3588" y="2636912"/>
            <a:ext cx="7416824" cy="331236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Концепция денежного потока (проекта) или Модель Cash </a:t>
            </a:r>
            <a:r>
              <a:rPr lang="ru-RU" dirty="0" err="1"/>
              <a:t>Flows</a:t>
            </a:r>
            <a:endParaRPr lang="ru-RU" dirty="0"/>
          </a:p>
          <a:p>
            <a:pPr lvl="1"/>
            <a:r>
              <a:rPr lang="ru-RU" dirty="0"/>
              <a:t>Денежные потоки от видов деятельности компании</a:t>
            </a:r>
          </a:p>
          <a:p>
            <a:pPr lvl="1"/>
            <a:r>
              <a:rPr lang="ru-RU" dirty="0"/>
              <a:t>Экономическое содержание и виды (типы) денежных потоков проекта</a:t>
            </a:r>
          </a:p>
          <a:p>
            <a:r>
              <a:rPr lang="ru-RU" dirty="0"/>
              <a:t>Свободный денежный поток (FCF)</a:t>
            </a:r>
          </a:p>
          <a:p>
            <a:r>
              <a:rPr lang="ru-RU" dirty="0"/>
              <a:t>Инкрементальные (приростные) и релевантные денежные потоки</a:t>
            </a:r>
          </a:p>
          <a:p>
            <a:r>
              <a:rPr lang="ru-RU" dirty="0"/>
              <a:t>Влияние инфляции и налогов на денежные потоки; концепция временной стоимости денег (TVM)</a:t>
            </a:r>
          </a:p>
          <a:p>
            <a:r>
              <a:rPr lang="ru-RU" dirty="0"/>
              <a:t>Проблемы учёта денежных потоков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5400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DB3DD-0A82-9C38-9FC3-02E1B937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денежного 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2242B-089C-7D36-1BEA-BDB43D33B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dirty="0"/>
              <a:t>Подходы к понятию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dirty="0"/>
              <a:t>Денежный поток </a:t>
            </a:r>
            <a:r>
              <a:rPr lang="en-US" altLang="ru-RU" dirty="0"/>
              <a:t>(Cash Flow)</a:t>
            </a:r>
            <a:endParaRPr lang="ru-RU" sz="24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dirty="0"/>
              <a:t>Чистый денежный поток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Три вида потоков (деятельности)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Операционные (</a:t>
            </a:r>
            <a:r>
              <a:rPr lang="en-US" dirty="0"/>
              <a:t>OCF)</a:t>
            </a:r>
            <a:r>
              <a:rPr lang="ru-RU" dirty="0"/>
              <a:t>, Инвестиционные</a:t>
            </a:r>
            <a:r>
              <a:rPr lang="en-US" dirty="0"/>
              <a:t> (ICF)</a:t>
            </a:r>
            <a:r>
              <a:rPr lang="ru-RU" dirty="0"/>
              <a:t>, Финансовые </a:t>
            </a:r>
            <a:r>
              <a:rPr lang="en-US" dirty="0"/>
              <a:t>(FCF)</a:t>
            </a:r>
            <a:endParaRPr lang="ru-RU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Начальные, Промежуточные, Терминальные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Планирование и прогнозирование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Дисконтирование денежных потоков (</a:t>
            </a:r>
            <a:r>
              <a:rPr lang="en-US" dirty="0"/>
              <a:t>DCF)</a:t>
            </a:r>
            <a:endParaRPr lang="ru-RU" dirty="0"/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Учет рисковых обстоятельств и других нюансов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5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E392E-F418-6230-74AC-F027732B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C5F7A-2328-4236-205C-A73A744A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836712"/>
            <a:ext cx="7633742" cy="985985"/>
          </a:xfrm>
        </p:spPr>
        <p:txBody>
          <a:bodyPr>
            <a:normAutofit fontScale="90000"/>
          </a:bodyPr>
          <a:lstStyle/>
          <a:p>
            <a:r>
              <a:rPr lang="ru-RU" altLang="ru-RU" sz="4400" dirty="0"/>
              <a:t>Специфика </a:t>
            </a:r>
            <a:r>
              <a:rPr lang="ru-RU" sz="4400" dirty="0"/>
              <a:t>денежного потока (1)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012890-1F29-11DE-197A-BA084417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29" y="2420888"/>
            <a:ext cx="7633742" cy="384940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dirty="0"/>
              <a:t>Бухгалтерский подход или традиционный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результат учёта всех видов деятельности по бухгалтерской стоимости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цель – рост бухгалтерской прибыли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дополнительная информация к прибыли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dirty="0"/>
              <a:t>Финансовый подход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расчётный показатель средств, необходимых для сохранения бизнеса, основанный на рыночной стоимости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цель – рост стоимости фирмы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ru-RU" sz="1800" dirty="0"/>
              <a:t>основа для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138413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E9BD-AAF2-0F8C-8E0F-882B5D0B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33CEB-E5E4-1ED8-712C-71BB01F6F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836712"/>
            <a:ext cx="7633742" cy="985985"/>
          </a:xfrm>
        </p:spPr>
        <p:txBody>
          <a:bodyPr>
            <a:normAutofit/>
          </a:bodyPr>
          <a:lstStyle/>
          <a:p>
            <a:r>
              <a:rPr lang="ru-RU" altLang="ru-RU" dirty="0"/>
              <a:t>Специфика </a:t>
            </a:r>
            <a:r>
              <a:rPr lang="ru-RU" dirty="0"/>
              <a:t>денежного потока (2)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DED37-5471-A27D-2AAE-AE1D3D244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29" y="2420888"/>
            <a:ext cx="7633742" cy="3849402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Выручка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 –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фактические расходы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 = бухгалтерская прибыль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 –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альтернативные издержки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 =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экономическая прибыль (</a:t>
            </a:r>
            <a:r>
              <a:rPr lang="en-US" dirty="0"/>
              <a:t>&gt;</a:t>
            </a:r>
            <a:r>
              <a:rPr lang="ru-RU" dirty="0"/>
              <a:t> или</a:t>
            </a:r>
            <a:r>
              <a:rPr lang="en-US" dirty="0"/>
              <a:t> &lt; </a:t>
            </a:r>
            <a:r>
              <a:rPr lang="ru-RU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52788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424614" cy="1079500"/>
          </a:xfrm>
        </p:spPr>
        <p:txBody>
          <a:bodyPr/>
          <a:lstStyle/>
          <a:p>
            <a:pPr eaLnBrk="1" hangingPunct="1"/>
            <a:r>
              <a:rPr lang="ru-RU" altLang="ru-RU" sz="3000" b="1" dirty="0"/>
              <a:t>Виды денежных потоков предприятия </a:t>
            </a:r>
          </a:p>
        </p:txBody>
      </p:sp>
      <p:sp>
        <p:nvSpPr>
          <p:cNvPr id="11279" name="Номер слайда 1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46EC3BD-2828-48CE-99FE-852DAB8245B1}" type="slidenum">
              <a:rPr lang="ru-RU" altLang="ru-RU" sz="1400" smtClean="0">
                <a:solidFill>
                  <a:schemeClr val="bg1"/>
                </a:solidFill>
              </a:rPr>
              <a:pPr/>
              <a:t>5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539552" y="2278063"/>
            <a:ext cx="2764036" cy="1662112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dirty="0"/>
              <a:t>Инвестиционная деятельность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 dirty="0"/>
              <a:t>Баланс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 dirty="0"/>
              <a:t>(активы ф.1)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339975" y="5373688"/>
            <a:ext cx="4114800" cy="466725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>
                <a:solidFill>
                  <a:srgbClr val="00B0F0"/>
                </a:solidFill>
              </a:rPr>
              <a:t>Операционная деятельность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5499100" y="2278063"/>
            <a:ext cx="3048000" cy="1662112"/>
          </a:xfrm>
          <a:prstGeom prst="rect">
            <a:avLst/>
          </a:prstGeom>
          <a:solidFill>
            <a:srgbClr val="C8E6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Финансовая деятельность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Баланс </a:t>
            </a:r>
          </a:p>
          <a:p>
            <a:pPr algn="r" eaLnBrk="1" hangingPunct="1">
              <a:spcBef>
                <a:spcPct val="50000"/>
              </a:spcBef>
            </a:pPr>
            <a:r>
              <a:rPr lang="ru-RU" altLang="ru-RU" sz="1800" b="1"/>
              <a:t>(пассивы ф.1)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 flipH="1" flipV="1">
            <a:off x="2122488" y="3931115"/>
            <a:ext cx="122555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3289300" y="3128963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 flipV="1">
            <a:off x="5795963" y="3933825"/>
            <a:ext cx="1008062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2762881" y="5944529"/>
            <a:ext cx="3200400" cy="4572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ru-RU" i="1" dirty="0"/>
              <a:t>Прибыль (ф.2)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684213" y="1773238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i="1"/>
              <a:t>Активы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5651500" y="1773238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i="1"/>
              <a:t>Капитал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6877050" y="4294188"/>
            <a:ext cx="1439863" cy="9239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ru-RU" sz="1800" dirty="0"/>
              <a:t>3.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ru-RU" sz="1800" dirty="0"/>
              <a:t>Финансовые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sz="1800" dirty="0"/>
              <a:t>FCF</a:t>
            </a:r>
            <a:endParaRPr lang="ru-RU" sz="1800" dirty="0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53646" y="4583797"/>
            <a:ext cx="1877231" cy="64633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ru-RU" sz="1800" dirty="0"/>
              <a:t>1. Операционные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sz="1800" dirty="0"/>
              <a:t>OCF</a:t>
            </a:r>
            <a:endParaRPr lang="ru-RU" sz="1800" dirty="0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419475" y="1557338"/>
            <a:ext cx="2008188" cy="92392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ru-RU" sz="1800" dirty="0"/>
              <a:t>2.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ru-RU" sz="1800" dirty="0"/>
              <a:t>Инвестиционные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sz="1800" dirty="0"/>
              <a:t>ICF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6323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1" grpId="0" animBg="1"/>
      <p:bldP spid="4102" grpId="0" animBg="1"/>
      <p:bldP spid="4103" grpId="0" animBg="1"/>
      <p:bldP spid="4104" grpId="0" animBg="1"/>
      <p:bldP spid="4105" grpId="0" animBg="1"/>
      <p:bldP spid="4106" grpId="0" animBg="1"/>
      <p:bldP spid="4107" grpId="0" animBg="1"/>
      <p:bldP spid="4108" grpId="0"/>
      <p:bldP spid="4109" grpId="0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 descr="Large confetti">
            <a:extLst>
              <a:ext uri="{FF2B5EF4-FFF2-40B4-BE49-F238E27FC236}">
                <a16:creationId xmlns:a16="http://schemas.microsoft.com/office/drawing/2014/main" id="{3405699D-E0CD-8987-3D75-F7D0DCFA7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Активные денежные потоки (1)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BE20B5D-26A6-564D-1523-338A94E86D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6508" y="1268760"/>
            <a:ext cx="6987900" cy="2520280"/>
          </a:xfrm>
        </p:spPr>
        <p:txBody>
          <a:bodyPr>
            <a:noAutofit/>
          </a:bodyPr>
          <a:lstStyle/>
          <a:p>
            <a:pPr marL="385763" indent="-385763"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ru-RU" altLang="ru-RU" sz="2000" dirty="0"/>
              <a:t>Операционный денежный поток </a:t>
            </a:r>
            <a:r>
              <a:rPr lang="en-US" altLang="ru-RU" sz="2000" dirty="0"/>
              <a:t>(OCF)</a:t>
            </a:r>
            <a:endParaRPr lang="ru-RU" altLang="ru-RU" sz="2000" dirty="0"/>
          </a:p>
          <a:p>
            <a:pPr lvl="1" eaLnBrk="1" hangingPunct="1">
              <a:spcAft>
                <a:spcPts val="0"/>
              </a:spcAft>
            </a:pPr>
            <a:r>
              <a:rPr lang="en-US" altLang="ru-RU" sz="1800" dirty="0"/>
              <a:t>EBIT – Earning Before Interest &amp;Taxes </a:t>
            </a:r>
            <a:endParaRPr lang="ru-RU" altLang="ru-RU" sz="1800" dirty="0"/>
          </a:p>
          <a:p>
            <a:pPr lvl="2">
              <a:spcAft>
                <a:spcPts val="0"/>
              </a:spcAft>
            </a:pPr>
            <a:r>
              <a:rPr lang="ru-RU" altLang="ru-RU" dirty="0"/>
              <a:t>Прибыль до выплаты процентов и налогов</a:t>
            </a:r>
            <a:endParaRPr lang="en-US" altLang="ru-RU" dirty="0"/>
          </a:p>
          <a:p>
            <a:pPr lvl="1" eaLnBrk="1" hangingPunct="1">
              <a:spcAft>
                <a:spcPts val="0"/>
              </a:spcAft>
            </a:pPr>
            <a:r>
              <a:rPr lang="en-US" altLang="ru-RU" sz="1800" dirty="0"/>
              <a:t>DA</a:t>
            </a:r>
            <a:endParaRPr lang="ru-RU" altLang="ru-RU" sz="1800" dirty="0"/>
          </a:p>
          <a:p>
            <a:pPr lvl="2">
              <a:spcAft>
                <a:spcPts val="0"/>
              </a:spcAft>
            </a:pPr>
            <a:r>
              <a:rPr lang="ru-RU" altLang="ru-RU" dirty="0"/>
              <a:t>амортизация</a:t>
            </a:r>
          </a:p>
          <a:p>
            <a:pPr lvl="1" eaLnBrk="1" hangingPunct="1">
              <a:spcAft>
                <a:spcPts val="0"/>
              </a:spcAft>
            </a:pPr>
            <a:r>
              <a:rPr lang="en-US" altLang="ru-RU" sz="1800" dirty="0"/>
              <a:t>Tax (T)</a:t>
            </a:r>
            <a:endParaRPr lang="ru-RU" altLang="ru-RU" sz="1800" dirty="0"/>
          </a:p>
          <a:p>
            <a:pPr lvl="2">
              <a:spcAft>
                <a:spcPts val="0"/>
              </a:spcAft>
            </a:pPr>
            <a:r>
              <a:rPr lang="ru-RU" altLang="ru-RU" dirty="0">
                <a:solidFill>
                  <a:schemeClr val="tx1"/>
                </a:solidFill>
              </a:rPr>
              <a:t>налоги</a:t>
            </a:r>
            <a:endParaRPr lang="en-US" altLang="ru-RU" dirty="0">
              <a:solidFill>
                <a:schemeClr val="tx1"/>
              </a:solidFill>
            </a:endParaRP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DD52A268-ADD9-07F8-4DB1-BBC5DAE3212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70521" y="4554244"/>
          <a:ext cx="4602956" cy="570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434477" imgH="177723" progId="Equation.3">
                  <p:embed/>
                </p:oleObj>
              </mc:Choice>
              <mc:Fallback>
                <p:oleObj name="Формула" r:id="rId3" imgW="1434477" imgH="177723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DD52A268-ADD9-07F8-4DB1-BBC5DAE3212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521" y="4554244"/>
                        <a:ext cx="4602956" cy="57031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>
            <a:extLst>
              <a:ext uri="{FF2B5EF4-FFF2-40B4-BE49-F238E27FC236}">
                <a16:creationId xmlns:a16="http://schemas.microsoft.com/office/drawing/2014/main" id="{6CD0F5C6-BCB9-4FBE-F9DC-A57C27864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665" y="3898976"/>
            <a:ext cx="2476500" cy="3693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1800" b="1"/>
              <a:t>EBITDA = EBIT + DA</a:t>
            </a:r>
            <a:endParaRPr lang="ru-RU" altLang="ru-RU" sz="1800" b="1"/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7A75C31B-83A2-9FCF-64C7-BE3EAF08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4" y="5330209"/>
            <a:ext cx="2665809" cy="5770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ru-RU" sz="1800" b="1" dirty="0"/>
              <a:t>NOPAT = EBIT – T</a:t>
            </a:r>
            <a:endParaRPr lang="ru-RU" altLang="ru-RU" sz="1800" b="1" dirty="0"/>
          </a:p>
          <a:p>
            <a:pPr eaLnBrk="1" hangingPunct="1"/>
            <a:r>
              <a:rPr lang="en-US" altLang="ru-RU" sz="1350" dirty="0">
                <a:solidFill>
                  <a:srgbClr val="404040"/>
                </a:solidFill>
                <a:latin typeface="Trebuchet MS" panose="020B0603020202020204" pitchFamily="34" charset="0"/>
              </a:rPr>
              <a:t>Net Operating Profit After Taxes</a:t>
            </a:r>
            <a:endParaRPr lang="ru-RU" altLang="ru-RU" sz="1800" b="1" dirty="0"/>
          </a:p>
        </p:txBody>
      </p:sp>
      <p:sp>
        <p:nvSpPr>
          <p:cNvPr id="13319" name="Номер слайда 12">
            <a:extLst>
              <a:ext uri="{FF2B5EF4-FFF2-40B4-BE49-F238E27FC236}">
                <a16:creationId xmlns:a16="http://schemas.microsoft.com/office/drawing/2014/main" id="{FDE67CDE-23D2-DA08-1173-321209BE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DC3933-7172-4C2A-8E47-1B1F034385A8}" type="slidenum">
              <a:rPr lang="ru-RU" altLang="ru-RU" sz="1050">
                <a:solidFill>
                  <a:schemeClr val="bg1"/>
                </a:solidFill>
              </a:rPr>
              <a:pPr/>
              <a:t>6</a:t>
            </a:fld>
            <a:endParaRPr lang="ru-RU" altLang="ru-RU" sz="105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 build="p"/>
      <p:bldP spid="33797" grpId="0" animBg="1"/>
      <p:bldP spid="338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 descr="Large confetti">
            <a:extLst>
              <a:ext uri="{FF2B5EF4-FFF2-40B4-BE49-F238E27FC236}">
                <a16:creationId xmlns:a16="http://schemas.microsoft.com/office/drawing/2014/main" id="{C05B8B11-7D6B-02CD-C6D6-D099054B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323" y="836712"/>
            <a:ext cx="5823768" cy="930788"/>
          </a:xfrm>
        </p:spPr>
        <p:txBody>
          <a:bodyPr>
            <a:noAutofit/>
          </a:bodyPr>
          <a:lstStyle/>
          <a:p>
            <a:pPr algn="r" eaLnBrk="1" hangingPunct="1"/>
            <a:r>
              <a:rPr lang="ru-RU" altLang="ru-RU" sz="3600" b="1" dirty="0"/>
              <a:t>Активные денежные потоки (2</a:t>
            </a:r>
            <a:r>
              <a:rPr lang="en-US" altLang="ru-RU" sz="3600" b="1" dirty="0"/>
              <a:t>, 3</a:t>
            </a:r>
            <a:r>
              <a:rPr lang="ru-RU" altLang="ru-RU" sz="3600" b="1" dirty="0"/>
              <a:t>)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F4B4B6E8-4CAF-75D2-78B9-53B1D2D45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460889"/>
            <a:ext cx="7632848" cy="3779044"/>
          </a:xfrm>
        </p:spPr>
        <p:txBody>
          <a:bodyPr>
            <a:normAutofit fontScale="92500" lnSpcReduction="20000"/>
          </a:bodyPr>
          <a:lstStyle/>
          <a:p>
            <a:pPr marL="385763" indent="-385763">
              <a:spcBef>
                <a:spcPts val="450"/>
              </a:spcBef>
              <a:buNone/>
              <a:defRPr/>
            </a:pPr>
            <a:r>
              <a:rPr lang="en-US" sz="1800" dirty="0"/>
              <a:t>2. </a:t>
            </a:r>
            <a:r>
              <a:rPr lang="ru-RU" sz="1800" dirty="0"/>
              <a:t>Инвестиционный денежный поток (</a:t>
            </a:r>
            <a:r>
              <a:rPr lang="en-US" sz="1800" dirty="0"/>
              <a:t>ICF)</a:t>
            </a:r>
            <a:endParaRPr lang="ru-RU" sz="1800" dirty="0"/>
          </a:p>
          <a:p>
            <a:pPr marL="728663" lvl="1" indent="-385763">
              <a:spcBef>
                <a:spcPts val="450"/>
              </a:spcBef>
              <a:defRPr/>
            </a:pPr>
            <a:r>
              <a:rPr lang="en-US" sz="1500" dirty="0"/>
              <a:t>(FA2 – FA1) + DA</a:t>
            </a:r>
            <a:r>
              <a:rPr lang="ru-RU" sz="1500" dirty="0"/>
              <a:t> = ∆</a:t>
            </a:r>
            <a:r>
              <a:rPr lang="en-US" sz="1500" dirty="0"/>
              <a:t>FA + DA</a:t>
            </a:r>
            <a:endParaRPr lang="ru-RU" sz="1500" dirty="0"/>
          </a:p>
          <a:p>
            <a:pPr marL="1028700" lvl="2" indent="-385763">
              <a:spcBef>
                <a:spcPts val="450"/>
              </a:spcBef>
              <a:defRPr/>
            </a:pPr>
            <a:r>
              <a:rPr lang="en-US" sz="1350" dirty="0"/>
              <a:t>FA – </a:t>
            </a:r>
            <a:r>
              <a:rPr lang="ru-RU" sz="1350" dirty="0"/>
              <a:t>основные средства</a:t>
            </a:r>
            <a:endParaRPr lang="en-US" sz="1350" dirty="0"/>
          </a:p>
          <a:p>
            <a:pPr marL="1028700" lvl="2" indent="-385763">
              <a:spcBef>
                <a:spcPts val="450"/>
              </a:spcBef>
              <a:defRPr/>
            </a:pPr>
            <a:r>
              <a:rPr lang="en-US" sz="1350" dirty="0"/>
              <a:t>DA – </a:t>
            </a:r>
            <a:r>
              <a:rPr lang="ru-RU" sz="1350" dirty="0"/>
              <a:t>амортизация и износ</a:t>
            </a:r>
          </a:p>
          <a:p>
            <a:pPr marL="385763" indent="-385763">
              <a:spcBef>
                <a:spcPts val="450"/>
              </a:spcBef>
              <a:buNone/>
              <a:defRPr/>
            </a:pPr>
            <a:r>
              <a:rPr lang="en-US" sz="1800" dirty="0"/>
              <a:t>3. </a:t>
            </a:r>
            <a:r>
              <a:rPr lang="ru-RU" sz="1800" dirty="0"/>
              <a:t>Изменение чистого оборотного капитала </a:t>
            </a:r>
            <a:r>
              <a:rPr lang="en-US" sz="1800" dirty="0"/>
              <a:t>(∆NWC - net working capital)</a:t>
            </a:r>
          </a:p>
          <a:p>
            <a:pPr marL="728663" lvl="1" indent="-385763">
              <a:spcBef>
                <a:spcPts val="450"/>
              </a:spcBef>
              <a:defRPr/>
            </a:pPr>
            <a:r>
              <a:rPr lang="en-US" sz="1500" dirty="0"/>
              <a:t>NWC2 – NWC1, </a:t>
            </a:r>
            <a:r>
              <a:rPr lang="ru-RU" sz="1500" dirty="0"/>
              <a:t>где </a:t>
            </a:r>
            <a:r>
              <a:rPr lang="en-US" sz="1500" dirty="0"/>
              <a:t>NWC</a:t>
            </a:r>
            <a:r>
              <a:rPr lang="ru-RU" sz="1500" dirty="0"/>
              <a:t> = </a:t>
            </a:r>
            <a:r>
              <a:rPr lang="en-US" sz="1500" dirty="0"/>
              <a:t>OA – CL</a:t>
            </a:r>
          </a:p>
          <a:p>
            <a:pPr marL="934403" lvl="2" indent="-385763">
              <a:spcBef>
                <a:spcPts val="450"/>
              </a:spcBef>
              <a:defRPr/>
            </a:pPr>
            <a:r>
              <a:rPr lang="en-US" dirty="0"/>
              <a:t>OA – </a:t>
            </a:r>
            <a:r>
              <a:rPr lang="ru-RU" dirty="0"/>
              <a:t>оборотные активы</a:t>
            </a:r>
            <a:endParaRPr lang="en-US" dirty="0"/>
          </a:p>
          <a:p>
            <a:pPr marL="934403" lvl="2" indent="-385763">
              <a:spcBef>
                <a:spcPts val="450"/>
              </a:spcBef>
              <a:defRPr/>
            </a:pPr>
            <a:r>
              <a:rPr lang="en-US" dirty="0"/>
              <a:t>CL – </a:t>
            </a:r>
            <a:r>
              <a:rPr lang="ru-RU" dirty="0"/>
              <a:t>текущие обязательства</a:t>
            </a:r>
            <a:endParaRPr lang="en-US" dirty="0"/>
          </a:p>
          <a:p>
            <a:pPr marL="42863" indent="0" algn="ctr">
              <a:spcBef>
                <a:spcPts val="450"/>
              </a:spcBef>
              <a:buNone/>
              <a:defRPr/>
            </a:pPr>
            <a:endParaRPr lang="en-US" sz="1800" dirty="0"/>
          </a:p>
          <a:p>
            <a:pPr marL="42863" indent="0" algn="ctr">
              <a:spcBef>
                <a:spcPts val="450"/>
              </a:spcBef>
              <a:buNone/>
              <a:defRPr/>
            </a:pPr>
            <a:r>
              <a:rPr lang="en-US" sz="1800" dirty="0"/>
              <a:t>ICF + ∆NWC = </a:t>
            </a:r>
            <a:r>
              <a:rPr lang="en-US" sz="1800" dirty="0" err="1"/>
              <a:t>CapEx</a:t>
            </a:r>
            <a:r>
              <a:rPr lang="en-US" sz="1800" dirty="0"/>
              <a:t> (Capital Expenditure)</a:t>
            </a:r>
            <a:r>
              <a:rPr lang="ru-RU" sz="1800" dirty="0"/>
              <a:t> </a:t>
            </a:r>
            <a:r>
              <a:rPr lang="ru-RU" dirty="0"/>
              <a:t>Термин введен </a:t>
            </a:r>
            <a:r>
              <a:rPr lang="ru-RU" dirty="0" err="1"/>
              <a:t>Асватом</a:t>
            </a:r>
            <a:r>
              <a:rPr lang="ru-RU" dirty="0"/>
              <a:t> </a:t>
            </a:r>
            <a:r>
              <a:rPr lang="ru-RU" dirty="0" err="1"/>
              <a:t>Дамодараном</a:t>
            </a:r>
            <a:r>
              <a:rPr lang="ru-RU" dirty="0"/>
              <a:t> (</a:t>
            </a:r>
            <a:r>
              <a:rPr lang="en-US" dirty="0" err="1"/>
              <a:t>Aswath</a:t>
            </a:r>
            <a:r>
              <a:rPr lang="en-US" dirty="0"/>
              <a:t> </a:t>
            </a:r>
            <a:r>
              <a:rPr lang="en-US" dirty="0" err="1"/>
              <a:t>Damodaran</a:t>
            </a:r>
            <a:r>
              <a:rPr lang="ru-RU" dirty="0"/>
              <a:t>)</a:t>
            </a:r>
          </a:p>
        </p:txBody>
      </p:sp>
      <p:sp>
        <p:nvSpPr>
          <p:cNvPr id="14340" name="Номер слайда 3">
            <a:extLst>
              <a:ext uri="{FF2B5EF4-FFF2-40B4-BE49-F238E27FC236}">
                <a16:creationId xmlns:a16="http://schemas.microsoft.com/office/drawing/2014/main" id="{810F5F5F-C1B8-A37D-E787-DC19DB45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1872DA-6175-481E-B98F-CC5C6B114A3A}" type="slidenum">
              <a:rPr lang="ru-RU" altLang="ru-RU" sz="1050">
                <a:solidFill>
                  <a:schemeClr val="bg1"/>
                </a:solidFill>
              </a:rPr>
              <a:pPr/>
              <a:t>7</a:t>
            </a:fld>
            <a:endParaRPr lang="ru-RU" altLang="ru-RU" sz="105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Номер слайда 3">
            <a:extLst>
              <a:ext uri="{FF2B5EF4-FFF2-40B4-BE49-F238E27FC236}">
                <a16:creationId xmlns:a16="http://schemas.microsoft.com/office/drawing/2014/main" id="{DC9DA8D1-BDBA-0EEB-61BD-FC3D62F8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1D688B-753A-427E-9590-E087E52016A6}" type="slidenum">
              <a:rPr lang="ru-RU" altLang="ru-RU" sz="1050">
                <a:solidFill>
                  <a:schemeClr val="bg1"/>
                </a:solidFill>
              </a:rPr>
              <a:pPr/>
              <a:t>8</a:t>
            </a:fld>
            <a:endParaRPr lang="ru-RU" altLang="ru-RU" sz="1050">
              <a:solidFill>
                <a:schemeClr val="bg1"/>
              </a:solidFill>
            </a:endParaRPr>
          </a:p>
        </p:txBody>
      </p:sp>
      <p:sp>
        <p:nvSpPr>
          <p:cNvPr id="25603" name="Заголовок 1">
            <a:extLst>
              <a:ext uri="{FF2B5EF4-FFF2-40B4-BE49-F238E27FC236}">
                <a16:creationId xmlns:a16="http://schemas.microsoft.com/office/drawing/2014/main" id="{98B72299-D495-6CCA-7896-361FA4CE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3" y="1267080"/>
            <a:ext cx="7200800" cy="522326"/>
          </a:xfrm>
        </p:spPr>
        <p:txBody>
          <a:bodyPr>
            <a:noAutofit/>
          </a:bodyPr>
          <a:lstStyle/>
          <a:p>
            <a:r>
              <a:rPr lang="ru-RU" altLang="ru-RU" sz="3200" b="1" dirty="0"/>
              <a:t>Пассивные денежные потоки (4, 5)</a:t>
            </a:r>
            <a:endParaRPr lang="ru-RU" altLang="ru-RU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AC9CC0-455F-B91A-4AB4-C17A3A1C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564904"/>
            <a:ext cx="7632848" cy="3503031"/>
          </a:xfrm>
        </p:spPr>
        <p:txBody>
          <a:bodyPr>
            <a:noAutofit/>
          </a:bodyPr>
          <a:lstStyle/>
          <a:p>
            <a:pPr marL="385763" indent="-385763">
              <a:spcBef>
                <a:spcPts val="450"/>
              </a:spcBef>
              <a:spcAft>
                <a:spcPts val="0"/>
              </a:spcAft>
              <a:buNone/>
              <a:defRPr/>
            </a:pPr>
            <a:r>
              <a:rPr lang="ru-RU" sz="2000" dirty="0"/>
              <a:t>4</a:t>
            </a:r>
            <a:r>
              <a:rPr lang="en-US" sz="2000" dirty="0"/>
              <a:t>. </a:t>
            </a:r>
            <a:r>
              <a:rPr lang="ru-RU" sz="2000" dirty="0"/>
              <a:t>Денежный поток кредиторам </a:t>
            </a:r>
            <a:r>
              <a:rPr lang="en-US" sz="2000" dirty="0"/>
              <a:t>(CF</a:t>
            </a:r>
            <a:r>
              <a:rPr lang="en-US" sz="1000" dirty="0"/>
              <a:t>D</a:t>
            </a:r>
            <a:r>
              <a:rPr lang="en-US" sz="2000" dirty="0"/>
              <a:t>)</a:t>
            </a:r>
          </a:p>
          <a:p>
            <a:pPr marL="728663" lvl="1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800" dirty="0"/>
              <a:t>I – (D2 – D1</a:t>
            </a:r>
            <a:r>
              <a:rPr lang="en-US" sz="1600" dirty="0"/>
              <a:t>)</a:t>
            </a:r>
            <a:endParaRPr lang="ru-RU" sz="1600" dirty="0"/>
          </a:p>
          <a:p>
            <a:pPr marL="934403" lvl="2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600" dirty="0"/>
              <a:t>I – </a:t>
            </a:r>
            <a:r>
              <a:rPr lang="ru-RU" sz="1600" dirty="0"/>
              <a:t>процент за долгосрочный кредит</a:t>
            </a:r>
            <a:endParaRPr lang="en-US" sz="1600" dirty="0"/>
          </a:p>
          <a:p>
            <a:pPr marL="934403" lvl="2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600" dirty="0"/>
              <a:t>D – </a:t>
            </a:r>
            <a:r>
              <a:rPr lang="ru-RU" sz="1600" dirty="0"/>
              <a:t>долгосрочные кредиты</a:t>
            </a:r>
            <a:endParaRPr lang="en-US" sz="1600" dirty="0"/>
          </a:p>
          <a:p>
            <a:pPr marL="385763" indent="-385763">
              <a:spcBef>
                <a:spcPts val="450"/>
              </a:spcBef>
              <a:spcAft>
                <a:spcPts val="0"/>
              </a:spcAft>
              <a:buNone/>
              <a:defRPr/>
            </a:pPr>
            <a:r>
              <a:rPr lang="ru-RU" sz="2000" dirty="0"/>
              <a:t>5</a:t>
            </a:r>
            <a:r>
              <a:rPr lang="en-US" sz="2000" dirty="0"/>
              <a:t>.</a:t>
            </a:r>
            <a:r>
              <a:rPr lang="ru-RU" sz="2000" dirty="0"/>
              <a:t> Денежный поток владельцам (</a:t>
            </a:r>
            <a:r>
              <a:rPr lang="en-US" sz="2000" dirty="0"/>
              <a:t>CF</a:t>
            </a:r>
            <a:r>
              <a:rPr lang="en-US" sz="1000" dirty="0"/>
              <a:t>E</a:t>
            </a:r>
            <a:r>
              <a:rPr lang="en-US" sz="2000" dirty="0"/>
              <a:t>)</a:t>
            </a:r>
            <a:endParaRPr lang="ru-RU" sz="2000" dirty="0"/>
          </a:p>
          <a:p>
            <a:pPr marL="728663" lvl="1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800" dirty="0"/>
              <a:t>div - (E2 – E1)</a:t>
            </a:r>
            <a:endParaRPr lang="ru-RU" sz="1800" dirty="0"/>
          </a:p>
          <a:p>
            <a:pPr marL="934403" lvl="2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600" dirty="0"/>
              <a:t>div – </a:t>
            </a:r>
            <a:r>
              <a:rPr lang="ru-RU" sz="1600" dirty="0"/>
              <a:t>дивиденды</a:t>
            </a:r>
            <a:endParaRPr lang="en-US" sz="1600" dirty="0"/>
          </a:p>
          <a:p>
            <a:pPr marL="934403" lvl="2" indent="-385763">
              <a:spcBef>
                <a:spcPts val="450"/>
              </a:spcBef>
              <a:spcAft>
                <a:spcPts val="0"/>
              </a:spcAft>
              <a:defRPr/>
            </a:pPr>
            <a:r>
              <a:rPr lang="en-US" sz="1600" dirty="0"/>
              <a:t>E –</a:t>
            </a:r>
            <a:r>
              <a:rPr lang="ru-RU" sz="1600" dirty="0"/>
              <a:t> собственный капитал</a:t>
            </a:r>
          </a:p>
          <a:p>
            <a:pPr marL="385763" indent="-385763">
              <a:spcBef>
                <a:spcPts val="450"/>
              </a:spcBef>
              <a:spcAft>
                <a:spcPts val="0"/>
              </a:spcAft>
              <a:buNone/>
              <a:defRPr/>
            </a:pPr>
            <a:r>
              <a:rPr lang="en-US" sz="2000" dirty="0"/>
              <a:t> </a:t>
            </a:r>
            <a:r>
              <a:rPr lang="en-US" sz="2000" b="1" dirty="0">
                <a:solidFill>
                  <a:srgbClr val="FF9900"/>
                </a:solidFill>
              </a:rPr>
              <a:t>CF</a:t>
            </a:r>
            <a:r>
              <a:rPr lang="en-US" sz="1050" b="1" dirty="0">
                <a:solidFill>
                  <a:srgbClr val="FF9900"/>
                </a:solidFill>
              </a:rPr>
              <a:t>A</a:t>
            </a:r>
            <a:r>
              <a:rPr lang="en-US" sz="2000" b="1" dirty="0">
                <a:solidFill>
                  <a:srgbClr val="FF9900"/>
                </a:solidFill>
              </a:rPr>
              <a:t> </a:t>
            </a:r>
            <a:r>
              <a:rPr lang="ru-RU" sz="2000" b="1" dirty="0">
                <a:solidFill>
                  <a:srgbClr val="FF9900"/>
                </a:solidFill>
              </a:rPr>
              <a:t>(</a:t>
            </a:r>
            <a:r>
              <a:rPr lang="en-US" sz="2000" b="1" dirty="0">
                <a:solidFill>
                  <a:srgbClr val="FF9900"/>
                </a:solidFill>
              </a:rPr>
              <a:t>FCF</a:t>
            </a:r>
            <a:r>
              <a:rPr lang="ru-RU" sz="2000" b="1" dirty="0">
                <a:solidFill>
                  <a:srgbClr val="FF9900"/>
                </a:solidFill>
              </a:rPr>
              <a:t>) </a:t>
            </a:r>
            <a:r>
              <a:rPr lang="en-US" sz="2000" b="1" dirty="0"/>
              <a:t>= OCF –</a:t>
            </a:r>
            <a:r>
              <a:rPr lang="ru-RU" sz="2000" b="1" dirty="0"/>
              <a:t> </a:t>
            </a:r>
            <a:r>
              <a:rPr lang="en-US" sz="2000" b="1" dirty="0"/>
              <a:t>ICF </a:t>
            </a:r>
            <a:r>
              <a:rPr lang="ru-RU" sz="2000" b="1" dirty="0"/>
              <a:t>-</a:t>
            </a:r>
            <a:r>
              <a:rPr lang="en-US" sz="2000" b="1" dirty="0"/>
              <a:t> ∆NWC</a:t>
            </a:r>
          </a:p>
          <a:p>
            <a:pPr marL="428625" indent="-385763" algn="ctr">
              <a:spcBef>
                <a:spcPts val="450"/>
              </a:spcBef>
              <a:spcAft>
                <a:spcPts val="0"/>
              </a:spcAft>
              <a:buNone/>
              <a:defRPr/>
            </a:pPr>
            <a:r>
              <a:rPr lang="en-US" sz="2000" b="1" dirty="0"/>
              <a:t>OCF – </a:t>
            </a:r>
            <a:r>
              <a:rPr lang="en-US" sz="2000" b="1" dirty="0" err="1"/>
              <a:t>CapEx</a:t>
            </a:r>
            <a:r>
              <a:rPr lang="en-US" sz="2000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≈</a:t>
            </a:r>
            <a:r>
              <a:rPr lang="en-US" sz="2000" b="1" dirty="0"/>
              <a:t> CF</a:t>
            </a:r>
            <a:r>
              <a:rPr lang="en-US" sz="1000" b="1" dirty="0"/>
              <a:t>E</a:t>
            </a:r>
            <a:r>
              <a:rPr lang="en-US" sz="2000" b="1" dirty="0"/>
              <a:t> + CF</a:t>
            </a:r>
            <a:r>
              <a:rPr lang="en-US" sz="1000" b="1" dirty="0"/>
              <a:t>D</a:t>
            </a:r>
            <a:endParaRPr lang="en-US" sz="2000" b="1" dirty="0"/>
          </a:p>
          <a:p>
            <a:pPr>
              <a:spcBef>
                <a:spcPts val="450"/>
              </a:spcBef>
              <a:spcAft>
                <a:spcPts val="0"/>
              </a:spcAft>
              <a:defRPr/>
            </a:pP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7544" y="540989"/>
            <a:ext cx="8064896" cy="598835"/>
          </a:xfrm>
        </p:spPr>
        <p:txBody>
          <a:bodyPr>
            <a:noAutofit/>
          </a:bodyPr>
          <a:lstStyle/>
          <a:p>
            <a:r>
              <a:rPr lang="ru-RU" altLang="ru-RU" sz="2400" b="1" dirty="0">
                <a:solidFill>
                  <a:srgbClr val="92D050"/>
                </a:solidFill>
                <a:cs typeface="Times New Roman" pitchFamily="18" charset="0"/>
              </a:rPr>
              <a:t>Классификация денежных потоков предприятия (</a:t>
            </a:r>
            <a:r>
              <a:rPr lang="en-US" altLang="ru-RU" sz="2400" b="1" dirty="0">
                <a:solidFill>
                  <a:srgbClr val="92D050"/>
                </a:solidFill>
                <a:cs typeface="Times New Roman" pitchFamily="18" charset="0"/>
              </a:rPr>
              <a:t>CFs</a:t>
            </a:r>
            <a:r>
              <a:rPr lang="ru-RU" altLang="ru-RU" sz="2400" b="1" dirty="0">
                <a:solidFill>
                  <a:srgbClr val="92D050"/>
                </a:solidFill>
                <a:cs typeface="Times New Roman" pitchFamily="18" charset="0"/>
              </a:rPr>
              <a:t>)</a:t>
            </a:r>
            <a:r>
              <a:rPr lang="en-US" altLang="ru-RU" sz="2400" b="1" dirty="0">
                <a:solidFill>
                  <a:srgbClr val="92D050"/>
                </a:solidFill>
                <a:cs typeface="Times New Roman" pitchFamily="18" charset="0"/>
              </a:rPr>
              <a:t> </a:t>
            </a:r>
            <a:endParaRPr lang="ru-RU" altLang="ru-RU" sz="2400" b="1" dirty="0">
              <a:solidFill>
                <a:srgbClr val="92D050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7206" name="Group 3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19128522"/>
              </p:ext>
            </p:extLst>
          </p:nvPr>
        </p:nvGraphicFramePr>
        <p:xfrm>
          <a:off x="925983" y="1678878"/>
          <a:ext cx="7148017" cy="4561055"/>
        </p:xfrm>
        <a:graphic>
          <a:graphicData uri="http://schemas.openxmlformats.org/drawingml/2006/table">
            <a:tbl>
              <a:tblPr/>
              <a:tblGrid>
                <a:gridCol w="38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0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Денежный поток от активов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2000" dirty="0"/>
                        <a:t>CF</a:t>
                      </a:r>
                      <a:r>
                        <a:rPr lang="en-US" sz="1050" dirty="0"/>
                        <a:t>A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 FCF)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Денежны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й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поток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от пассивов </a:t>
                      </a: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</a:t>
                      </a:r>
                      <a:r>
                        <a:rPr lang="en-US" sz="2000" dirty="0"/>
                        <a:t>OCF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Минус</a:t>
                      </a: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</a:t>
                      </a:r>
                      <a:r>
                        <a:rPr lang="en-US" sz="2000" dirty="0"/>
                        <a:t>CF</a:t>
                      </a:r>
                      <a:r>
                        <a:rPr lang="en-US" sz="1050" dirty="0"/>
                        <a:t>D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 - debt</a:t>
                      </a:r>
                      <a:endParaRPr lang="ru-RU" sz="2000" dirty="0"/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r>
                        <a:rPr lang="en-US" sz="2000" dirty="0"/>
                        <a:t>ICF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плюс</a:t>
                      </a: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9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ru-RU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Минус</a:t>
                      </a:r>
                      <a:endParaRPr kumimoji="0" lang="ru-RU" sz="2000" b="0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3. </a:t>
                      </a:r>
                      <a:r>
                        <a:rPr lang="en-US" sz="2000" dirty="0"/>
                        <a:t>∆NWC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5. </a:t>
                      </a:r>
                      <a:r>
                        <a:rPr lang="en-US" sz="2000" dirty="0"/>
                        <a:t>CF</a:t>
                      </a:r>
                      <a:r>
                        <a:rPr lang="en-US" sz="1050" dirty="0"/>
                        <a:t>E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lang="en-US" sz="2000" dirty="0"/>
                        <a:t>E </a:t>
                      </a:r>
                      <a:r>
                        <a:rPr lang="ru-RU" sz="2000" dirty="0"/>
                        <a:t>– </a:t>
                      </a:r>
                      <a:r>
                        <a:rPr lang="en-US" sz="2000" dirty="0"/>
                        <a:t>equity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1441" marR="91441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57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E42032-9B5B-4BF9-B012-E3F2C90D9698}" type="slidenum">
              <a:rPr lang="ru-RU" altLang="ru-RU" sz="1400" smtClean="0">
                <a:solidFill>
                  <a:schemeClr val="bg1"/>
                </a:solidFill>
              </a:rPr>
              <a:pPr/>
              <a:t>9</a:t>
            </a:fld>
            <a:endParaRPr lang="ru-RU" altLang="ru-RU" sz="1400">
              <a:solidFill>
                <a:schemeClr val="bg1"/>
              </a:solidFill>
            </a:endParaRPr>
          </a:p>
        </p:txBody>
      </p:sp>
      <p:sp>
        <p:nvSpPr>
          <p:cNvPr id="7205" name="WordArt 37"/>
          <p:cNvSpPr>
            <a:spLocks noChangeArrowheads="1" noChangeShapeType="1" noTextEdit="1"/>
          </p:cNvSpPr>
          <p:nvPr/>
        </p:nvSpPr>
        <p:spPr bwMode="auto">
          <a:xfrm>
            <a:off x="6228184" y="2564903"/>
            <a:ext cx="609600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6" name="WordArt 37"/>
          <p:cNvSpPr>
            <a:spLocks noChangeArrowheads="1" noChangeShapeType="1" noTextEdit="1"/>
          </p:cNvSpPr>
          <p:nvPr/>
        </p:nvSpPr>
        <p:spPr bwMode="auto">
          <a:xfrm>
            <a:off x="2411760" y="2564904"/>
            <a:ext cx="609600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"/>
                <a:cs typeface="Arial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00409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7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7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20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>
            <a:extLst>
              <a:ext uri="{FF2B5EF4-FFF2-40B4-BE49-F238E27FC236}">
                <a16:creationId xmlns:a16="http://schemas.microsoft.com/office/drawing/2014/main" id="{D31C2AB1-168B-DF1C-7FDA-BCDB3AA6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908720"/>
            <a:ext cx="6118934" cy="1296144"/>
          </a:xfrm>
        </p:spPr>
        <p:txBody>
          <a:bodyPr>
            <a:noAutofit/>
          </a:bodyPr>
          <a:lstStyle/>
          <a:p>
            <a:r>
              <a:rPr lang="ru-RU" altLang="ru-RU" sz="2800" b="1" dirty="0"/>
              <a:t>Свободный денежный поток</a:t>
            </a:r>
            <a:br>
              <a:rPr lang="ru-RU" altLang="ru-RU" sz="2800" b="1" dirty="0"/>
            </a:br>
            <a:r>
              <a:rPr lang="en-US" altLang="ru-RU" sz="2800" b="1" dirty="0"/>
              <a:t>FCF</a:t>
            </a:r>
            <a:br>
              <a:rPr lang="ru-RU" altLang="ru-RU" sz="2800" b="1" dirty="0"/>
            </a:br>
            <a:r>
              <a:rPr lang="en-US" altLang="ru-RU" sz="2800" b="1" dirty="0"/>
              <a:t>FCFE</a:t>
            </a:r>
            <a:endParaRPr lang="ru-RU" altLang="ru-RU" sz="2800" b="1" dirty="0"/>
          </a:p>
        </p:txBody>
      </p:sp>
      <p:sp>
        <p:nvSpPr>
          <p:cNvPr id="16387" name="Объект 2">
            <a:extLst>
              <a:ext uri="{FF2B5EF4-FFF2-40B4-BE49-F238E27FC236}">
                <a16:creationId xmlns:a16="http://schemas.microsoft.com/office/drawing/2014/main" id="{5581BA41-FCA2-7EA0-12A5-931D7E43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564904"/>
            <a:ext cx="7776864" cy="3725090"/>
          </a:xfrm>
        </p:spPr>
        <p:txBody>
          <a:bodyPr>
            <a:normAutofit/>
          </a:bodyPr>
          <a:lstStyle/>
          <a:p>
            <a:pPr>
              <a:spcBef>
                <a:spcPts val="450"/>
              </a:spcBef>
              <a:spcAft>
                <a:spcPts val="0"/>
              </a:spcAft>
            </a:pPr>
            <a:r>
              <a:rPr lang="ru-RU" altLang="ru-RU" sz="2000" dirty="0"/>
              <a:t>финансовый показатель, который отражает денежные средства, остающиеся у организации после всех ее капитальных затрат на поддержание активов</a:t>
            </a:r>
          </a:p>
          <a:p>
            <a:pPr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Можно использовать для</a:t>
            </a:r>
          </a:p>
          <a:p>
            <a:pPr lvl="1"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Реинвестиции</a:t>
            </a:r>
          </a:p>
          <a:p>
            <a:pPr lvl="1"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Погашение задолженности</a:t>
            </a:r>
          </a:p>
          <a:p>
            <a:pPr lvl="1">
              <a:spcBef>
                <a:spcPts val="450"/>
              </a:spcBef>
              <a:spcAft>
                <a:spcPts val="0"/>
              </a:spcAft>
            </a:pPr>
            <a:r>
              <a:rPr lang="en-US" altLang="ru-RU" dirty="0"/>
              <a:t>M&amp;As</a:t>
            </a:r>
          </a:p>
          <a:p>
            <a:pPr lvl="1"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Выкуп акций</a:t>
            </a:r>
          </a:p>
          <a:p>
            <a:pPr lvl="1"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…</a:t>
            </a:r>
          </a:p>
          <a:p>
            <a:pPr>
              <a:spcBef>
                <a:spcPts val="450"/>
              </a:spcBef>
              <a:spcAft>
                <a:spcPts val="0"/>
              </a:spcAft>
            </a:pPr>
            <a:r>
              <a:rPr lang="ru-RU" altLang="ru-RU" dirty="0"/>
              <a:t>разница между </a:t>
            </a:r>
            <a:r>
              <a:rPr lang="en-US" altLang="ru-RU" dirty="0"/>
              <a:t>FCF</a:t>
            </a:r>
            <a:r>
              <a:rPr lang="ru-RU" altLang="ru-RU" dirty="0"/>
              <a:t> и прибылью компании (</a:t>
            </a:r>
            <a:r>
              <a:rPr lang="en-US" altLang="ru-RU" dirty="0"/>
              <a:t>NE</a:t>
            </a:r>
            <a:r>
              <a:rPr lang="ru-RU" altLang="ru-RU" dirty="0"/>
              <a:t>) 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10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10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16D4F-87B3-641D-317B-8613F280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778098"/>
          </a:xfrm>
        </p:spPr>
        <p:txBody>
          <a:bodyPr>
            <a:noAutofit/>
          </a:bodyPr>
          <a:lstStyle/>
          <a:p>
            <a:r>
              <a:rPr lang="ru-RU" altLang="ru-RU" sz="2800" b="1" dirty="0"/>
              <a:t>Расчет </a:t>
            </a:r>
            <a:r>
              <a:rPr lang="en-US" altLang="ru-RU" sz="2800" b="1" dirty="0"/>
              <a:t>FCF </a:t>
            </a:r>
            <a:r>
              <a:rPr lang="ru-RU" altLang="ru-RU" sz="2800" b="1" dirty="0"/>
              <a:t>/</a:t>
            </a:r>
            <a:r>
              <a:rPr lang="en-US" altLang="ru-RU" sz="2800" b="1" dirty="0"/>
              <a:t> FCFE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E9338F-D1D4-6699-9276-8B6AE233C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42232"/>
            <a:ext cx="7617532" cy="432048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altLang="ru-RU" sz="2000" dirty="0"/>
              <a:t>Два способа расчета</a:t>
            </a:r>
          </a:p>
          <a:p>
            <a:pPr lvl="1">
              <a:spcBef>
                <a:spcPts val="300"/>
              </a:spcBef>
              <a:spcAft>
                <a:spcPts val="0"/>
              </a:spcAft>
            </a:pPr>
            <a:r>
              <a:rPr lang="ru-RU" altLang="ru-RU" sz="1800" u="sng" dirty="0"/>
              <a:t>прямой или кассовый</a:t>
            </a:r>
            <a:r>
              <a:rPr lang="ru-RU" altLang="ru-RU" sz="1800" dirty="0"/>
              <a:t> = Поступления от клиентов (выручка) - Выплаты поставщикам - Выплаты персоналу - Уплаченные проценты и налоги - Чистые капитальные затраты (</a:t>
            </a:r>
            <a:r>
              <a:rPr lang="ru-RU" altLang="ru-RU" sz="1800" dirty="0" err="1"/>
              <a:t>CapEx</a:t>
            </a:r>
            <a:r>
              <a:rPr lang="ru-RU" altLang="ru-RU" sz="1800" dirty="0"/>
              <a:t>) или три активных потока (левая часть таблицы), т.е. отражает три показателя потоков денежных средств = </a:t>
            </a:r>
            <a:r>
              <a:rPr lang="en-US" sz="1800" dirty="0"/>
              <a:t>OCF –</a:t>
            </a:r>
            <a:r>
              <a:rPr lang="ru-RU" sz="1800" dirty="0"/>
              <a:t> </a:t>
            </a:r>
            <a:r>
              <a:rPr lang="en-US" sz="1800" dirty="0"/>
              <a:t>ICF </a:t>
            </a:r>
            <a:r>
              <a:rPr lang="ru-RU" sz="1800" dirty="0"/>
              <a:t>-</a:t>
            </a:r>
            <a:r>
              <a:rPr lang="en-US" sz="1800" dirty="0"/>
              <a:t> ∆NWC</a:t>
            </a:r>
            <a:endParaRPr lang="ru-RU" sz="1800" dirty="0"/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800" i="1" dirty="0"/>
              <a:t>преимущество</a:t>
            </a:r>
            <a:r>
              <a:rPr lang="ru-RU" altLang="ru-RU" sz="1800" dirty="0"/>
              <a:t>: наглядность движения средств</a:t>
            </a:r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800" i="1" dirty="0"/>
              <a:t>недостаток</a:t>
            </a:r>
            <a:r>
              <a:rPr lang="ru-RU" altLang="ru-RU" sz="1800" dirty="0"/>
              <a:t>: сложность сбора данных</a:t>
            </a:r>
          </a:p>
          <a:p>
            <a:pPr lvl="1">
              <a:spcBef>
                <a:spcPts val="300"/>
              </a:spcBef>
              <a:spcAft>
                <a:spcPts val="0"/>
              </a:spcAft>
            </a:pPr>
            <a:r>
              <a:rPr lang="ru-RU" altLang="ru-RU" sz="1800" u="sng" dirty="0"/>
              <a:t>косвенный</a:t>
            </a:r>
            <a:r>
              <a:rPr lang="ru-RU" altLang="ru-RU" sz="1800" dirty="0"/>
              <a:t> = чистая прибыль (</a:t>
            </a:r>
            <a:r>
              <a:rPr lang="en-US" altLang="ru-RU" sz="1800" dirty="0"/>
              <a:t>NE</a:t>
            </a:r>
            <a:r>
              <a:rPr lang="ru-RU" altLang="ru-RU" sz="1800" dirty="0"/>
              <a:t>) + амортизация (</a:t>
            </a:r>
            <a:r>
              <a:rPr lang="en-US" altLang="ru-RU" sz="1800" dirty="0"/>
              <a:t>DA)</a:t>
            </a:r>
            <a:r>
              <a:rPr lang="ru-RU" altLang="ru-RU" sz="1800" dirty="0"/>
              <a:t> ± </a:t>
            </a:r>
            <a:r>
              <a:rPr lang="en-US" sz="1800" dirty="0"/>
              <a:t>∆NWC</a:t>
            </a:r>
            <a:r>
              <a:rPr lang="ru-RU" altLang="ru-RU" sz="1800" dirty="0"/>
              <a:t> – инвестиционный поток</a:t>
            </a:r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600" dirty="0"/>
              <a:t>± </a:t>
            </a:r>
            <a:r>
              <a:rPr lang="en-US" sz="1600" dirty="0"/>
              <a:t>∆NWC</a:t>
            </a:r>
            <a:r>
              <a:rPr lang="ru-RU" sz="1600" dirty="0"/>
              <a:t> = рост ДЗ (-), рост запасов (-), рост КЗ (+)</a:t>
            </a:r>
            <a:endParaRPr lang="ru-RU" altLang="ru-RU" sz="1600" dirty="0"/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600" dirty="0"/>
              <a:t>инвестиционный поток или </a:t>
            </a:r>
            <a:r>
              <a:rPr lang="en-US" sz="1600" b="1" dirty="0" err="1"/>
              <a:t>CapEx</a:t>
            </a:r>
            <a:endParaRPr lang="ru-RU" sz="1600" dirty="0"/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800" i="1" dirty="0"/>
              <a:t>преимущество</a:t>
            </a:r>
            <a:r>
              <a:rPr lang="ru-RU" altLang="ru-RU" sz="1800" dirty="0"/>
              <a:t>: связывает отчет о прибылях с реальными деньгами</a:t>
            </a:r>
          </a:p>
          <a:p>
            <a:pPr lvl="2">
              <a:spcBef>
                <a:spcPts val="300"/>
              </a:spcBef>
              <a:spcAft>
                <a:spcPts val="0"/>
              </a:spcAft>
            </a:pPr>
            <a:r>
              <a:rPr lang="ru-RU" altLang="ru-RU" sz="1800" i="1" dirty="0"/>
              <a:t>недостаток</a:t>
            </a:r>
            <a:r>
              <a:rPr lang="ru-RU" altLang="ru-RU" sz="1800" dirty="0"/>
              <a:t>: менее интуитивен для анализа текущих платежей</a:t>
            </a:r>
            <a:endParaRPr lang="ru-RU" altLang="ru-RU" sz="1600" dirty="0"/>
          </a:p>
          <a:p>
            <a:endParaRPr lang="ru-RU" sz="4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462996-D394-5BC4-0C18-DD888C2B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057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8B40-7BD5-2D98-DC68-3AA6F7F5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99F7A-7863-3BF3-E023-7CC59D1B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статьи доходов инвестиционного проекта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4F4D9-4F0F-7970-13C3-C05B459A3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выручка от реализации продукции/услуг</a:t>
            </a:r>
          </a:p>
          <a:p>
            <a:r>
              <a:rPr lang="ru-RU" dirty="0"/>
              <a:t>доходы от сопутствующих услуг</a:t>
            </a:r>
          </a:p>
          <a:p>
            <a:r>
              <a:rPr lang="ru-RU" dirty="0"/>
              <a:t>государственные субсидии и льготы</a:t>
            </a:r>
          </a:p>
          <a:p>
            <a:r>
              <a:rPr lang="ru-RU" dirty="0"/>
              <a:t>доходы от продажи активов</a:t>
            </a:r>
          </a:p>
          <a:p>
            <a:pPr marL="0" indent="0" algn="ctr">
              <a:buNone/>
            </a:pPr>
            <a:r>
              <a:rPr lang="ru-RU" sz="1800" dirty="0"/>
              <a:t>Источник: </a:t>
            </a:r>
            <a:r>
              <a:rPr lang="ru-RU" sz="1800" dirty="0">
                <a:hlinkClick r:id="rId2"/>
              </a:rPr>
              <a:t>https://www.glavbukh.ru/art/391503-investitsionnye-proekty-vidy-etapy-byudjetirovanie#zag_5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6363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F3549-23AA-9E39-1F9A-C28430B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статьи расходов инвестиционного проекта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55A6BB-00C3-25AD-0924-FBCCE4BF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490135"/>
            <a:ext cx="7632847" cy="367516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Капитальные затраты: приобретение земельных участков строительство или реконструкция зданий закупка оборудования и технологий монтажные и пусконаладочные работы</a:t>
            </a:r>
          </a:p>
          <a:p>
            <a:r>
              <a:rPr lang="ru-RU" dirty="0"/>
              <a:t>Операционные расходы: сырье и материалы заработная плата персонала энергоносители и коммунальные платежи обслуживание оборудования маркетинг и реклама</a:t>
            </a:r>
          </a:p>
          <a:p>
            <a:r>
              <a:rPr lang="ru-RU" dirty="0"/>
              <a:t>Налоги и обязательные платежи</a:t>
            </a:r>
          </a:p>
          <a:p>
            <a:r>
              <a:rPr lang="ru-RU" dirty="0"/>
              <a:t>Финансовые издержки (проценты по кредитам)</a:t>
            </a:r>
          </a:p>
          <a:p>
            <a:r>
              <a:rPr lang="ru-RU" dirty="0"/>
              <a:t>Непредвиденные расходы (обычно 5-10% от общего бюджета)</a:t>
            </a:r>
          </a:p>
          <a:p>
            <a:pPr marL="0" indent="0" algn="ctr">
              <a:buNone/>
            </a:pPr>
            <a:r>
              <a:rPr lang="ru-RU" sz="2000" dirty="0"/>
              <a:t>Источник: </a:t>
            </a:r>
            <a:r>
              <a:rPr lang="ru-RU" sz="2000" dirty="0">
                <a:hlinkClick r:id="rId2"/>
              </a:rPr>
              <a:t>https://www.glavbukh.ru/art/391503-investitsionnye-proekty-vidy-etapy-byudjetirovanie#zag_5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9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E199B-5323-EAE8-9176-11CBF599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052736"/>
            <a:ext cx="7128792" cy="792087"/>
          </a:xfrm>
        </p:spPr>
        <p:txBody>
          <a:bodyPr>
            <a:noAutofit/>
          </a:bodyPr>
          <a:lstStyle/>
          <a:p>
            <a:r>
              <a:rPr lang="ru-RU" sz="2800" dirty="0"/>
              <a:t>Инкрементальные (или приростные)</a:t>
            </a:r>
            <a:br>
              <a:rPr lang="ru-RU" sz="2800" dirty="0"/>
            </a:br>
            <a:r>
              <a:rPr lang="ru-RU" sz="2800" dirty="0"/>
              <a:t>и релевантные </a:t>
            </a:r>
            <a:r>
              <a:rPr lang="en-US" sz="2800" dirty="0"/>
              <a:t>CFs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13125A-AEAA-71B2-9674-F2DF485B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92896"/>
            <a:ext cx="7776864" cy="374441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000" b="1" dirty="0"/>
              <a:t>Релевантный поток проекта</a:t>
            </a:r>
            <a:r>
              <a:rPr lang="ru-RU" sz="2000" dirty="0"/>
              <a:t> — это инкрементальный свободный денежный поток, который компания может предполагать в случае его реализации</a:t>
            </a:r>
          </a:p>
          <a:p>
            <a:r>
              <a:rPr lang="ru-RU" sz="2000" dirty="0"/>
              <a:t>При прогнозировании денежных потоков</a:t>
            </a:r>
          </a:p>
          <a:p>
            <a:pPr lvl="1"/>
            <a:r>
              <a:rPr lang="ru-RU" sz="1800" dirty="0"/>
              <a:t>1) решения по составлению капитального бюджета должны </a:t>
            </a:r>
            <a:r>
              <a:rPr lang="ru-RU" sz="1800" b="1" dirty="0"/>
              <a:t>основываться на денежных потоках</a:t>
            </a:r>
            <a:endParaRPr lang="ru-RU" sz="1800" dirty="0"/>
          </a:p>
          <a:p>
            <a:pPr lvl="1"/>
            <a:r>
              <a:rPr lang="ru-RU" sz="1800" dirty="0"/>
              <a:t>2) только </a:t>
            </a:r>
            <a:r>
              <a:rPr lang="ru-RU" sz="1800" b="1" dirty="0"/>
              <a:t>инкрементальные (</a:t>
            </a:r>
            <a:r>
              <a:rPr lang="en-US" sz="1800" b="1" noProof="0" dirty="0"/>
              <a:t>incremental</a:t>
            </a:r>
            <a:r>
              <a:rPr lang="ru-RU" sz="1800" b="1" dirty="0"/>
              <a:t>) потоки денежных средств являются релевантными</a:t>
            </a:r>
            <a:endParaRPr lang="ru-RU" sz="1800" dirty="0"/>
          </a:p>
          <a:p>
            <a:r>
              <a:rPr lang="ru-RU" sz="2000" dirty="0"/>
              <a:t>Релевантные денежные потоки характерны для стандартных, типичных наиболее простых инвестиционных проектов</a:t>
            </a:r>
          </a:p>
          <a:p>
            <a:pPr lvl="1"/>
            <a:r>
              <a:rPr lang="ru-RU" sz="1600" dirty="0"/>
              <a:t>Все инкрементальные потоки являются релевантными, так как они напрямую связаны с принятием решения</a:t>
            </a:r>
          </a:p>
          <a:p>
            <a:pPr lvl="1"/>
            <a:r>
              <a:rPr lang="ru-RU" sz="1600" dirty="0"/>
              <a:t>Но не все релевантные потоки обязательно инкрементальные 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6079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02FF-81C8-AD26-325D-CE61ADC7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Релевантные  затраты</a:t>
            </a:r>
            <a:br>
              <a:rPr lang="ru-RU" dirty="0"/>
            </a:br>
            <a:r>
              <a:rPr lang="ru-RU" dirty="0"/>
              <a:t>(</a:t>
            </a:r>
            <a:r>
              <a:rPr lang="en-US" i="1" noProof="0" dirty="0"/>
              <a:t>Relevant</a:t>
            </a:r>
            <a:r>
              <a:rPr lang="ru-RU" i="1" dirty="0"/>
              <a:t> Cost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4C6144-7EFA-EED1-70B8-C0ED088DB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90135"/>
            <a:ext cx="7776863" cy="3747177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0"/>
              </a:spcAft>
            </a:pPr>
            <a:r>
              <a:rPr lang="ru-RU" dirty="0"/>
              <a:t>относятся статьи расходов, которые зависят от принимаемых управленческих решений в конкретной бизнес-ситуации</a:t>
            </a:r>
          </a:p>
          <a:p>
            <a:pPr lvl="1">
              <a:spcAft>
                <a:spcPts val="0"/>
              </a:spcAft>
            </a:pPr>
            <a:r>
              <a:rPr lang="ru-RU" dirty="0"/>
              <a:t>реализация определенной управленческой альтернативы</a:t>
            </a:r>
          </a:p>
          <a:p>
            <a:pPr lvl="1">
              <a:spcAft>
                <a:spcPts val="0"/>
              </a:spcAft>
            </a:pPr>
            <a:r>
              <a:rPr lang="ru-RU" dirty="0"/>
              <a:t>не существуют в случае принятия решения о ликвидации подразделения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b="1" dirty="0"/>
              <a:t>Будущие денежные потоки</a:t>
            </a:r>
            <a:r>
              <a:rPr lang="ru-RU" dirty="0"/>
              <a:t> в связи с принятием управленческих решений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b="1" dirty="0"/>
              <a:t>Устранимые затраты</a:t>
            </a:r>
            <a:r>
              <a:rPr lang="ru-RU" dirty="0"/>
              <a:t> - расходы, которых можно избежать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b="1" dirty="0"/>
              <a:t>Альтернативные затраты</a:t>
            </a:r>
            <a:r>
              <a:rPr lang="ru-RU" dirty="0"/>
              <a:t> - входящие денежные потоки, которые не будут получены в результате внедрения управленческого решения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b="1" dirty="0"/>
              <a:t>Инкрементальные затраты</a:t>
            </a:r>
            <a:r>
              <a:rPr lang="ru-RU" dirty="0"/>
              <a:t> - затраты, возникающие в связи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sz="2300" dirty="0"/>
              <a:t>с производством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sz="2300" dirty="0"/>
              <a:t>с выходом на новый рынок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sz="2300" dirty="0"/>
              <a:t>с запуском</a:t>
            </a:r>
          </a:p>
        </p:txBody>
      </p:sp>
    </p:spTree>
    <p:extLst>
      <p:ext uri="{BB962C8B-B14F-4D97-AF65-F5344CB8AC3E}">
        <p14:creationId xmlns:p14="http://schemas.microsoft.com/office/powerpoint/2010/main" val="188728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F0847-07DD-4DB2-2F27-27C9DFE5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Нерелевантные затраты</a:t>
            </a:r>
            <a:br>
              <a:rPr lang="ru-RU" dirty="0"/>
            </a:br>
            <a:r>
              <a:rPr lang="ru-RU" dirty="0"/>
              <a:t>(</a:t>
            </a:r>
            <a:r>
              <a:rPr lang="en-US" i="1" noProof="0" dirty="0"/>
              <a:t>Irrelevant</a:t>
            </a:r>
            <a:r>
              <a:rPr lang="ru-RU" i="1" dirty="0"/>
              <a:t> Cost</a:t>
            </a:r>
            <a:r>
              <a:rPr lang="ru-RU" dirty="0"/>
              <a:t>)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D243F-060B-F462-AA7E-DEDEBB48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348881"/>
            <a:ext cx="7632848" cy="3888432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ru-RU" sz="1800" dirty="0"/>
              <a:t>относятся статьи расходов, которые возникнут независимо от принятого окончательного управленческого решения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при реализации всех управленческих альтернатив, их не учитывают при проведении управленческого анализа</a:t>
            </a:r>
          </a:p>
          <a:p>
            <a:pPr lvl="1">
              <a:spcAft>
                <a:spcPts val="0"/>
              </a:spcAft>
            </a:pPr>
            <a:r>
              <a:rPr lang="ru-RU" sz="1600" dirty="0"/>
              <a:t>объективно существуют независимо от того, будет ликвидировано подразделение или продолжит свою работу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1800" b="1" dirty="0"/>
              <a:t>Невозвратные затраты</a:t>
            </a:r>
            <a:r>
              <a:rPr lang="ru-RU" sz="1800" dirty="0"/>
              <a:t> - расходы, уже понесенные в прошлом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1800" b="1" dirty="0"/>
              <a:t>Обязательные затраты</a:t>
            </a:r>
            <a:r>
              <a:rPr lang="ru-RU" sz="1800" dirty="0"/>
              <a:t> - будущие расходы, которых невозможно избежать независимо от принятого управленческого решения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1800" b="1" dirty="0"/>
              <a:t>Неденежные расходы</a:t>
            </a:r>
            <a:r>
              <a:rPr lang="ru-RU" sz="1800" dirty="0"/>
              <a:t> не влияют на денежные потоки бизнеса (нерелевантные)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1800" b="1" dirty="0"/>
              <a:t>Общехозяйственные накладные расходы</a:t>
            </a:r>
            <a:r>
              <a:rPr lang="ru-RU" sz="1800" dirty="0"/>
              <a:t> - расходы, на которые не влияет принятие управленческого решения (исключены из релевантных)</a:t>
            </a:r>
          </a:p>
          <a:p>
            <a:pPr>
              <a:spcAft>
                <a:spcPts val="0"/>
              </a:spcAft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3547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23D9B-0AEC-86B7-5670-7C226C2D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C8D2B-02DD-1CDB-F870-2A6F8FCA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90135"/>
            <a:ext cx="7704855" cy="3747177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b="1" dirty="0">
                <a:solidFill>
                  <a:srgbClr val="0A0A0A"/>
                </a:solidFill>
                <a:latin typeface="Google Sans"/>
              </a:rPr>
              <a:t>Инкрементальные (увеличение)</a:t>
            </a:r>
          </a:p>
          <a:p>
            <a:pPr lvl="1"/>
            <a:r>
              <a:rPr lang="ru-RU" altLang="ru-RU" dirty="0">
                <a:solidFill>
                  <a:srgbClr val="0A0A0A"/>
                </a:solidFill>
                <a:latin typeface="Google Sans"/>
              </a:rPr>
              <a:t>Дополнительная выручка от продаж нового продукта, сокращение затрат на ремонт благодаря новой технологии</a:t>
            </a:r>
          </a:p>
          <a:p>
            <a:r>
              <a:rPr lang="ru-RU" altLang="ru-RU" b="1" dirty="0">
                <a:solidFill>
                  <a:srgbClr val="0A0A0A"/>
                </a:solidFill>
                <a:latin typeface="Google Sans"/>
              </a:rPr>
              <a:t>Инкрементальные (уменьшение)</a:t>
            </a:r>
          </a:p>
          <a:p>
            <a:pPr lvl="1"/>
            <a:r>
              <a:rPr lang="ru-RU" altLang="ru-RU" dirty="0">
                <a:solidFill>
                  <a:srgbClr val="0A0A0A"/>
                </a:solidFill>
                <a:latin typeface="Google Sans"/>
              </a:rPr>
              <a:t>Затраты на покупку нового оборудования для проекта (инвестиции), дополнительные операционные расходы</a:t>
            </a:r>
          </a:p>
          <a:p>
            <a:r>
              <a:rPr lang="ru-RU" altLang="ru-RU" b="1" dirty="0">
                <a:solidFill>
                  <a:srgbClr val="0A0A0A"/>
                </a:solidFill>
                <a:latin typeface="Google Sans"/>
              </a:rPr>
              <a:t>Релевантные (не инкрементальные)</a:t>
            </a:r>
          </a:p>
          <a:p>
            <a:pPr lvl="1"/>
            <a:r>
              <a:rPr lang="ru-RU" altLang="ru-RU" dirty="0">
                <a:solidFill>
                  <a:srgbClr val="0A0A0A"/>
                </a:solidFill>
                <a:latin typeface="Google Sans"/>
              </a:rPr>
              <a:t>Потерянные проценты от вклада, который был снят для финансирования проекта (альтернативные издержки)</a:t>
            </a:r>
          </a:p>
          <a:p>
            <a:r>
              <a:rPr lang="ru-RU" altLang="ru-RU" b="1" dirty="0">
                <a:solidFill>
                  <a:srgbClr val="0A0A0A"/>
                </a:solidFill>
                <a:latin typeface="Google Sans"/>
              </a:rPr>
              <a:t>Почему это важно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09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CD409-9C46-2E51-370D-79F7644C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692696"/>
            <a:ext cx="7992887" cy="1584176"/>
          </a:xfrm>
        </p:spPr>
        <p:txBody>
          <a:bodyPr>
            <a:noAutofit/>
          </a:bodyPr>
          <a:lstStyle/>
          <a:p>
            <a:r>
              <a:rPr lang="ru-RU" sz="2000" u="sng" dirty="0"/>
              <a:t>Ситуационная задача</a:t>
            </a:r>
            <a:br>
              <a:rPr lang="ru-RU" sz="2000" dirty="0"/>
            </a:br>
            <a:r>
              <a:rPr lang="ru-RU" sz="2000" dirty="0"/>
              <a:t>Компания рассматривает возможность ликвидации одного из своих подразделений. Для принятия этого решения необходимо классифицировать следующие затраты</a:t>
            </a:r>
            <a:r>
              <a:rPr lang="en-US" sz="2000" dirty="0"/>
              <a:t> </a:t>
            </a:r>
            <a:r>
              <a:rPr lang="ru-RU" sz="2000" dirty="0"/>
              <a:t>на</a:t>
            </a:r>
            <a:r>
              <a:rPr lang="en-US" sz="2000" dirty="0"/>
              <a:t> </a:t>
            </a:r>
            <a:r>
              <a:rPr lang="ru-RU" sz="2000" dirty="0"/>
              <a:t>релевантные и нерелевантные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7CD553-67B5-B0D2-185F-5382EE11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72" y="2420888"/>
            <a:ext cx="7704856" cy="3816424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Зарплата генерального директора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Зарплата работников подразделения, которые могут быть уволены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Зарплата работников подразделения, которые не могут быть уволены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Разовые компенсации, выплачиваемые уволенным работникам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Затраты на сырье и материалы, потребляемые ликвидируемым подразделением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Зарплата совета директоров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Проценты по кредитам, привлеченным для ликвидируемого подразделения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Зарплата директора ликвидируемого подразделения (при условии, что он будет уволен)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Затраты на сертификацию качества всей компании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Лицензионный сбор на производство продукции, производимой ликвидируемым подразделением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Аренда головного офиса компании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Плата за аудит (не зависит от количества подразделений)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259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7BC8-9BEF-A740-6778-D4C4A853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72050-EA98-807B-1CBC-8A39BA10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3" y="915337"/>
            <a:ext cx="7488830" cy="1336475"/>
          </a:xfrm>
        </p:spPr>
        <p:txBody>
          <a:bodyPr>
            <a:normAutofit/>
          </a:bodyPr>
          <a:lstStyle/>
          <a:p>
            <a:r>
              <a:rPr lang="ru-RU" dirty="0"/>
              <a:t>Влияние инфляции и налогов на денежные потоки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D6897-AB1E-F01E-E9BB-4FF6F17C1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490135"/>
            <a:ext cx="7488832" cy="353115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Влияние инфляции и налогов на денежные потоки</a:t>
            </a:r>
          </a:p>
          <a:p>
            <a:pPr lvl="1"/>
            <a:r>
              <a:rPr lang="ru-RU" dirty="0"/>
              <a:t>Инфляция – номинальные и реальные денежные потоки</a:t>
            </a:r>
          </a:p>
          <a:p>
            <a:pPr lvl="1"/>
            <a:r>
              <a:rPr lang="ru-RU" dirty="0"/>
              <a:t>Налоги – снижение и перераспределение</a:t>
            </a:r>
          </a:p>
          <a:p>
            <a:r>
              <a:rPr lang="ru-RU" dirty="0"/>
              <a:t>Концепция временной стоимости денег (TVM)</a:t>
            </a:r>
          </a:p>
          <a:p>
            <a:pPr lvl="1"/>
            <a:r>
              <a:rPr lang="ru-RU" dirty="0"/>
              <a:t>для сопоставления разновременных значений денежного потока</a:t>
            </a:r>
          </a:p>
          <a:p>
            <a:pPr lvl="1"/>
            <a:r>
              <a:rPr lang="ru-RU" dirty="0"/>
              <a:t>используется механизм дисконтирования</a:t>
            </a:r>
          </a:p>
          <a:p>
            <a:pPr lvl="2"/>
            <a:r>
              <a:rPr lang="ru-RU" dirty="0"/>
              <a:t>моментом приведения</a:t>
            </a:r>
          </a:p>
          <a:p>
            <a:pPr lvl="1"/>
            <a:r>
              <a:rPr lang="ru-RU" dirty="0"/>
              <a:t>момент приведения совпадает</a:t>
            </a:r>
          </a:p>
          <a:p>
            <a:pPr lvl="2"/>
            <a:r>
              <a:rPr lang="ru-RU" dirty="0"/>
              <a:t>с началом или концом базового этапа инвестиционного проекта</a:t>
            </a:r>
          </a:p>
          <a:p>
            <a:pPr lvl="2"/>
            <a:r>
              <a:rPr lang="ru-RU" dirty="0"/>
              <a:t>или может быть выбран любой этап, на который требуется оценить эффективность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64046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4F905-3BBE-E85C-5411-6E2E1470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633" y="1196752"/>
            <a:ext cx="6798734" cy="64145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Проблемы учета </a:t>
            </a:r>
            <a:r>
              <a:rPr lang="en-US" dirty="0"/>
              <a:t>CFs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28378-EDE4-1399-4C7D-B46C5852F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492896"/>
            <a:ext cx="7704856" cy="367240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Расходы в ОФР отражаются не тогда, когда за них надо платить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Бухгалтерские результаты искажаются, так как имеется влияние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Лучше всего отражает реальное положение дел в компании документ, составленный на основе ___________________ решений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Серьезные управленческие решения требуют детализации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Поступления от продаж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В текущих затратах выделяют</a:t>
            </a:r>
          </a:p>
          <a:p>
            <a:pPr marL="914400" lvl="1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Инвестиции отражаются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dirty="0"/>
              <a:t>Специфика бюджета проекта (следующий слайд)</a:t>
            </a:r>
          </a:p>
        </p:txBody>
      </p:sp>
    </p:spTree>
    <p:extLst>
      <p:ext uri="{BB962C8B-B14F-4D97-AF65-F5344CB8AC3E}">
        <p14:creationId xmlns:p14="http://schemas.microsoft.com/office/powerpoint/2010/main" val="219820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4BEA0-9105-750B-2F2F-32D75CEA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Специфика в построении бюджета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7A0D95-E580-1548-EEB3-410CFAE1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Сложность совмещения данных бухгалтерского учета и движения реальных денежных средств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Оценка и прогнозирование оборотного капитала, для которого важен горизонт планирования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Планирование налоговых платежей, для чего используется оценка прошлых результатов; часто берут эффективную ставку, которая лучше даст представление по величине платежей.</a:t>
            </a:r>
          </a:p>
          <a:p>
            <a:pPr marL="0" indent="0" algn="ctr">
              <a:buNone/>
            </a:pPr>
            <a:r>
              <a:rPr lang="ru-RU" dirty="0"/>
              <a:t>Бюджет движения </a:t>
            </a:r>
            <a:r>
              <a:rPr lang="en-US" dirty="0"/>
              <a:t>CFs</a:t>
            </a:r>
            <a:r>
              <a:rPr lang="ru-RU" dirty="0"/>
              <a:t> – управленческий отчет для руководства фирмы, компромисс между подробностью и точностью, с одной стороны, читаемостью и легкостью, с другой</a:t>
            </a:r>
          </a:p>
        </p:txBody>
      </p:sp>
    </p:spTree>
    <p:extLst>
      <p:ext uri="{BB962C8B-B14F-4D97-AF65-F5344CB8AC3E}">
        <p14:creationId xmlns:p14="http://schemas.microsoft.com/office/powerpoint/2010/main" val="39800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1339</TotalTime>
  <Words>1742</Words>
  <Application>Microsoft Office PowerPoint</Application>
  <PresentationFormat>Экран (4:3)</PresentationFormat>
  <Paragraphs>234</Paragraphs>
  <Slides>21</Slides>
  <Notes>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Garamond</vt:lpstr>
      <vt:lpstr>Google Sans</vt:lpstr>
      <vt:lpstr>Times New Roman</vt:lpstr>
      <vt:lpstr>Trebuchet MS</vt:lpstr>
      <vt:lpstr>Натуральные материалы</vt:lpstr>
      <vt:lpstr>Формула</vt:lpstr>
      <vt:lpstr>1.3. Экономическое содержание и виды денежных потоков</vt:lpstr>
      <vt:lpstr>Концепция денежного потока</vt:lpstr>
      <vt:lpstr>Специфика денежного потока (1)</vt:lpstr>
      <vt:lpstr>Специфика денежного потока (2)</vt:lpstr>
      <vt:lpstr>Виды денежных потоков предприятия </vt:lpstr>
      <vt:lpstr>Активные денежные потоки (1)</vt:lpstr>
      <vt:lpstr>Активные денежные потоки (2, 3)</vt:lpstr>
      <vt:lpstr>Пассивные денежные потоки (4, 5)</vt:lpstr>
      <vt:lpstr>Классификация денежных потоков предприятия (CFs) </vt:lpstr>
      <vt:lpstr>Свободный денежный поток FCF FCFE</vt:lpstr>
      <vt:lpstr>Расчет FCF / FCFE</vt:lpstr>
      <vt:lpstr>Основные статьи доходов инвестиционного проекта </vt:lpstr>
      <vt:lpstr>Основные статьи расходов инвестиционного проекта </vt:lpstr>
      <vt:lpstr>Инкрементальные (или приростные) и релевантные CFs</vt:lpstr>
      <vt:lpstr>Релевантные  затраты (Relevant Cost)</vt:lpstr>
      <vt:lpstr>Нерелевантные затраты (Irrelevant Cost) </vt:lpstr>
      <vt:lpstr>Примеры</vt:lpstr>
      <vt:lpstr>Ситуационная задача Компания рассматривает возможность ликвидации одного из своих подразделений. Для принятия этого решения необходимо классифицировать следующие затраты на релевантные и нерелевантные</vt:lpstr>
      <vt:lpstr>Влияние инфляции и налогов на денежные потоки</vt:lpstr>
      <vt:lpstr>Проблемы учета CFs</vt:lpstr>
      <vt:lpstr>Специфика в построении бюджета проекта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 инвестиционного анализа</dc:title>
  <dc:creator>Пользователь Windows</dc:creator>
  <cp:lastModifiedBy>Тарасова Юлия Александровна</cp:lastModifiedBy>
  <cp:revision>164</cp:revision>
  <cp:lastPrinted>2026-01-20T13:50:02Z</cp:lastPrinted>
  <dcterms:created xsi:type="dcterms:W3CDTF">2024-09-02T08:18:05Z</dcterms:created>
  <dcterms:modified xsi:type="dcterms:W3CDTF">2026-01-28T17:37:09Z</dcterms:modified>
</cp:coreProperties>
</file>