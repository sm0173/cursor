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6"/>
  </p:notesMasterIdLst>
  <p:handoutMasterIdLst>
    <p:handoutMasterId r:id="rId27"/>
  </p:handoutMasterIdLst>
  <p:sldIdLst>
    <p:sldId id="290" r:id="rId2"/>
    <p:sldId id="294" r:id="rId3"/>
    <p:sldId id="295" r:id="rId4"/>
    <p:sldId id="297" r:id="rId5"/>
    <p:sldId id="339" r:id="rId6"/>
    <p:sldId id="340" r:id="rId7"/>
    <p:sldId id="298" r:id="rId8"/>
    <p:sldId id="341" r:id="rId9"/>
    <p:sldId id="333" r:id="rId10"/>
    <p:sldId id="299" r:id="rId11"/>
    <p:sldId id="269" r:id="rId12"/>
    <p:sldId id="271" r:id="rId13"/>
    <p:sldId id="270" r:id="rId14"/>
    <p:sldId id="342" r:id="rId15"/>
    <p:sldId id="289" r:id="rId16"/>
    <p:sldId id="301" r:id="rId17"/>
    <p:sldId id="306" r:id="rId18"/>
    <p:sldId id="302" r:id="rId19"/>
    <p:sldId id="303" r:id="rId20"/>
    <p:sldId id="304" r:id="rId21"/>
    <p:sldId id="343" r:id="rId22"/>
    <p:sldId id="300" r:id="rId23"/>
    <p:sldId id="344" r:id="rId24"/>
    <p:sldId id="292" r:id="rId25"/>
  </p:sldIdLst>
  <p:sldSz cx="9144000" cy="6858000" type="screen4x3"/>
  <p:notesSz cx="9926638" cy="679767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88" autoAdjust="0"/>
    <p:restoredTop sz="94660"/>
  </p:normalViewPr>
  <p:slideViewPr>
    <p:cSldViewPr>
      <p:cViewPr varScale="1">
        <p:scale>
          <a:sx n="108" d="100"/>
          <a:sy n="108" d="100"/>
        </p:scale>
        <p:origin x="147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2798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49CF5F-D8AC-4326-A5F7-6E1731744270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4C00D-B35A-4B9F-93C9-3526B114E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8429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925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B2388-FC3F-459D-93D2-A919D36444A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433763" y="849313"/>
            <a:ext cx="3059112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188" y="3271838"/>
            <a:ext cx="7942262" cy="2676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925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C7B71-8761-43D7-AA68-98DF2B7EBC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225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Образ слайда 1">
            <a:extLst>
              <a:ext uri="{FF2B5EF4-FFF2-40B4-BE49-F238E27FC236}">
                <a16:creationId xmlns:a16="http://schemas.microsoft.com/office/drawing/2014/main" id="{272BF9FB-530F-0E2B-D15F-B46C0C030E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Заметки 2">
            <a:extLst>
              <a:ext uri="{FF2B5EF4-FFF2-40B4-BE49-F238E27FC236}">
                <a16:creationId xmlns:a16="http://schemas.microsoft.com/office/drawing/2014/main" id="{DE7B7EA1-C8B3-85FC-0851-4F8030DF18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 dirty="0">
              <a:latin typeface="Times New Roman" panose="02020603050405020304" pitchFamily="18" charset="0"/>
            </a:endParaRPr>
          </a:p>
        </p:txBody>
      </p:sp>
      <p:sp>
        <p:nvSpPr>
          <p:cNvPr id="10244" name="Дата 3">
            <a:extLst>
              <a:ext uri="{FF2B5EF4-FFF2-40B4-BE49-F238E27FC236}">
                <a16:creationId xmlns:a16="http://schemas.microsoft.com/office/drawing/2014/main" id="{4611BEE4-287E-3754-74DE-32602F9A63E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BC6CD34-7C32-4534-9A88-346673C62BE9}" type="datetime1">
              <a:rPr lang="ru-RU" altLang="ru-RU" sz="1200" smtClean="0"/>
              <a:pPr/>
              <a:t>03.02.2026</a:t>
            </a:fld>
            <a:endParaRPr lang="ru-RU" altLang="ru-RU" sz="1200"/>
          </a:p>
        </p:txBody>
      </p:sp>
      <p:sp>
        <p:nvSpPr>
          <p:cNvPr id="10245" name="Номер слайда 4">
            <a:extLst>
              <a:ext uri="{FF2B5EF4-FFF2-40B4-BE49-F238E27FC236}">
                <a16:creationId xmlns:a16="http://schemas.microsoft.com/office/drawing/2014/main" id="{7571EB0B-B017-2227-4E03-B01A7B1633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3DEC773-1F90-4F44-A3BA-212C4083FB45}" type="slidenum">
              <a:rPr lang="ru-RU" altLang="ru-RU" sz="1200" smtClean="0"/>
              <a:pPr/>
              <a:t>5</a:t>
            </a:fld>
            <a:endParaRPr lang="ru-RU" altLang="ru-RU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Образ слайда 1">
            <a:extLst>
              <a:ext uri="{FF2B5EF4-FFF2-40B4-BE49-F238E27FC236}">
                <a16:creationId xmlns:a16="http://schemas.microsoft.com/office/drawing/2014/main" id="{120635E9-1C2C-55DF-5193-5D6A9ADDE7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Заметки 2">
            <a:extLst>
              <a:ext uri="{FF2B5EF4-FFF2-40B4-BE49-F238E27FC236}">
                <a16:creationId xmlns:a16="http://schemas.microsoft.com/office/drawing/2014/main" id="{E5C6BD65-BA52-C74D-9618-4F4F0C5A52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u-RU" altLang="ru-RU" dirty="0">
              <a:latin typeface="Times New Roman" panose="02020603050405020304" pitchFamily="18" charset="0"/>
            </a:endParaRPr>
          </a:p>
        </p:txBody>
      </p:sp>
      <p:sp>
        <p:nvSpPr>
          <p:cNvPr id="12292" name="Дата 3">
            <a:extLst>
              <a:ext uri="{FF2B5EF4-FFF2-40B4-BE49-F238E27FC236}">
                <a16:creationId xmlns:a16="http://schemas.microsoft.com/office/drawing/2014/main" id="{C5324851-16A4-001E-4853-DCBEC9EB034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8E3D7D5-5D35-4819-BF59-618DA8ABD154}" type="datetime1">
              <a:rPr lang="ru-RU" altLang="ru-RU" sz="1200" smtClean="0"/>
              <a:pPr/>
              <a:t>03.02.2026</a:t>
            </a:fld>
            <a:endParaRPr lang="ru-RU" altLang="ru-RU" sz="1200"/>
          </a:p>
        </p:txBody>
      </p:sp>
      <p:sp>
        <p:nvSpPr>
          <p:cNvPr id="12293" name="Номер слайда 4">
            <a:extLst>
              <a:ext uri="{FF2B5EF4-FFF2-40B4-BE49-F238E27FC236}">
                <a16:creationId xmlns:a16="http://schemas.microsoft.com/office/drawing/2014/main" id="{C4264D5C-1872-E72C-1D1E-6893A89D25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67C6ECF-5E7F-4078-BDEE-4CE2E497F6ED}" type="slidenum">
              <a:rPr lang="ru-RU" altLang="ru-RU" sz="1200" smtClean="0"/>
              <a:pPr/>
              <a:t>9</a:t>
            </a:fld>
            <a:endParaRPr lang="ru-RU" altLang="ru-RU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Прямоугольник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Прямоугольник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Прямоугольник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Скругленный прямоугольник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Скругленный прямоугольник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2B1FE2E-8ACB-4454-A1B6-7B7356C7F038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DAAEACB-7202-472E-A5DB-437BBD939B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FE2E-8ACB-4454-A1B6-7B7356C7F038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AEACB-7202-472E-A5DB-437BBD939B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FE2E-8ACB-4454-A1B6-7B7356C7F038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AEACB-7202-472E-A5DB-437BBD939B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FE2E-8ACB-4454-A1B6-7B7356C7F038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AEACB-7202-472E-A5DB-437BBD939B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26" name="Дата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2B1FE2E-8ACB-4454-A1B6-7B7356C7F038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DAAEACB-7202-472E-A5DB-437BBD939B71}" type="slidenum">
              <a:rPr lang="ru-RU" smtClean="0"/>
              <a:t>‹#›</a:t>
            </a:fld>
            <a:endParaRPr lang="ru-RU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2B1FE2E-8ACB-4454-A1B6-7B7356C7F038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DAAEACB-7202-472E-A5DB-437BBD939B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FE2E-8ACB-4454-A1B6-7B7356C7F038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AEACB-7202-472E-A5DB-437BBD939B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FE2E-8ACB-4454-A1B6-7B7356C7F038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AEACB-7202-472E-A5DB-437BBD939B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FE2E-8ACB-4454-A1B6-7B7356C7F038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AEACB-7202-472E-A5DB-437BBD939B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FE2E-8ACB-4454-A1B6-7B7356C7F038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AEACB-7202-472E-A5DB-437BBD939B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FE2E-8ACB-4454-A1B6-7B7356C7F038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AEACB-7202-472E-A5DB-437BBD939B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AFFE266-4B33-A309-29D6-FA95C008858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EFC3E-E906-4510-8CE6-6E91462E9E17}" type="datetime1">
              <a:rPr lang="ru-RU"/>
              <a:pPr>
                <a:defRPr/>
              </a:pPr>
              <a:t>03.02.2026</a:t>
            </a:fld>
            <a:endParaRPr lang="ru-R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EF9AFB7-9F23-BB4B-C918-1DB2197E6D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F1E458E-F5D3-6452-DC14-CDBBB74F107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AB905-7156-4CB4-8308-1531FAD1780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85011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Прямоугольник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Прямоугольник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Прямоугольник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Скругленный прямоугольник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Скругленный прямоугольник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Прямоугольник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Прямоугольник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Прямоугольник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Прямоугольник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Прямоугольник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Прямоугольник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2B1FE2E-8ACB-4454-A1B6-7B7356C7F038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DAAEACB-7202-472E-A5DB-437BBD939B71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Enterprise+Risk+Management&amp;oq=%D0%BA%D0%B0%D0%BA+%D0%BF%D0%B5%D1%80%D0%B5%D0%B2%D0%B5%D1%81%D1%82%D0%B8+%D0%BA%D0%BE%D0%BD%D1%86%D0%B5%D0%BF%D1%86%D0%B8%D1%8E+%D0%B8%D0%BD%D1%82%D0%B5%D0%B3%D1%80%D0%B8%D1%80%D0%BE%D0%B2%D0%B0%D0%BD%D0%BD%D0%BE%D0%B3%D0%BE+%D1%80%D0%B8%D1%81%D0%BA%D0%B0+%D0%BF%D1%80%D0%BE%D0%B5%D0%BA%D1%82%D0%B0+EWRM&amp;gs_lcrp=EgZjaHJvbWUyBggAEEUYOTIJCAEQIRgKGKAB0gEJMTg1OThqMGo3qAIIsAIB8QVu19AzZUII9w&amp;sourceid=chrome&amp;ie=UTF-8&amp;mstk=AUtExfArto1aWUQfGTZ_z38xYHrHYPL0feyzMV8kJDpetkDbHhTn2QtWp9L-904YZQd2mu9xP4Zx5_29Gta5Gkmwwjb_heyQ_-5YgDOwsBEZWX7eY5FlzD6_4Kp-9e45CKKKQZfw4920MwEckbY3vPvJeSx2N49Y_iFLkmZAVAPtxtIunHlp-2Vx3oqXwC_cgiQ0IEIjzGnB23x3hyLx2GcXIg0L5QdPKdaiybKqU4cxFr9v9cK7rJje9B8EVql5uhkalxKYzTXLkhpPzdcMI1JRXtcVLKDsXL4j-pxAoA3fzy78tQ&amp;csui=3&amp;ved=2ahUKEwiH3IGrsruSAxWaBxAIHTpKFMkQgK4QegQIAxAE" TargetMode="External"/><Relationship Id="rId2" Type="http://schemas.openxmlformats.org/officeDocument/2006/relationships/hyperlink" Target="https://www.google.com/search?q=Enterprise+Wide+Risk+Management&amp;oq=%D0%BA%D0%B0%D0%BA+%D0%BF%D0%B5%D1%80%D0%B5%D0%B2%D0%B5%D1%81%D1%82%D0%B8+%D0%BA%D0%BE%D0%BD%D1%86%D0%B5%D0%BF%D1%86%D0%B8%D1%8E+%D0%B8%D0%BD%D1%82%D0%B5%D0%B3%D1%80%D0%B8%D1%80%D0%BE%D0%B2%D0%B0%D0%BD%D0%BD%D0%BE%D0%B3%D0%BE+%D1%80%D0%B8%D1%81%D0%BA%D0%B0+%D0%BF%D1%80%D0%BE%D0%B5%D0%BA%D1%82%D0%B0+EWRM&amp;gs_lcrp=EgZjaHJvbWUyBggAEEUYOTIJCAEQIRgKGKAB0gEJMTg1OThqMGo3qAIIsAIB8QVu19AzZUII9w&amp;sourceid=chrome&amp;ie=UTF-8&amp;ved=2ahUKEwiH3IGrsruSAxWaBxAIHTpKFMkQgK4QegQIARAB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gle.com/search?q=Integrated+Risk+Management&amp;oq=%D0%BA%D0%B0%D0%BA+%D0%BF%D0%B5%D1%80%D0%B5%D0%B2%D0%B5%D1%81%D1%82%D0%B8+%D0%BA%D0%BE%D0%BD%D1%86%D0%B5%D0%BF%D1%86%D0%B8%D1%8E+%D0%B8%D0%BD%D1%82%D0%B5%D0%B3%D1%80%D0%B8%D1%80%D0%BE%D0%B2%D0%B0%D0%BD%D0%BD%D0%BE%D0%B3%D0%BE+%D1%80%D0%B8%D1%81%D0%BA%D0%B0+%D0%BF%D1%80%D0%BE%D0%B5%D0%BA%D1%82%D0%B0+EWRM&amp;gs_lcrp=EgZjaHJvbWUyBggAEEUYOTIJCAEQIRgKGKAB0gEJMTg1OThqMGo3qAIIsAIB8QVu19AzZUII9w&amp;sourceid=chrome&amp;ie=UTF-8&amp;mstk=AUtExfArto1aWUQfGTZ_z38xYHrHYPL0feyzMV8kJDpetkDbHhTn2QtWp9L-904YZQd2mu9xP4Zx5_29Gta5Gkmwwjb_heyQ_-5YgDOwsBEZWX7eY5FlzD6_4Kp-9e45CKKKQZfw4920MwEckbY3vPvJeSx2N49Y_iFLkmZAVAPtxtIunHlp-2Vx3oqXwC_cgiQ0IEIjzGnB23x3hyLx2GcXIg0L5QdPKdaiybKqU4cxFr9v9cK7rJje9B8EVql5uhkalxKYzTXLkhpPzdcMI1JRXtcVLKDsXL4j-pxAoA3fzy78tQ&amp;csui=3&amp;ved=2ahUKEwiH3IGrsruSAxWaBxAIHTpKFMkQgK4QegQIAxAG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alfabank.ru/alfa-investor/t/krasnye-flagi-v-investitsiyah-gid-po-riska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E61E0-CF68-92C9-95BF-2C82ECDDA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67" y="1025586"/>
            <a:ext cx="7886700" cy="1395301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Тема 3. Оценка проекта в условиях</a:t>
            </a:r>
            <a:br>
              <a:rPr lang="en-US" sz="3200" b="1" dirty="0"/>
            </a:br>
            <a:r>
              <a:rPr lang="ru-RU" sz="3200" b="1" dirty="0"/>
              <a:t>неопределенности и риска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0C4C52-6D92-544B-E289-61BC1AA98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932" y="2996952"/>
            <a:ext cx="7342448" cy="2713652"/>
          </a:xfrm>
        </p:spPr>
        <p:txBody>
          <a:bodyPr>
            <a:normAutofit lnSpcReduction="10000"/>
          </a:bodyPr>
          <a:lstStyle/>
          <a:p>
            <a:pPr marL="385763" indent="-385763">
              <a:buFont typeface="+mj-lt"/>
              <a:buAutoNum type="arabicPeriod"/>
            </a:pPr>
            <a:r>
              <a:rPr lang="ru-RU" dirty="0"/>
              <a:t>Общие концепции инвестиционного риска и его оценка</a:t>
            </a:r>
            <a:endParaRPr lang="en-US" dirty="0"/>
          </a:p>
          <a:p>
            <a:pPr marL="385763" indent="-385763">
              <a:buFont typeface="+mj-lt"/>
              <a:buAutoNum type="arabicPeriod"/>
            </a:pPr>
            <a:r>
              <a:rPr lang="ru-RU" dirty="0"/>
              <a:t>Инвестиционный анализ и его методы: преимущества и недостатки</a:t>
            </a:r>
          </a:p>
          <a:p>
            <a:pPr marL="385763" indent="-385763">
              <a:buFont typeface="+mj-lt"/>
              <a:buAutoNum type="arabicPeriod"/>
            </a:pPr>
            <a:r>
              <a:rPr lang="ru-RU" dirty="0"/>
              <a:t>Риск-менеджмент инвестиционного проекта</a:t>
            </a:r>
          </a:p>
          <a:p>
            <a:pPr marL="385763" indent="-385763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5769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764704"/>
            <a:ext cx="8784976" cy="130108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3.1. Общие концепции инвестиционного риска и его оценка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4441680"/>
          </a:xfrm>
        </p:spPr>
        <p:txBody>
          <a:bodyPr>
            <a:normAutofit/>
          </a:bodyPr>
          <a:lstStyle/>
          <a:p>
            <a:r>
              <a:rPr lang="ru-RU" b="1" dirty="0"/>
              <a:t>Причины неопределённости</a:t>
            </a:r>
            <a:endParaRPr lang="ru-RU" dirty="0"/>
          </a:p>
          <a:p>
            <a:pPr lvl="1"/>
            <a:r>
              <a:rPr lang="ru-RU" dirty="0"/>
              <a:t>Неопределенность характеризуется</a:t>
            </a:r>
          </a:p>
          <a:p>
            <a:pPr lvl="2"/>
            <a:r>
              <a:rPr lang="ru-RU" dirty="0"/>
              <a:t>новизной</a:t>
            </a:r>
          </a:p>
          <a:p>
            <a:pPr lvl="2"/>
            <a:r>
              <a:rPr lang="ru-RU" dirty="0"/>
              <a:t>сложностью</a:t>
            </a:r>
          </a:p>
          <a:p>
            <a:pPr lvl="2"/>
            <a:r>
              <a:rPr lang="ru-RU" dirty="0"/>
              <a:t>противоречивостью результатов</a:t>
            </a:r>
          </a:p>
          <a:p>
            <a:pPr lvl="2"/>
            <a:r>
              <a:rPr lang="ru-RU" dirty="0"/>
              <a:t>непредсказуемостью результатов</a:t>
            </a:r>
          </a:p>
          <a:p>
            <a:pPr lvl="1"/>
            <a:r>
              <a:rPr lang="ru-RU" b="1" dirty="0"/>
              <a:t>Недостаток информации</a:t>
            </a:r>
          </a:p>
          <a:p>
            <a:pPr lvl="1"/>
            <a:r>
              <a:rPr lang="ru-RU" b="1" dirty="0"/>
              <a:t>Случайности</a:t>
            </a:r>
          </a:p>
          <a:p>
            <a:pPr lvl="1"/>
            <a:r>
              <a:rPr lang="ru-RU" b="1" dirty="0"/>
              <a:t>«Чёрные лебеди»</a:t>
            </a:r>
          </a:p>
        </p:txBody>
      </p:sp>
    </p:spTree>
    <p:extLst>
      <p:ext uri="{BB962C8B-B14F-4D97-AF65-F5344CB8AC3E}">
        <p14:creationId xmlns:p14="http://schemas.microsoft.com/office/powerpoint/2010/main" val="380470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3570" y="834627"/>
            <a:ext cx="8229600" cy="866181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b="1" dirty="0"/>
              <a:t>Критерии принятия решений в условиях неопределённости</a:t>
            </a:r>
            <a:endParaRPr lang="ru-RU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3" y="1916832"/>
                <a:ext cx="8712968" cy="4824535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ru-RU" dirty="0"/>
                  <a:t>Какое принять решение нужно выбрать</a:t>
                </a:r>
              </a:p>
              <a:p>
                <a:pPr lvl="1"/>
                <a:r>
                  <a:rPr lang="ru-RU" dirty="0"/>
                  <a:t>методики RICE и ICE</a:t>
                </a:r>
              </a:p>
              <a:p>
                <a:r>
                  <a:rPr lang="ru-RU" dirty="0"/>
                  <a:t>По методике RICE каждую гипотезу оценивают по четырём критериям</a:t>
                </a:r>
              </a:p>
              <a:p>
                <a:pPr lvl="1"/>
                <a:r>
                  <a:rPr lang="ru-RU" b="1" dirty="0" err="1"/>
                  <a:t>Reach</a:t>
                </a:r>
                <a:r>
                  <a:rPr lang="ru-RU" b="1" dirty="0"/>
                  <a:t> </a:t>
                </a:r>
                <a:r>
                  <a:rPr lang="ru-RU" dirty="0"/>
                  <a:t>(охват)</a:t>
                </a:r>
              </a:p>
              <a:p>
                <a:pPr lvl="1"/>
                <a:r>
                  <a:rPr lang="ru-RU" b="1" dirty="0"/>
                  <a:t>Impact </a:t>
                </a:r>
                <a:r>
                  <a:rPr lang="ru-RU" dirty="0"/>
                  <a:t>(эффект)</a:t>
                </a:r>
              </a:p>
              <a:p>
                <a:pPr lvl="1"/>
                <a:r>
                  <a:rPr lang="ru-RU" b="1" dirty="0" err="1"/>
                  <a:t>Confidence</a:t>
                </a:r>
                <a:r>
                  <a:rPr lang="ru-RU" b="1" dirty="0"/>
                  <a:t> </a:t>
                </a:r>
                <a:r>
                  <a:rPr lang="ru-RU" dirty="0"/>
                  <a:t>(уверенность)</a:t>
                </a:r>
              </a:p>
              <a:p>
                <a:pPr lvl="1"/>
                <a:r>
                  <a:rPr lang="ru-RU" b="1" dirty="0" err="1"/>
                  <a:t>Effort</a:t>
                </a:r>
                <a:r>
                  <a:rPr lang="ru-RU" b="1" dirty="0"/>
                  <a:t> </a:t>
                </a:r>
                <a:r>
                  <a:rPr lang="ru-RU" dirty="0"/>
                  <a:t>(усилия)</a:t>
                </a:r>
              </a:p>
              <a:p>
                <a:pPr lvl="1"/>
                <a:r>
                  <a:rPr lang="ru-RU" dirty="0"/>
                  <a:t>Вес каждой гипотезы рассчитывают по следующей формуле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ru-RU" dirty="0"/>
                  <a:t>По методике ICE каждую гипотезу оценивают по двум критериям</a:t>
                </a:r>
                <a:endParaRPr lang="en-US" dirty="0"/>
              </a:p>
              <a:p>
                <a:pPr lvl="1"/>
                <a:r>
                  <a:rPr lang="ru-RU" dirty="0"/>
                  <a:t>1. </a:t>
                </a:r>
                <a:r>
                  <a:rPr lang="ru-RU" b="1" dirty="0" err="1"/>
                  <a:t>Reach</a:t>
                </a:r>
                <a:r>
                  <a:rPr lang="ru-RU" b="1" dirty="0"/>
                  <a:t> </a:t>
                </a:r>
                <a:r>
                  <a:rPr lang="ru-RU" dirty="0"/>
                  <a:t>(охват) вместе с </a:t>
                </a:r>
                <a:r>
                  <a:rPr lang="ru-RU" b="1" dirty="0" err="1"/>
                  <a:t>Effort</a:t>
                </a:r>
                <a:r>
                  <a:rPr lang="ru-RU" b="1" dirty="0"/>
                  <a:t> </a:t>
                </a:r>
                <a:r>
                  <a:rPr lang="ru-RU" dirty="0"/>
                  <a:t>(эффектом)</a:t>
                </a:r>
                <a:endParaRPr lang="en-US" dirty="0"/>
              </a:p>
              <a:p>
                <a:pPr lvl="1"/>
                <a:r>
                  <a:rPr lang="ru-RU" dirty="0"/>
                  <a:t>2. </a:t>
                </a:r>
                <a:r>
                  <a:rPr lang="ru-RU" b="1" dirty="0" err="1"/>
                  <a:t>Ease</a:t>
                </a:r>
                <a:r>
                  <a:rPr lang="ru-RU" b="1" dirty="0"/>
                  <a:t> </a:t>
                </a:r>
                <a:r>
                  <a:rPr lang="ru-RU" dirty="0"/>
                  <a:t>—вместо </a:t>
                </a:r>
                <a:r>
                  <a:rPr lang="ru-RU" b="1" dirty="0" err="1"/>
                  <a:t>Effort</a:t>
                </a:r>
                <a:endParaRPr lang="en-US" dirty="0"/>
              </a:p>
              <a:p>
                <a:r>
                  <a:rPr lang="ru-RU" dirty="0"/>
                  <a:t>Если точных данных для варианта решения нет, для оценки трёх критериев используют условные единицы</a:t>
                </a:r>
                <a:endParaRPr lang="en-US" dirty="0"/>
              </a:p>
              <a:p>
                <a:pPr lvl="1"/>
                <a:r>
                  <a:rPr lang="ru-RU" b="1" dirty="0" err="1"/>
                  <a:t>Impact</a:t>
                </a:r>
                <a:r>
                  <a:rPr lang="ru-RU" b="1" dirty="0"/>
                  <a:t> </a:t>
                </a:r>
                <a:r>
                  <a:rPr lang="ru-RU" dirty="0"/>
                  <a:t>(влияние + выгода) оценивают по 10-балльной шкале</a:t>
                </a:r>
                <a:endParaRPr lang="en-US" dirty="0"/>
              </a:p>
              <a:p>
                <a:pPr lvl="1"/>
                <a:r>
                  <a:rPr lang="ru-RU" b="1" dirty="0" err="1"/>
                  <a:t>Confidence</a:t>
                </a:r>
                <a:r>
                  <a:rPr lang="ru-RU" b="1" dirty="0"/>
                  <a:t> </a:t>
                </a:r>
                <a:r>
                  <a:rPr lang="ru-RU" dirty="0"/>
                  <a:t>(уверенность) оценивают по шкале от 1 до 10 или в процентах</a:t>
                </a:r>
                <a:endParaRPr lang="en-US" dirty="0"/>
              </a:p>
              <a:p>
                <a:pPr lvl="1"/>
                <a:r>
                  <a:rPr lang="ru-RU" b="1" dirty="0" err="1"/>
                  <a:t>Ease</a:t>
                </a:r>
                <a:r>
                  <a:rPr lang="ru-RU" b="1" dirty="0"/>
                  <a:t> </a:t>
                </a:r>
                <a:r>
                  <a:rPr lang="ru-RU" dirty="0"/>
                  <a:t>можно измерить либо в человеко-днях или человеко-часах, либо по шкале от 1 до 10</a:t>
                </a:r>
                <a:endParaRPr lang="en-US" dirty="0"/>
              </a:p>
              <a:p>
                <a:pPr lvl="1"/>
                <a:r>
                  <a:rPr lang="ru-RU" dirty="0"/>
                  <a:t>Чтобы рассчитать вес каждой гипотезы, оценки для каждого критерия перемножают</a:t>
                </a: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3" y="1916832"/>
                <a:ext cx="8712968" cy="4824535"/>
              </a:xfrm>
              <a:blipFill>
                <a:blip r:embed="rId2"/>
                <a:stretch>
                  <a:fillRect t="-17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7157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9592" y="836712"/>
            <a:ext cx="7886700" cy="1440160"/>
          </a:xfrm>
        </p:spPr>
        <p:txBody>
          <a:bodyPr>
            <a:noAutofit/>
          </a:bodyPr>
          <a:lstStyle/>
          <a:p>
            <a:r>
              <a:rPr lang="ru-RU" sz="2700" dirty="0"/>
              <a:t>ПРИМЕР</a:t>
            </a:r>
            <a:br>
              <a:rPr lang="ru-RU" sz="2700" dirty="0"/>
            </a:br>
            <a:r>
              <a:rPr lang="ru-RU" sz="2000" dirty="0"/>
              <a:t>Надо сравнить открытие юридического лица в другой стране и перевод денег через дружественные компании</a:t>
            </a:r>
            <a:endParaRPr lang="ru-RU" sz="27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290441"/>
              </p:ext>
            </p:extLst>
          </p:nvPr>
        </p:nvGraphicFramePr>
        <p:xfrm>
          <a:off x="539552" y="2592288"/>
          <a:ext cx="8064896" cy="3558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408">
                  <a:extLst>
                    <a:ext uri="{9D8B030D-6E8A-4147-A177-3AD203B41FA5}">
                      <a16:colId xmlns:a16="http://schemas.microsoft.com/office/drawing/2014/main" val="4056361030"/>
                    </a:ext>
                  </a:extLst>
                </a:gridCol>
                <a:gridCol w="4392488">
                  <a:extLst>
                    <a:ext uri="{9D8B030D-6E8A-4147-A177-3AD203B41FA5}">
                      <a16:colId xmlns:a16="http://schemas.microsoft.com/office/drawing/2014/main" val="3642753810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Открываем юридическое</a:t>
                      </a:r>
                      <a:r>
                        <a:rPr lang="ru-RU" sz="1800" baseline="0" dirty="0"/>
                        <a:t> </a:t>
                      </a:r>
                      <a:r>
                        <a:rPr lang="ru-RU" sz="1800" dirty="0"/>
                        <a:t>лицо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Переводим деньги альтернативными способами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6777525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800" dirty="0"/>
                        <a:t>Влияние на бизнес — 7 из 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800" dirty="0"/>
                        <a:t>Влияние на бизнес — 7 из 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473289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Уверенность в результате — 50/50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Уверенность в результате высокая, но имеется неопределённость — 70%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787007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Лёгкость процессов и ресурсов — 3 из 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Лёгкость процессов и ресурсов — 6 из 10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9596121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ru-RU" sz="1800" dirty="0" err="1"/>
                        <a:t>Impact</a:t>
                      </a:r>
                      <a:r>
                        <a:rPr lang="ru-RU" sz="1800" dirty="0"/>
                        <a:t> (7) × </a:t>
                      </a:r>
                      <a:r>
                        <a:rPr lang="ru-RU" sz="1800" dirty="0" err="1"/>
                        <a:t>Confidence</a:t>
                      </a:r>
                      <a:r>
                        <a:rPr lang="ru-RU" sz="1800" dirty="0"/>
                        <a:t> (50%) х </a:t>
                      </a:r>
                      <a:r>
                        <a:rPr lang="ru-RU" sz="1800" dirty="0" err="1"/>
                        <a:t>Ease</a:t>
                      </a:r>
                      <a:r>
                        <a:rPr lang="ru-RU" sz="1800" dirty="0"/>
                        <a:t> (3) = 10,5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800" dirty="0" err="1"/>
                        <a:t>Impact</a:t>
                      </a:r>
                      <a:r>
                        <a:rPr lang="ru-RU" sz="1800" dirty="0"/>
                        <a:t> (7) × </a:t>
                      </a:r>
                      <a:r>
                        <a:rPr lang="ru-RU" sz="1800" dirty="0" err="1"/>
                        <a:t>Confidence</a:t>
                      </a:r>
                      <a:r>
                        <a:rPr lang="ru-RU" sz="1800" dirty="0"/>
                        <a:t> (70%) x </a:t>
                      </a:r>
                      <a:r>
                        <a:rPr lang="ru-RU" sz="1800" dirty="0" err="1"/>
                        <a:t>Ease</a:t>
                      </a:r>
                      <a:r>
                        <a:rPr lang="ru-RU" sz="1800" dirty="0"/>
                        <a:t> (6) = 29,4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97649727"/>
                  </a:ext>
                </a:extLst>
              </a:tr>
              <a:tr h="278130">
                <a:tc gridSpan="2"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Вывод: у второго варианта оценка выше,</a:t>
                      </a:r>
                    </a:p>
                    <a:p>
                      <a:pPr algn="ctr"/>
                      <a:r>
                        <a:rPr lang="ru-RU" sz="2000" dirty="0"/>
                        <a:t>лучше выбрать его</a:t>
                      </a: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494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7333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22D93-36FA-6044-FF23-5F0282BF9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98" y="620688"/>
            <a:ext cx="4543909" cy="1800200"/>
          </a:xfrm>
        </p:spPr>
        <p:txBody>
          <a:bodyPr>
            <a:normAutofit/>
          </a:bodyPr>
          <a:lstStyle/>
          <a:p>
            <a:pPr>
              <a:buFont typeface="Georgia" panose="02040502050405020303" pitchFamily="18" charset="0"/>
              <a:buNone/>
              <a:defRPr/>
            </a:pPr>
            <a:r>
              <a:rPr lang="ru-RU" altLang="ru-RU" sz="3200" dirty="0"/>
              <a:t>Учет риска в инвестиционно-финансовых решениях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99A43F-E6C3-5A1A-A41C-24646FD52E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3568" y="2780928"/>
            <a:ext cx="7776864" cy="3816424"/>
          </a:xfrm>
        </p:spPr>
        <p:txBody>
          <a:bodyPr>
            <a:normAutofit/>
          </a:bodyPr>
          <a:lstStyle/>
          <a:p>
            <a:r>
              <a:rPr lang="ru-RU" altLang="ru-RU" sz="2400" dirty="0"/>
              <a:t>Риск в китайских иероглифах выражен через два символа</a:t>
            </a:r>
          </a:p>
          <a:p>
            <a:r>
              <a:rPr lang="ru-RU" altLang="ru-RU" sz="2400" dirty="0"/>
              <a:t>В финансовой терминологии есть аналоги</a:t>
            </a:r>
          </a:p>
          <a:p>
            <a:r>
              <a:rPr lang="ru-RU" altLang="ru-RU" sz="2400" dirty="0"/>
              <a:t>Существенные отличия отношения к риску</a:t>
            </a:r>
          </a:p>
          <a:p>
            <a:pPr lvl="1"/>
            <a:r>
              <a:rPr lang="ru-RU" altLang="ru-RU" sz="2000" dirty="0"/>
              <a:t>Менеджер</a:t>
            </a:r>
          </a:p>
          <a:p>
            <a:pPr lvl="1"/>
            <a:r>
              <a:rPr lang="ru-RU" altLang="ru-RU" sz="2000" dirty="0"/>
              <a:t>Акционер</a:t>
            </a:r>
            <a:endParaRPr lang="ru-RU" altLang="ru-RU" sz="3200" dirty="0"/>
          </a:p>
          <a:p>
            <a:r>
              <a:rPr lang="ru-RU" altLang="ru-RU" sz="2400" dirty="0"/>
              <a:t>Финансовый инвестор - _______________</a:t>
            </a:r>
          </a:p>
          <a:p>
            <a:pPr lvl="1"/>
            <a:r>
              <a:rPr lang="ru-RU" altLang="ru-RU" sz="2000" dirty="0"/>
              <a:t>Независимый</a:t>
            </a:r>
          </a:p>
          <a:p>
            <a:pPr lvl="1"/>
            <a:r>
              <a:rPr lang="ru-RU" altLang="ru-RU" sz="2000" dirty="0"/>
              <a:t>Гибкий</a:t>
            </a:r>
          </a:p>
          <a:p>
            <a:pPr lvl="1"/>
            <a:r>
              <a:rPr lang="ru-RU" altLang="ru-RU" sz="2000" dirty="0"/>
              <a:t>Целевой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D9F36F94-841B-4FA3-C346-C02A9AB49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095" y="944166"/>
            <a:ext cx="1741885" cy="956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2CB1B7C-356D-A19C-8E7B-72C2DFC6E26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85900" y="1063229"/>
            <a:ext cx="6211491" cy="857250"/>
          </a:xfrm>
        </p:spPr>
        <p:txBody>
          <a:bodyPr>
            <a:normAutofit/>
          </a:bodyPr>
          <a:lstStyle/>
          <a:p>
            <a:pPr eaLnBrk="1" hangingPunct="1">
              <a:buFont typeface="Georgia" panose="02040502050405020303" pitchFamily="18" charset="0"/>
              <a:buNone/>
              <a:defRPr/>
            </a:pPr>
            <a:r>
              <a:rPr lang="ru-RU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Риск есть всегда</a:t>
            </a:r>
          </a:p>
        </p:txBody>
      </p:sp>
      <p:sp>
        <p:nvSpPr>
          <p:cNvPr id="7171" name="Rectangle 28">
            <a:extLst>
              <a:ext uri="{FF2B5EF4-FFF2-40B4-BE49-F238E27FC236}">
                <a16:creationId xmlns:a16="http://schemas.microsoft.com/office/drawing/2014/main" id="{770C6952-C76B-826C-1E3D-BBBC2963A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72585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ru-RU" altLang="ru-RU" sz="180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27B9B1D-70FA-A3D0-13CB-6836137C231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5536" y="2196705"/>
            <a:ext cx="8352928" cy="3956649"/>
            <a:chOff x="1701" y="1134"/>
            <a:chExt cx="9355" cy="5916"/>
          </a:xfrm>
        </p:grpSpPr>
        <p:sp>
          <p:nvSpPr>
            <p:cNvPr id="4123" name="AutoShape 27">
              <a:extLst>
                <a:ext uri="{FF2B5EF4-FFF2-40B4-BE49-F238E27FC236}">
                  <a16:creationId xmlns:a16="http://schemas.microsoft.com/office/drawing/2014/main" id="{15E95223-2E8E-69A5-D1F4-533C75B5C8D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701" y="1134"/>
              <a:ext cx="9355" cy="5916"/>
            </a:xfrm>
            <a:prstGeom prst="rect">
              <a:avLst/>
            </a:prstGeom>
            <a:blipFill>
              <a:blip r:embed="rId2" cstate="print"/>
              <a:tile tx="0" ty="0" sx="100000" sy="100000" flip="none" algn="tl"/>
            </a:blipFill>
            <a:ln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>
                <a:defRPr/>
              </a:pPr>
              <a:endParaRPr lang="ru-RU" sz="1350"/>
            </a:p>
          </p:txBody>
        </p:sp>
        <p:sp>
          <p:nvSpPr>
            <p:cNvPr id="4122" name="Text Box 26">
              <a:extLst>
                <a:ext uri="{FF2B5EF4-FFF2-40B4-BE49-F238E27FC236}">
                  <a16:creationId xmlns:a16="http://schemas.microsoft.com/office/drawing/2014/main" id="{608AA24D-B4ED-442E-CD27-ACDE51E243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0" y="1471"/>
              <a:ext cx="6646" cy="58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algn="ctr">
                <a:defRPr/>
              </a:pPr>
              <a:r>
                <a:rPr lang="ru-RU" sz="1200" dirty="0">
                  <a:cs typeface="Times New Roman" pitchFamily="18" charset="0"/>
                </a:rPr>
                <a:t>Обусловливающие факторы</a:t>
              </a:r>
              <a:endParaRPr lang="ru-RU" sz="1350" dirty="0"/>
            </a:p>
          </p:txBody>
        </p:sp>
        <p:sp>
          <p:nvSpPr>
            <p:cNvPr id="4121" name="Text Box 25">
              <a:extLst>
                <a:ext uri="{FF2B5EF4-FFF2-40B4-BE49-F238E27FC236}">
                  <a16:creationId xmlns:a16="http://schemas.microsoft.com/office/drawing/2014/main" id="{DA5C19BE-276A-1C0C-AB34-9EC39DD120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0" y="2626"/>
              <a:ext cx="4110" cy="72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algn="ctr">
                <a:defRPr/>
              </a:pPr>
              <a:r>
                <a:rPr lang="ru-RU" sz="1200">
                  <a:cs typeface="Times New Roman" pitchFamily="18" charset="0"/>
                </a:rPr>
                <a:t>Неопределенность внешней среды</a:t>
              </a:r>
              <a:endParaRPr lang="ru-RU" sz="1350"/>
            </a:p>
          </p:txBody>
        </p:sp>
        <p:sp>
          <p:nvSpPr>
            <p:cNvPr id="4120" name="Text Box 24">
              <a:extLst>
                <a:ext uri="{FF2B5EF4-FFF2-40B4-BE49-F238E27FC236}">
                  <a16:creationId xmlns:a16="http://schemas.microsoft.com/office/drawing/2014/main" id="{317C68A3-23BA-474E-1795-A5D441BFC2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9" y="2626"/>
              <a:ext cx="3827" cy="7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algn="ctr">
                <a:defRPr/>
              </a:pPr>
              <a:r>
                <a:rPr lang="ru-RU" sz="1050">
                  <a:cs typeface="Times New Roman" pitchFamily="18" charset="0"/>
                </a:rPr>
                <a:t>Ограниченность ресурсов организации</a:t>
              </a:r>
              <a:endParaRPr lang="ru-RU" sz="1500"/>
            </a:p>
          </p:txBody>
        </p:sp>
        <p:sp>
          <p:nvSpPr>
            <p:cNvPr id="4119" name="Text Box 23">
              <a:extLst>
                <a:ext uri="{FF2B5EF4-FFF2-40B4-BE49-F238E27FC236}">
                  <a16:creationId xmlns:a16="http://schemas.microsoft.com/office/drawing/2014/main" id="{9BF2EAE0-98D5-8465-F387-BC920C9CC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1" y="3750"/>
              <a:ext cx="958" cy="315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vert270"/>
            <a:lstStyle/>
            <a:p>
              <a:pPr algn="ctr">
                <a:defRPr/>
              </a:pPr>
              <a:r>
                <a:rPr lang="ru-RU" sz="1050" dirty="0">
                  <a:latin typeface="Arial" pitchFamily="34" charset="0"/>
                  <a:ea typeface="Times New Roman" pitchFamily="18" charset="0"/>
                  <a:cs typeface="Arial" pitchFamily="34" charset="0"/>
                </a:rPr>
                <a:t>Неполнота и недостоверность информации</a:t>
              </a:r>
              <a:endParaRPr lang="ru-RU" sz="15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18" name="Text Box 22">
              <a:extLst>
                <a:ext uri="{FF2B5EF4-FFF2-40B4-BE49-F238E27FC236}">
                  <a16:creationId xmlns:a16="http://schemas.microsoft.com/office/drawing/2014/main" id="{E9BC0AC6-C33B-7C49-3BA3-446F45BF01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4" y="3750"/>
              <a:ext cx="1247" cy="315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vert270"/>
            <a:lstStyle/>
            <a:p>
              <a:pPr algn="ctr">
                <a:defRPr/>
              </a:pPr>
              <a:r>
                <a:rPr lang="ru-RU" sz="900" dirty="0">
                  <a:latin typeface="Arial" pitchFamily="34" charset="0"/>
                  <a:ea typeface="Times New Roman" pitchFamily="18" charset="0"/>
                  <a:cs typeface="Arial" pitchFamily="34" charset="0"/>
                </a:rPr>
                <a:t>Ограниченная способность менеджеров воспринимать и перерабатывать информацию</a:t>
              </a:r>
              <a:endParaRPr lang="ru-RU" sz="9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17" name="Text Box 21">
              <a:extLst>
                <a:ext uri="{FF2B5EF4-FFF2-40B4-BE49-F238E27FC236}">
                  <a16:creationId xmlns:a16="http://schemas.microsoft.com/office/drawing/2014/main" id="{F09B0C36-85F1-F1D0-D93F-CBC3DD3E9F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5" y="3750"/>
              <a:ext cx="1440" cy="315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vert270"/>
            <a:lstStyle/>
            <a:p>
              <a:pPr algn="ctr">
                <a:defRPr/>
              </a:pPr>
              <a:r>
                <a:rPr lang="ru-RU" sz="975" dirty="0">
                  <a:latin typeface="Arial" pitchFamily="34" charset="0"/>
                  <a:ea typeface="Times New Roman" pitchFamily="18" charset="0"/>
                  <a:cs typeface="Arial" pitchFamily="34" charset="0"/>
                </a:rPr>
                <a:t>Случайность появления неблагоприятных событий в процессе деятельности менеджера</a:t>
              </a:r>
              <a:endParaRPr lang="ru-RU" sz="975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16" name="Text Box 20">
              <a:extLst>
                <a:ext uri="{FF2B5EF4-FFF2-40B4-BE49-F238E27FC236}">
                  <a16:creationId xmlns:a16="http://schemas.microsoft.com/office/drawing/2014/main" id="{0D52E8C8-F5BD-6E91-1FE8-8E2C4FB1DB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5" y="3750"/>
              <a:ext cx="930" cy="315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vert270"/>
            <a:lstStyle/>
            <a:p>
              <a:pPr algn="ctr">
                <a:defRPr/>
              </a:pPr>
              <a:r>
                <a:rPr lang="ru-RU" sz="1050" dirty="0">
                  <a:latin typeface="Arial" pitchFamily="34" charset="0"/>
                  <a:ea typeface="Times New Roman" pitchFamily="18" charset="0"/>
                  <a:cs typeface="Arial" pitchFamily="34" charset="0"/>
                </a:rPr>
                <a:t>Противодействие конкурентов и контрагентов</a:t>
              </a:r>
              <a:endParaRPr lang="ru-RU" sz="15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15" name="Text Box 19">
              <a:extLst>
                <a:ext uri="{FF2B5EF4-FFF2-40B4-BE49-F238E27FC236}">
                  <a16:creationId xmlns:a16="http://schemas.microsoft.com/office/drawing/2014/main" id="{AEAFE4EE-2A90-25DE-8D5B-9DB6296BD5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0" y="3750"/>
              <a:ext cx="720" cy="31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vert270"/>
            <a:lstStyle/>
            <a:p>
              <a:pPr algn="ctr">
                <a:defRPr/>
              </a:pPr>
              <a:r>
                <a:rPr lang="ru-RU" sz="1050" dirty="0">
                  <a:latin typeface="Arial" pitchFamily="34" charset="0"/>
                  <a:ea typeface="Times New Roman" pitchFamily="18" charset="0"/>
                  <a:cs typeface="Arial" pitchFamily="34" charset="0"/>
                </a:rPr>
                <a:t>Материальные</a:t>
              </a:r>
              <a:endParaRPr lang="ru-RU" sz="15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14" name="Text Box 18">
              <a:extLst>
                <a:ext uri="{FF2B5EF4-FFF2-40B4-BE49-F238E27FC236}">
                  <a16:creationId xmlns:a16="http://schemas.microsoft.com/office/drawing/2014/main" id="{461B2709-2DA3-3860-1D85-BDF2CA3200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5" y="3750"/>
              <a:ext cx="690" cy="31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vert270"/>
            <a:lstStyle/>
            <a:p>
              <a:pPr algn="ctr">
                <a:defRPr/>
              </a:pPr>
              <a:r>
                <a:rPr lang="ru-RU" sz="1050" dirty="0">
                  <a:latin typeface="Arial" pitchFamily="34" charset="0"/>
                  <a:ea typeface="Times New Roman" pitchFamily="18" charset="0"/>
                  <a:cs typeface="Arial" pitchFamily="34" charset="0"/>
                </a:rPr>
                <a:t>Финансовые</a:t>
              </a:r>
              <a:endParaRPr lang="ru-RU" sz="15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13" name="Text Box 17">
              <a:extLst>
                <a:ext uri="{FF2B5EF4-FFF2-40B4-BE49-F238E27FC236}">
                  <a16:creationId xmlns:a16="http://schemas.microsoft.com/office/drawing/2014/main" id="{3A2ECF2D-6A2D-6417-D2A9-576FB82643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5" y="3750"/>
              <a:ext cx="660" cy="31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vert270"/>
            <a:lstStyle/>
            <a:p>
              <a:pPr algn="ctr">
                <a:defRPr/>
              </a:pPr>
              <a:r>
                <a:rPr lang="ru-RU" sz="1050" dirty="0">
                  <a:latin typeface="Arial" pitchFamily="34" charset="0"/>
                  <a:ea typeface="Times New Roman" pitchFamily="18" charset="0"/>
                  <a:cs typeface="Arial" pitchFamily="34" charset="0"/>
                </a:rPr>
                <a:t>Трудовые</a:t>
              </a:r>
              <a:endParaRPr lang="ru-RU" sz="15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12" name="Text Box 16">
              <a:extLst>
                <a:ext uri="{FF2B5EF4-FFF2-40B4-BE49-F238E27FC236}">
                  <a16:creationId xmlns:a16="http://schemas.microsoft.com/office/drawing/2014/main" id="{BC3017EC-9DF5-0575-628B-E1303DF8AC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0" y="3750"/>
              <a:ext cx="586" cy="307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vert270"/>
            <a:lstStyle/>
            <a:p>
              <a:pPr algn="ctr">
                <a:defRPr/>
              </a:pPr>
              <a:r>
                <a:rPr lang="ru-RU" sz="1050" dirty="0">
                  <a:latin typeface="Arial" pitchFamily="34" charset="0"/>
                  <a:ea typeface="Times New Roman" pitchFamily="18" charset="0"/>
                  <a:cs typeface="Arial" pitchFamily="34" charset="0"/>
                </a:rPr>
                <a:t>Временные</a:t>
              </a:r>
              <a:endParaRPr lang="ru-RU" sz="15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7185" name="AutoShape 15">
              <a:extLst>
                <a:ext uri="{FF2B5EF4-FFF2-40B4-BE49-F238E27FC236}">
                  <a16:creationId xmlns:a16="http://schemas.microsoft.com/office/drawing/2014/main" id="{AE479DF9-C8BE-4780-0A6A-D6528ED4D6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00" y="3495"/>
              <a:ext cx="424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86" name="AutoShape 14">
              <a:extLst>
                <a:ext uri="{FF2B5EF4-FFF2-40B4-BE49-F238E27FC236}">
                  <a16:creationId xmlns:a16="http://schemas.microsoft.com/office/drawing/2014/main" id="{EC8C942A-15E5-9DF2-0028-5C235F6B96B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65" y="3345"/>
              <a:ext cx="1" cy="15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87" name="AutoShape 13">
              <a:extLst>
                <a:ext uri="{FF2B5EF4-FFF2-40B4-BE49-F238E27FC236}">
                  <a16:creationId xmlns:a16="http://schemas.microsoft.com/office/drawing/2014/main" id="{6F274B51-8109-51DD-AE0A-FDD92E30EF8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99" y="3495"/>
              <a:ext cx="1" cy="2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88" name="AutoShape 12">
              <a:extLst>
                <a:ext uri="{FF2B5EF4-FFF2-40B4-BE49-F238E27FC236}">
                  <a16:creationId xmlns:a16="http://schemas.microsoft.com/office/drawing/2014/main" id="{D1D265FE-3619-1F70-90DF-0401A5FCF9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67" y="3495"/>
              <a:ext cx="1" cy="2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89" name="AutoShape 11">
              <a:extLst>
                <a:ext uri="{FF2B5EF4-FFF2-40B4-BE49-F238E27FC236}">
                  <a16:creationId xmlns:a16="http://schemas.microsoft.com/office/drawing/2014/main" id="{8E3E9984-CDF2-B62D-E3C8-18D2A0B5012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20" y="3495"/>
              <a:ext cx="15" cy="2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90" name="AutoShape 10">
              <a:extLst>
                <a:ext uri="{FF2B5EF4-FFF2-40B4-BE49-F238E27FC236}">
                  <a16:creationId xmlns:a16="http://schemas.microsoft.com/office/drawing/2014/main" id="{06896B79-F7C9-4093-CA7A-AC33510843E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645" y="3495"/>
              <a:ext cx="15" cy="2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91" name="AutoShape 9">
              <a:extLst>
                <a:ext uri="{FF2B5EF4-FFF2-40B4-BE49-F238E27FC236}">
                  <a16:creationId xmlns:a16="http://schemas.microsoft.com/office/drawing/2014/main" id="{64B7FF02-D8C9-08FD-3D3F-95EE1A1AA0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740" y="3495"/>
              <a:ext cx="2790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92" name="AutoShape 8">
              <a:extLst>
                <a:ext uri="{FF2B5EF4-FFF2-40B4-BE49-F238E27FC236}">
                  <a16:creationId xmlns:a16="http://schemas.microsoft.com/office/drawing/2014/main" id="{9E90161A-54D6-14DE-EF5D-AF828174E8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769" y="3495"/>
              <a:ext cx="1" cy="2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93" name="AutoShape 7">
              <a:extLst>
                <a:ext uri="{FF2B5EF4-FFF2-40B4-BE49-F238E27FC236}">
                  <a16:creationId xmlns:a16="http://schemas.microsoft.com/office/drawing/2014/main" id="{CA99DD92-F69E-4235-CF3D-29C821ADCB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730" y="3495"/>
              <a:ext cx="30" cy="2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94" name="AutoShape 6">
              <a:extLst>
                <a:ext uri="{FF2B5EF4-FFF2-40B4-BE49-F238E27FC236}">
                  <a16:creationId xmlns:a16="http://schemas.microsoft.com/office/drawing/2014/main" id="{09AD1365-91CC-0999-B891-14A271AEB05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645" y="3495"/>
              <a:ext cx="0" cy="2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95" name="AutoShape 5">
              <a:extLst>
                <a:ext uri="{FF2B5EF4-FFF2-40B4-BE49-F238E27FC236}">
                  <a16:creationId xmlns:a16="http://schemas.microsoft.com/office/drawing/2014/main" id="{6730B201-B8C6-7167-0FA2-E20B60F7F68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522" y="3495"/>
              <a:ext cx="1" cy="2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96" name="AutoShape 4">
              <a:extLst>
                <a:ext uri="{FF2B5EF4-FFF2-40B4-BE49-F238E27FC236}">
                  <a16:creationId xmlns:a16="http://schemas.microsoft.com/office/drawing/2014/main" id="{0EDAD63D-2A9D-238D-A3D9-A7681EDB7A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903" y="3345"/>
              <a:ext cx="52" cy="15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97" name="AutoShape 3">
              <a:extLst>
                <a:ext uri="{FF2B5EF4-FFF2-40B4-BE49-F238E27FC236}">
                  <a16:creationId xmlns:a16="http://schemas.microsoft.com/office/drawing/2014/main" id="{8689246A-A981-9813-1DFC-253484D1911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065" y="2055"/>
              <a:ext cx="2438" cy="57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98" name="AutoShape 2">
              <a:extLst>
                <a:ext uri="{FF2B5EF4-FFF2-40B4-BE49-F238E27FC236}">
                  <a16:creationId xmlns:a16="http://schemas.microsoft.com/office/drawing/2014/main" id="{907BCE21-22E6-45BC-16F2-67587AB0BF3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03" y="2055"/>
              <a:ext cx="2400" cy="57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764704"/>
            <a:ext cx="7886700" cy="517464"/>
          </a:xfrm>
        </p:spPr>
        <p:txBody>
          <a:bodyPr>
            <a:noAutofit/>
          </a:bodyPr>
          <a:lstStyle/>
          <a:p>
            <a:r>
              <a:rPr lang="ru-RU" dirty="0"/>
              <a:t>Инвестиционный риск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9929" y="1628800"/>
            <a:ext cx="8447210" cy="4680519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это вероятность потери инвестиций, неполучения дохода от инвестиций или обесценивания вложений</a:t>
            </a:r>
          </a:p>
          <a:p>
            <a:r>
              <a:rPr lang="ru-RU" dirty="0"/>
              <a:t>это опасность того, что результат инвестиций окажется хуже ожидаемого</a:t>
            </a:r>
            <a:endParaRPr lang="ru-RU" i="1" dirty="0"/>
          </a:p>
          <a:p>
            <a:r>
              <a:rPr lang="ru-RU" dirty="0"/>
              <a:t>возможность того, что инвестор понесет убытки или получит более низкую (чем ожидалось) прибыль от своих вложений</a:t>
            </a:r>
            <a:endParaRPr lang="ru-RU" i="1" dirty="0"/>
          </a:p>
          <a:p>
            <a:r>
              <a:rPr lang="ru-RU" dirty="0"/>
              <a:t>вероятность понести убытки по сравнению с ожидаемой доходностью капитала, с учетом толерантности к риску</a:t>
            </a:r>
          </a:p>
          <a:p>
            <a:pPr marL="109728" indent="0" algn="ctr">
              <a:buNone/>
            </a:pPr>
            <a:r>
              <a:rPr lang="ru-RU" i="1" dirty="0"/>
              <a:t>Финансовые риски являются неотъемлемой частью любого инвестиционного решения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1855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620688"/>
            <a:ext cx="7886700" cy="1152128"/>
          </a:xfrm>
        </p:spPr>
        <p:txBody>
          <a:bodyPr>
            <a:normAutofit fontScale="90000"/>
          </a:bodyPr>
          <a:lstStyle/>
          <a:p>
            <a:r>
              <a:rPr lang="ru-RU" dirty="0"/>
              <a:t>Типология инвестиционных (проектных) рисков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3" y="1916832"/>
            <a:ext cx="8208913" cy="4608512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риски можно классифицировать</a:t>
            </a:r>
          </a:p>
          <a:p>
            <a:pPr lvl="1"/>
            <a:r>
              <a:rPr lang="ru-RU" dirty="0"/>
              <a:t>по времени воздействия (краткосрочные и долгосрочные)</a:t>
            </a:r>
          </a:p>
          <a:p>
            <a:pPr lvl="1"/>
            <a:r>
              <a:rPr lang="ru-RU" dirty="0"/>
              <a:t>по степени влияния (высокие, средние, низкие)</a:t>
            </a:r>
          </a:p>
          <a:p>
            <a:pPr lvl="1"/>
            <a:r>
              <a:rPr lang="ru-RU" dirty="0"/>
              <a:t>по вероятности (чистые, спекулятивные)</a:t>
            </a:r>
          </a:p>
          <a:p>
            <a:r>
              <a:rPr lang="ru-RU" dirty="0"/>
              <a:t>категории для выстраивания защитной стратегии</a:t>
            </a:r>
          </a:p>
          <a:p>
            <a:pPr lvl="1"/>
            <a:r>
              <a:rPr lang="ru-RU" i="1" dirty="0"/>
              <a:t>систематические</a:t>
            </a:r>
            <a:r>
              <a:rPr lang="ru-RU" dirty="0"/>
              <a:t> риски связаны с внешними факторами, влияющими на весь рынок</a:t>
            </a:r>
          </a:p>
          <a:p>
            <a:pPr lvl="2"/>
            <a:r>
              <a:rPr lang="ru-RU" dirty="0"/>
              <a:t>рыночный риск (изменение цены актива); риск изменения процентных ставок; валютный риск; инфляция; политический риск</a:t>
            </a:r>
          </a:p>
          <a:p>
            <a:pPr lvl="1"/>
            <a:r>
              <a:rPr lang="ru-RU" i="1" dirty="0"/>
              <a:t>несистематические </a:t>
            </a:r>
            <a:r>
              <a:rPr lang="ru-RU" dirty="0"/>
              <a:t>риски связаны с конкретными инструментами</a:t>
            </a:r>
          </a:p>
          <a:p>
            <a:pPr lvl="2"/>
            <a:r>
              <a:rPr lang="ru-RU" dirty="0"/>
              <a:t>риск банкротства компании; риск невыплаты дивидендов; финансовый риск; операционный риск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88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2CDBFE-7DB3-DA11-EC1C-FAB3A51E5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509074" y="799383"/>
            <a:ext cx="7982022" cy="129495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altLang="ru-RU" sz="2800" dirty="0">
                <a:solidFill>
                  <a:srgbClr val="0070C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Общий риск складывается из суммы систематического и несистематического риска</a:t>
            </a:r>
            <a:endParaRPr lang="ru-RU" sz="27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4A21EF-7624-4C4A-C71D-46DC307C5106}"/>
              </a:ext>
            </a:extLst>
          </p:cNvPr>
          <p:cNvSpPr txBox="1"/>
          <p:nvPr/>
        </p:nvSpPr>
        <p:spPr>
          <a:xfrm>
            <a:off x="803512" y="2457450"/>
            <a:ext cx="97274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ru-RU" sz="1200" dirty="0">
                <a:latin typeface="Arial" charset="0"/>
                <a:cs typeface="Arial" charset="0"/>
              </a:rPr>
              <a:t>Проектный риск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F8EA1-6145-6AA8-C1D0-7E93FFD2C218}"/>
              </a:ext>
            </a:extLst>
          </p:cNvPr>
          <p:cNvSpPr txBox="1"/>
          <p:nvPr/>
        </p:nvSpPr>
        <p:spPr>
          <a:xfrm>
            <a:off x="1978706" y="2457450"/>
            <a:ext cx="1134665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ru-RU" sz="1200" dirty="0">
                <a:latin typeface="Arial" charset="0"/>
                <a:cs typeface="Arial" charset="0"/>
              </a:rPr>
              <a:t>Риск конкуренции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031C0C-4AF6-033A-7513-2FC3F3C1246B}"/>
              </a:ext>
            </a:extLst>
          </p:cNvPr>
          <p:cNvSpPr txBox="1"/>
          <p:nvPr/>
        </p:nvSpPr>
        <p:spPr>
          <a:xfrm>
            <a:off x="3365420" y="2457450"/>
            <a:ext cx="1134665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200" dirty="0">
                <a:latin typeface="Arial" charset="0"/>
                <a:cs typeface="Arial" charset="0"/>
              </a:rPr>
              <a:t>Отраслевой риск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AD6464-8FA1-6E4A-0282-92792D132F4B}"/>
              </a:ext>
            </a:extLst>
          </p:cNvPr>
          <p:cNvSpPr txBox="1"/>
          <p:nvPr/>
        </p:nvSpPr>
        <p:spPr>
          <a:xfrm>
            <a:off x="5148064" y="2453686"/>
            <a:ext cx="1566863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ru-RU" sz="1200" dirty="0">
                <a:latin typeface="Arial" charset="0"/>
                <a:cs typeface="Arial" charset="0"/>
              </a:rPr>
              <a:t>Политический, экологический риск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87454-58F9-61CD-CC83-2C695DD6A9DC}"/>
              </a:ext>
            </a:extLst>
          </p:cNvPr>
          <p:cNvSpPr txBox="1"/>
          <p:nvPr/>
        </p:nvSpPr>
        <p:spPr>
          <a:xfrm>
            <a:off x="7171405" y="2471511"/>
            <a:ext cx="135016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ru-RU" sz="1200" dirty="0">
                <a:latin typeface="Arial" charset="0"/>
                <a:cs typeface="Arial" charset="0"/>
              </a:rPr>
              <a:t>Риск инфляции, валютный риск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65AEA7-5F11-9979-3080-B36658AA6E47}"/>
              </a:ext>
            </a:extLst>
          </p:cNvPr>
          <p:cNvSpPr txBox="1"/>
          <p:nvPr/>
        </p:nvSpPr>
        <p:spPr>
          <a:xfrm>
            <a:off x="1776252" y="3158729"/>
            <a:ext cx="1787636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1200" dirty="0">
                <a:latin typeface="Arial" charset="0"/>
                <a:cs typeface="Arial" charset="0"/>
              </a:rPr>
              <a:t>Влияет на некоторые компании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2F4233-B017-5C1C-5EE5-19C0557B444B}"/>
              </a:ext>
            </a:extLst>
          </p:cNvPr>
          <p:cNvSpPr txBox="1"/>
          <p:nvPr/>
        </p:nvSpPr>
        <p:spPr>
          <a:xfrm>
            <a:off x="5841206" y="3158729"/>
            <a:ext cx="1899146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200" dirty="0">
                <a:latin typeface="Arial" charset="0"/>
                <a:cs typeface="Arial" charset="0"/>
              </a:rPr>
              <a:t>Влияет на большинство компаний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2EA9A6F1-6492-8DD7-449F-371A4E83D31C}"/>
              </a:ext>
            </a:extLst>
          </p:cNvPr>
          <p:cNvCxnSpPr/>
          <p:nvPr/>
        </p:nvCxnSpPr>
        <p:spPr>
          <a:xfrm>
            <a:off x="1628775" y="4076700"/>
            <a:ext cx="5886450" cy="1191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04368E1-53FA-22FA-93E7-516B6820C601}"/>
              </a:ext>
            </a:extLst>
          </p:cNvPr>
          <p:cNvSpPr txBox="1"/>
          <p:nvPr/>
        </p:nvSpPr>
        <p:spPr>
          <a:xfrm>
            <a:off x="611560" y="4293394"/>
            <a:ext cx="4022575" cy="13849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400" b="1" dirty="0">
                <a:latin typeface="Arial" charset="0"/>
                <a:cs typeface="Arial" charset="0"/>
              </a:rPr>
              <a:t>Диверсифицируемый риск - </a:t>
            </a:r>
            <a:r>
              <a:rPr lang="en-US" sz="1400" b="1" dirty="0">
                <a:latin typeface="Arial" charset="0"/>
                <a:cs typeface="Arial" charset="0"/>
              </a:rPr>
              <a:t>idiosyncratic</a:t>
            </a:r>
            <a:endParaRPr lang="ru-RU" sz="1400" b="1" dirty="0">
              <a:latin typeface="Arial" charset="0"/>
              <a:cs typeface="Arial" charset="0"/>
            </a:endParaRPr>
          </a:p>
          <a:p>
            <a:pPr>
              <a:defRPr/>
            </a:pPr>
            <a:r>
              <a:rPr lang="ru-RU" sz="1400" i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(несистематический, _______________)</a:t>
            </a:r>
          </a:p>
          <a:p>
            <a:pPr>
              <a:defRPr/>
            </a:pPr>
            <a:r>
              <a:rPr lang="ru-RU" sz="1400" dirty="0">
                <a:solidFill>
                  <a:srgbClr val="002060"/>
                </a:solidFill>
              </a:rPr>
              <a:t>конкретный объект инвестирования или деятельность конкретного инвестора; может быть предотвращен за счет диверсификации и эффективного управления проектом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D5FDE0-0AAF-D529-03F5-5AD604010A3F}"/>
              </a:ext>
            </a:extLst>
          </p:cNvPr>
          <p:cNvSpPr txBox="1"/>
          <p:nvPr/>
        </p:nvSpPr>
        <p:spPr>
          <a:xfrm>
            <a:off x="5308478" y="4339094"/>
            <a:ext cx="3312368" cy="13849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400" b="1" dirty="0" err="1">
                <a:latin typeface="Arial" charset="0"/>
                <a:cs typeface="Arial" charset="0"/>
              </a:rPr>
              <a:t>Недиверсифицируемый</a:t>
            </a:r>
            <a:r>
              <a:rPr lang="ru-RU" sz="1400" b="1" dirty="0">
                <a:latin typeface="Arial" charset="0"/>
                <a:cs typeface="Arial" charset="0"/>
              </a:rPr>
              <a:t> риск</a:t>
            </a:r>
          </a:p>
          <a:p>
            <a:pPr>
              <a:defRPr/>
            </a:pPr>
            <a:r>
              <a:rPr lang="ru-RU" sz="1400" i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(систематический, ___________)</a:t>
            </a:r>
            <a:endParaRPr lang="ru-RU" sz="1400" i="1" dirty="0"/>
          </a:p>
          <a:p>
            <a:pPr>
              <a:defRPr/>
            </a:pPr>
            <a:r>
              <a:rPr lang="ru-RU" sz="1400" dirty="0">
                <a:solidFill>
                  <a:srgbClr val="002060"/>
                </a:solidFill>
              </a:rPr>
              <a:t>для всех участников инвестиционной деятельности возникает из-за различных факторов, на которые инвестор повлиять не может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5277" y="836712"/>
            <a:ext cx="7886700" cy="754856"/>
          </a:xfrm>
        </p:spPr>
        <p:txBody>
          <a:bodyPr/>
          <a:lstStyle/>
          <a:p>
            <a:r>
              <a:rPr lang="ru-RU" dirty="0"/>
              <a:t>Оценка инвестиционного риска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833196"/>
            <a:ext cx="7886700" cy="4548131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это процесс определения ____________ убытков или недополучения прибыли по активу, включающий анализ рыночных, финансовых и политических факторов</a:t>
            </a:r>
          </a:p>
          <a:p>
            <a:r>
              <a:rPr lang="ru-RU" dirty="0"/>
              <a:t>производится диагностика рисков</a:t>
            </a:r>
          </a:p>
          <a:p>
            <a:pPr lvl="1"/>
            <a:r>
              <a:rPr lang="ru-RU" dirty="0"/>
              <a:t>используют инструменты инвестиционного анализа </a:t>
            </a:r>
          </a:p>
          <a:p>
            <a:pPr lvl="1"/>
            <a:r>
              <a:rPr lang="ru-RU" dirty="0"/>
              <a:t>количественную оценку рисков</a:t>
            </a:r>
          </a:p>
          <a:p>
            <a:pPr lvl="1"/>
            <a:r>
              <a:rPr lang="ru-RU" dirty="0"/>
              <a:t>качественную оценку рисков</a:t>
            </a:r>
          </a:p>
          <a:p>
            <a:pPr lvl="1"/>
            <a:r>
              <a:rPr lang="ru-RU" dirty="0"/>
              <a:t>элиминирование рисков</a:t>
            </a:r>
          </a:p>
          <a:p>
            <a:pPr lvl="1"/>
            <a:r>
              <a:rPr lang="ru-RU" dirty="0"/>
              <a:t>(корпоративный) портфельный анализ рисков</a:t>
            </a:r>
          </a:p>
          <a:p>
            <a:r>
              <a:rPr lang="ru-RU" dirty="0"/>
              <a:t>эффективная оценка учитывает риск-профиль инвестора и помогает ______________ потери через</a:t>
            </a:r>
          </a:p>
          <a:p>
            <a:pPr lvl="1"/>
            <a:r>
              <a:rPr lang="ru-RU" dirty="0"/>
              <a:t>диверсификацию</a:t>
            </a:r>
          </a:p>
          <a:p>
            <a:pPr lvl="1"/>
            <a:r>
              <a:rPr lang="ru-RU" dirty="0"/>
              <a:t>риск-менеджмент</a:t>
            </a:r>
          </a:p>
          <a:p>
            <a:pPr lvl="1"/>
            <a:r>
              <a:rPr lang="ru-RU" dirty="0"/>
              <a:t>интегрированное управление рисками инвестиционного проекта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604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ru-RU" dirty="0"/>
              <a:t>3.2. Инвестиционный анализ и его методы: преимущества и недостатки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444168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Определение</a:t>
            </a:r>
          </a:p>
          <a:p>
            <a:pPr lvl="1"/>
            <a:r>
              <a:rPr lang="ru-RU" dirty="0"/>
              <a:t>процесс изучения, оценивания и принятия решения инвестором относительно </a:t>
            </a:r>
            <a:r>
              <a:rPr lang="ru-RU" u="sng" dirty="0"/>
              <a:t>потенциальной</a:t>
            </a:r>
            <a:r>
              <a:rPr lang="ru-RU" dirty="0"/>
              <a:t> прибыльности инвестиционной возможности </a:t>
            </a:r>
          </a:p>
          <a:p>
            <a:pPr lvl="1"/>
            <a:r>
              <a:rPr lang="ru-RU" dirty="0"/>
              <a:t>включает оценку эффективности ПИФов, ценных бумаг или других типов инвестиций для определения их потенциальной доходности</a:t>
            </a:r>
          </a:p>
          <a:p>
            <a:r>
              <a:rPr lang="ru-RU" dirty="0"/>
              <a:t>Цель</a:t>
            </a:r>
          </a:p>
          <a:p>
            <a:pPr lvl="1"/>
            <a:r>
              <a:rPr lang="ru-RU" dirty="0"/>
              <a:t>помочь инвесторам принимать решения на основе данных, минимизируя риски и максимизируя доходность</a:t>
            </a:r>
          </a:p>
          <a:p>
            <a:r>
              <a:rPr lang="ru-RU" dirty="0"/>
              <a:t>Важный процесс в любом типе инвестирования — от индивидуального инвестирования до корпоративных финансов и управления активами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672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377" y="692696"/>
            <a:ext cx="8569103" cy="720080"/>
          </a:xfrm>
        </p:spPr>
        <p:txBody>
          <a:bodyPr>
            <a:noAutofit/>
          </a:bodyPr>
          <a:lstStyle/>
          <a:p>
            <a:r>
              <a:rPr lang="ru-RU" sz="3400" b="1" dirty="0"/>
              <a:t>Компоненты</a:t>
            </a:r>
            <a:r>
              <a:rPr lang="en-US" sz="3400" b="1" dirty="0"/>
              <a:t> </a:t>
            </a:r>
            <a:r>
              <a:rPr lang="ru-RU" sz="3400" b="1" dirty="0"/>
              <a:t>инвестиционного анализа</a:t>
            </a:r>
            <a:endParaRPr lang="ru-RU" sz="3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628800"/>
            <a:ext cx="8569104" cy="5040560"/>
          </a:xfrm>
        </p:spPr>
        <p:txBody>
          <a:bodyPr>
            <a:normAutofit fontScale="70000" lnSpcReduction="20000"/>
          </a:bodyPr>
          <a:lstStyle/>
          <a:p>
            <a:pPr marL="624078" indent="-514350">
              <a:buFont typeface="+mj-lt"/>
              <a:buAutoNum type="arabicPeriod"/>
            </a:pPr>
            <a:r>
              <a:rPr lang="ru-RU" b="1" dirty="0">
                <a:latin typeface="+mj-lt"/>
              </a:rPr>
              <a:t>Анализ рисков</a:t>
            </a:r>
          </a:p>
          <a:p>
            <a:pPr lvl="2"/>
            <a:r>
              <a:rPr lang="ru-RU" dirty="0">
                <a:latin typeface="+mj-lt"/>
              </a:rPr>
              <a:t>оценка потенциальных потерь в инвестициях</a:t>
            </a:r>
          </a:p>
          <a:p>
            <a:pPr lvl="2"/>
            <a:r>
              <a:rPr lang="ru-RU" dirty="0">
                <a:latin typeface="+mj-lt"/>
              </a:rPr>
              <a:t>риск из-за таких факторов, как волатильность рынка, инфляция и колебания процентных ставок</a:t>
            </a:r>
          </a:p>
          <a:p>
            <a:pPr lvl="2"/>
            <a:r>
              <a:rPr lang="ru-RU" dirty="0">
                <a:latin typeface="+mj-lt"/>
              </a:rPr>
              <a:t>что за риски и как они могут повлиять на доходность инвестиций</a:t>
            </a:r>
          </a:p>
          <a:p>
            <a:pPr marL="624078" indent="-514350">
              <a:buFont typeface="+mj-lt"/>
              <a:buAutoNum type="arabicPeriod"/>
            </a:pPr>
            <a:r>
              <a:rPr lang="ru-RU" b="1" dirty="0">
                <a:latin typeface="+mj-lt"/>
              </a:rPr>
              <a:t>Анализ возврата</a:t>
            </a:r>
          </a:p>
          <a:p>
            <a:pPr marL="1010412" lvl="2" indent="-342900"/>
            <a:r>
              <a:rPr lang="ru-RU" dirty="0">
                <a:latin typeface="+mj-lt"/>
              </a:rPr>
              <a:t>оценка потенциального возврата инвестиций по прошлым показателям</a:t>
            </a:r>
          </a:p>
          <a:p>
            <a:pPr marL="1010412" lvl="2" indent="-342900"/>
            <a:r>
              <a:rPr lang="ru-RU" dirty="0">
                <a:latin typeface="+mj-lt"/>
              </a:rPr>
              <a:t>оценка будущих прогнозов</a:t>
            </a:r>
          </a:p>
          <a:p>
            <a:pPr marL="1010412" lvl="2" indent="-342900"/>
            <a:r>
              <a:rPr lang="ru-RU" dirty="0">
                <a:latin typeface="+mj-lt"/>
              </a:rPr>
              <a:t>сравнение потенциальных инвестиций с другими на рынке</a:t>
            </a:r>
          </a:p>
          <a:p>
            <a:pPr marL="624078" indent="-514350">
              <a:buFont typeface="+mj-lt"/>
              <a:buAutoNum type="arabicPeriod"/>
            </a:pPr>
            <a:r>
              <a:rPr lang="ru-RU" b="1" dirty="0">
                <a:latin typeface="+mj-lt"/>
              </a:rPr>
              <a:t>Финансовый анализ</a:t>
            </a:r>
          </a:p>
          <a:p>
            <a:pPr marL="1124712" lvl="2" indent="-457200"/>
            <a:r>
              <a:rPr lang="ru-RU" dirty="0">
                <a:latin typeface="+mj-lt"/>
              </a:rPr>
              <a:t>изучение финансовой отчетности компании для понимания ее прибыльности, финансового здоровья и потенциала роста</a:t>
            </a:r>
          </a:p>
          <a:p>
            <a:pPr marL="1124712" lvl="2" indent="-457200"/>
            <a:r>
              <a:rPr lang="ru-RU" dirty="0">
                <a:latin typeface="+mj-lt"/>
              </a:rPr>
              <a:t>ключевые показатели включают прибыль на акцию (EPS), отношение цены к прибыли (P/E) и отношение долга к собственному капиталу (D/E)…</a:t>
            </a:r>
          </a:p>
          <a:p>
            <a:pPr marL="624078" indent="-514350">
              <a:buFont typeface="+mj-lt"/>
              <a:buAutoNum type="arabicPeriod"/>
            </a:pPr>
            <a:r>
              <a:rPr lang="ru-RU" b="1" dirty="0">
                <a:latin typeface="+mj-lt"/>
              </a:rPr>
              <a:t>Оценка стоимости</a:t>
            </a:r>
          </a:p>
          <a:p>
            <a:pPr lvl="2"/>
            <a:r>
              <a:rPr lang="ru-RU" dirty="0">
                <a:latin typeface="+mj-lt"/>
              </a:rPr>
              <a:t>процесс определения внутренней стоимости компании или актива</a:t>
            </a:r>
          </a:p>
          <a:p>
            <a:pPr lvl="2"/>
            <a:r>
              <a:rPr lang="ru-RU" dirty="0">
                <a:latin typeface="+mj-lt"/>
              </a:rPr>
              <a:t>недооцененные / переоцененные инвестиции - внутренняя стоимость _______ / ___________ текущей рыночной стоимости</a:t>
            </a:r>
          </a:p>
        </p:txBody>
      </p:sp>
    </p:spTree>
    <p:extLst>
      <p:ext uri="{BB962C8B-B14F-4D97-AF65-F5344CB8AC3E}">
        <p14:creationId xmlns:p14="http://schemas.microsoft.com/office/powerpoint/2010/main" val="1070509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595" y="692696"/>
            <a:ext cx="8222809" cy="371180"/>
          </a:xfrm>
        </p:spPr>
        <p:txBody>
          <a:bodyPr>
            <a:noAutofit/>
          </a:bodyPr>
          <a:lstStyle/>
          <a:p>
            <a:r>
              <a:rPr lang="ru-RU" sz="3200" b="1" dirty="0"/>
              <a:t>Методы инвестиционного анализа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0595" y="1196752"/>
            <a:ext cx="8453808" cy="54006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</a:pPr>
            <a:r>
              <a:rPr lang="ru-RU" sz="1400" b="1" dirty="0"/>
              <a:t>Фундаментальный анализ</a:t>
            </a:r>
          </a:p>
          <a:p>
            <a:pPr marL="806958" lvl="1" indent="-514350">
              <a:spcBef>
                <a:spcPts val="0"/>
              </a:spcBef>
            </a:pPr>
            <a:r>
              <a:rPr lang="ru-RU" sz="1400" dirty="0"/>
              <a:t>включает оценку внутренней стоимости ценной бумаги путем изучения связанных экономических, финансовых и других качественных и количественных факторов</a:t>
            </a:r>
          </a:p>
          <a:p>
            <a:pPr marL="806958" lvl="1" indent="-514350">
              <a:spcBef>
                <a:spcPts val="0"/>
              </a:spcBef>
            </a:pPr>
            <a:r>
              <a:rPr lang="ru-RU" sz="1400" dirty="0"/>
              <a:t>цель состоит в том, чтобы создать стоимость, которую инвестор может сравнить с текущей ценой ценной бумаги</a:t>
            </a:r>
          </a:p>
          <a:p>
            <a:pPr marL="806958" lvl="1" indent="-514350">
              <a:spcBef>
                <a:spcPts val="0"/>
              </a:spcBef>
            </a:pPr>
            <a:r>
              <a:rPr lang="ru-RU" sz="1400" dirty="0"/>
              <a:t>аналитики рассматривают общие экономические и отраслевые условия, а также финансовое состояние и управление самой компанией</a:t>
            </a:r>
          </a:p>
          <a:p>
            <a:pPr marL="514350" indent="-514350">
              <a:spcBef>
                <a:spcPts val="0"/>
              </a:spcBef>
            </a:pPr>
            <a:r>
              <a:rPr lang="ru-RU" sz="1400" b="1" dirty="0"/>
              <a:t>Технический анализ</a:t>
            </a:r>
          </a:p>
          <a:p>
            <a:pPr marL="806958" lvl="1" indent="-514350">
              <a:spcBef>
                <a:spcPts val="0"/>
              </a:spcBef>
            </a:pPr>
            <a:r>
              <a:rPr lang="ru-RU" sz="1400" dirty="0"/>
              <a:t>фокусируется на моделях движения цен, торговых сигналах и других аналитических инструментах построения графиков для оценки силы или слабости ценной бумаги</a:t>
            </a:r>
          </a:p>
          <a:p>
            <a:pPr marL="806958" lvl="1" indent="-514350">
              <a:spcBef>
                <a:spcPts val="0"/>
              </a:spcBef>
            </a:pPr>
            <a:r>
              <a:rPr lang="ru-RU" sz="1400" dirty="0"/>
              <a:t>основан на идее, что рыночные цены отражают всю релевантную информацию</a:t>
            </a:r>
          </a:p>
          <a:p>
            <a:pPr marL="806958" lvl="1" indent="-514350">
              <a:spcBef>
                <a:spcPts val="0"/>
              </a:spcBef>
            </a:pPr>
            <a:r>
              <a:rPr lang="ru-RU" sz="1400" dirty="0"/>
              <a:t>аналитики ищут на графиках такие модели, как «голова и плечи», «двойные вершины» и «флаги», чтобы предсказать будущие движения цен</a:t>
            </a:r>
          </a:p>
          <a:p>
            <a:pPr marL="514350" indent="-514350">
              <a:spcBef>
                <a:spcPts val="0"/>
              </a:spcBef>
            </a:pPr>
            <a:r>
              <a:rPr lang="ru-RU" sz="1400" b="1" dirty="0"/>
              <a:t>Количественный анализ</a:t>
            </a:r>
          </a:p>
          <a:p>
            <a:pPr marL="806958" lvl="1" indent="-514350">
              <a:spcBef>
                <a:spcPts val="0"/>
              </a:spcBef>
            </a:pPr>
            <a:r>
              <a:rPr lang="ru-RU" sz="1400" dirty="0"/>
              <a:t>в значительной степени опирается на математическое и статистическое моделирование</a:t>
            </a:r>
          </a:p>
          <a:p>
            <a:pPr marL="806958" lvl="1" indent="-514350">
              <a:spcBef>
                <a:spcPts val="0"/>
              </a:spcBef>
            </a:pPr>
            <a:r>
              <a:rPr lang="ru-RU" sz="1400" dirty="0"/>
              <a:t>создание моделей, которые могут предсказывать будущие движения цен или определять инвестиционные риски (EPS, P/E, ROE); математические модели для прогнозирования</a:t>
            </a:r>
          </a:p>
          <a:p>
            <a:pPr marL="806958" lvl="1" indent="-514350">
              <a:spcBef>
                <a:spcPts val="0"/>
              </a:spcBef>
            </a:pPr>
            <a:r>
              <a:rPr lang="ru-RU" sz="1400" dirty="0"/>
              <a:t>аналитики используют широкий спектр инструментов, включая компьютерные программы, для оценки финансовых рынков и ценных бумаг</a:t>
            </a:r>
          </a:p>
          <a:p>
            <a:pPr marL="514350" indent="-514350">
              <a:spcBef>
                <a:spcPts val="0"/>
              </a:spcBef>
            </a:pPr>
            <a:r>
              <a:rPr lang="ru-RU" sz="1400" b="1" dirty="0"/>
              <a:t>Качественный анализ</a:t>
            </a:r>
          </a:p>
          <a:p>
            <a:pPr marL="806958" lvl="1" indent="-514350">
              <a:spcBef>
                <a:spcPts val="0"/>
              </a:spcBef>
            </a:pPr>
            <a:r>
              <a:rPr lang="ru-RU" sz="1400" dirty="0"/>
              <a:t>включает оценку качества совета директоров компании, интеллектуальной собственности, бизнес-модели и конкурентного преимущества на рынке</a:t>
            </a:r>
          </a:p>
          <a:p>
            <a:pPr marL="806958" lvl="1" indent="-514350">
              <a:spcBef>
                <a:spcPts val="0"/>
              </a:spcBef>
            </a:pPr>
            <a:r>
              <a:rPr lang="ru-RU" sz="1400" dirty="0"/>
              <a:t>качественные факторы могут быть более субъективными и их сложнее измерить, чем количественные, тем не менее, важны при принятии инвестиционных решений</a:t>
            </a:r>
          </a:p>
          <a:p>
            <a:pPr marL="514350" indent="-514350">
              <a:spcBef>
                <a:spcPts val="0"/>
              </a:spcBef>
            </a:pP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95206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594" y="692696"/>
            <a:ext cx="8222810" cy="864096"/>
          </a:xfrm>
        </p:spPr>
        <p:txBody>
          <a:bodyPr>
            <a:noAutofit/>
          </a:bodyPr>
          <a:lstStyle/>
          <a:p>
            <a:r>
              <a:rPr lang="ru-RU" sz="2800" b="1" dirty="0"/>
              <a:t>Инструменты фундаментального и технического анализа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0594" y="1916832"/>
            <a:ext cx="8287869" cy="4608512"/>
          </a:xfrm>
        </p:spPr>
        <p:txBody>
          <a:bodyPr>
            <a:normAutofit fontScale="62500" lnSpcReduction="20000"/>
          </a:bodyPr>
          <a:lstStyle/>
          <a:p>
            <a:r>
              <a:rPr lang="ru-RU" dirty="0">
                <a:latin typeface="+mj-lt"/>
              </a:rPr>
              <a:t>Инструменты, используемые в фундаментальном анализе, оценивают финансовые показатели компании, ее положения в отрасли и рыночных условий для определения ее внутренней стоимости</a:t>
            </a:r>
          </a:p>
          <a:p>
            <a:pPr lvl="1"/>
            <a:r>
              <a:rPr lang="ru-RU" b="1" dirty="0">
                <a:latin typeface="+mj-lt"/>
              </a:rPr>
              <a:t>Финансовые отчеты</a:t>
            </a:r>
            <a:r>
              <a:rPr lang="ru-RU" dirty="0">
                <a:latin typeface="+mj-lt"/>
              </a:rPr>
              <a:t> (балансы, ОФР и отчеты о движении денежных средств) предоставляют важную информацию о финансовом состоянии компании</a:t>
            </a:r>
          </a:p>
          <a:p>
            <a:pPr lvl="1"/>
            <a:r>
              <a:rPr lang="ru-RU" b="1" dirty="0">
                <a:latin typeface="+mj-lt"/>
              </a:rPr>
              <a:t>Коэффициенты</a:t>
            </a:r>
            <a:r>
              <a:rPr lang="ru-RU" dirty="0">
                <a:latin typeface="+mj-lt"/>
              </a:rPr>
              <a:t> </a:t>
            </a:r>
            <a:r>
              <a:rPr lang="en-US" dirty="0">
                <a:latin typeface="+mj-lt"/>
              </a:rPr>
              <a:t>[</a:t>
            </a:r>
            <a:r>
              <a:rPr lang="ru-RU" dirty="0">
                <a:latin typeface="+mj-lt"/>
              </a:rPr>
              <a:t>цена/прибыль (P/E), долг/капитал (D/E) и рентабельность капитала (ROE)</a:t>
            </a:r>
            <a:r>
              <a:rPr lang="en-US" dirty="0">
                <a:latin typeface="+mj-lt"/>
              </a:rPr>
              <a:t>]</a:t>
            </a:r>
            <a:r>
              <a:rPr lang="ru-RU" dirty="0">
                <a:latin typeface="+mj-lt"/>
              </a:rPr>
              <a:t> используются для сравнения результатов деятельности компании с показателями ее аналогов</a:t>
            </a:r>
          </a:p>
          <a:p>
            <a:pPr lvl="1"/>
            <a:r>
              <a:rPr lang="ru-RU" b="1" dirty="0">
                <a:latin typeface="+mj-lt"/>
              </a:rPr>
              <a:t>Экономические показатели</a:t>
            </a:r>
            <a:r>
              <a:rPr lang="ru-RU" dirty="0">
                <a:latin typeface="+mj-lt"/>
              </a:rPr>
              <a:t> (уровень безработицы, рост ВВП, темпы инфляции…) могут дать представление об общем состоянии экономики</a:t>
            </a:r>
          </a:p>
          <a:p>
            <a:r>
              <a:rPr lang="ru-RU" dirty="0">
                <a:latin typeface="+mj-lt"/>
              </a:rPr>
              <a:t>Инструменты, используемые в техническом анализе, позволяют проанализировать статистические тенденции</a:t>
            </a:r>
          </a:p>
          <a:p>
            <a:pPr lvl="1"/>
            <a:r>
              <a:rPr lang="ru-RU" b="1" dirty="0">
                <a:latin typeface="+mj-lt"/>
              </a:rPr>
              <a:t>‍Графические модели</a:t>
            </a:r>
            <a:r>
              <a:rPr lang="ru-RU" dirty="0">
                <a:latin typeface="+mj-lt"/>
              </a:rPr>
              <a:t> («голова и плечи», «двойная вершина» и др.) могут помочь предсказать будущие движения цен</a:t>
            </a:r>
          </a:p>
          <a:p>
            <a:pPr lvl="1"/>
            <a:r>
              <a:rPr lang="ru-RU" b="1" dirty="0">
                <a:latin typeface="+mj-lt"/>
              </a:rPr>
              <a:t>Технические индикаторы</a:t>
            </a:r>
            <a:r>
              <a:rPr lang="ru-RU" dirty="0">
                <a:latin typeface="+mj-lt"/>
              </a:rPr>
              <a:t> (скользящие средние, индекс относительной силы (RSI) и полосы </a:t>
            </a:r>
            <a:r>
              <a:rPr lang="ru-RU" dirty="0" err="1">
                <a:latin typeface="+mj-lt"/>
              </a:rPr>
              <a:t>Боллинджера</a:t>
            </a:r>
            <a:r>
              <a:rPr lang="ru-RU" dirty="0">
                <a:latin typeface="+mj-lt"/>
              </a:rPr>
              <a:t>) могут сигнализировать о потенциальных точках покупки или продажи</a:t>
            </a:r>
          </a:p>
          <a:p>
            <a:pPr lvl="1"/>
            <a:r>
              <a:rPr lang="ru-RU" b="1" dirty="0">
                <a:latin typeface="+mj-lt"/>
              </a:rPr>
              <a:t>Объем и импульс</a:t>
            </a:r>
            <a:r>
              <a:rPr lang="ru-RU" dirty="0">
                <a:latin typeface="+mj-lt"/>
              </a:rPr>
              <a:t> (сила движения цены) указывает на вероятность продолжения или разворота тренда</a:t>
            </a:r>
          </a:p>
        </p:txBody>
      </p:sp>
    </p:spTree>
    <p:extLst>
      <p:ext uri="{BB962C8B-B14F-4D97-AF65-F5344CB8AC3E}">
        <p14:creationId xmlns:p14="http://schemas.microsoft.com/office/powerpoint/2010/main" val="2735271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692696"/>
            <a:ext cx="6172200" cy="69158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100" b="1" dirty="0"/>
              <a:t>Сильные и слабые стороны количественного и качественного анализа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6407751"/>
              </p:ext>
            </p:extLst>
          </p:nvPr>
        </p:nvGraphicFramePr>
        <p:xfrm>
          <a:off x="480478" y="1484784"/>
          <a:ext cx="8183043" cy="4899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5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7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ru-RU" sz="1400" b="1" dirty="0">
                          <a:effectLst/>
                        </a:rPr>
                        <a:t>Количественный анализ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effectLst/>
                        </a:rPr>
                        <a:t>Качественный анализ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0">
                <a:tc>
                  <a:txBody>
                    <a:bodyPr/>
                    <a:lstStyle/>
                    <a:p>
                      <a:r>
                        <a:rPr lang="ru-RU" sz="1400" b="1" dirty="0">
                          <a:effectLst/>
                        </a:rPr>
                        <a:t>Сильные стороны</a:t>
                      </a:r>
                      <a:endParaRPr lang="ru-RU" sz="1400" dirty="0"/>
                    </a:p>
                    <a:p>
                      <a:r>
                        <a:rPr lang="ru-RU" sz="1400" dirty="0">
                          <a:effectLst/>
                        </a:rPr>
                        <a:t>Предоставляет конкретные, </a:t>
                      </a:r>
                      <a:r>
                        <a:rPr lang="ru-RU" sz="1400" u="sng" dirty="0">
                          <a:effectLst/>
                        </a:rPr>
                        <a:t>измеримые</a:t>
                      </a:r>
                      <a:r>
                        <a:rPr lang="ru-RU" sz="1400" dirty="0">
                          <a:effectLst/>
                        </a:rPr>
                        <a:t> данные, которые могут помочь в принятии решений</a:t>
                      </a:r>
                      <a:endParaRPr lang="ru-RU" sz="1400" dirty="0"/>
                    </a:p>
                    <a:p>
                      <a:r>
                        <a:rPr lang="ru-RU" sz="1400" dirty="0">
                          <a:effectLst/>
                        </a:rPr>
                        <a:t>Легче </a:t>
                      </a:r>
                      <a:r>
                        <a:rPr lang="ru-RU" sz="1400" u="sng" dirty="0">
                          <a:effectLst/>
                        </a:rPr>
                        <a:t>сравнивать</a:t>
                      </a:r>
                      <a:r>
                        <a:rPr lang="ru-RU" sz="1400" dirty="0">
                          <a:effectLst/>
                        </a:rPr>
                        <a:t> и сопоставлять с другими компаниями или отраслями</a:t>
                      </a:r>
                      <a:endParaRPr lang="ru-RU" sz="1400" dirty="0"/>
                    </a:p>
                    <a:p>
                      <a:r>
                        <a:rPr lang="ru-RU" sz="1400" dirty="0">
                          <a:effectLst/>
                        </a:rPr>
                        <a:t>Широко приняты в качестве стандартных методов оценки и анализа рисков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effectLst/>
                        </a:rPr>
                        <a:t>Сильные стороны</a:t>
                      </a:r>
                      <a:endParaRPr lang="ru-RU" sz="1400" dirty="0"/>
                    </a:p>
                    <a:p>
                      <a:r>
                        <a:rPr lang="ru-RU" sz="1400" dirty="0">
                          <a:effectLst/>
                        </a:rPr>
                        <a:t>Может предоставить информацию об аспектах, </a:t>
                      </a:r>
                      <a:r>
                        <a:rPr lang="ru-RU" sz="1400" u="sng" dirty="0">
                          <a:effectLst/>
                        </a:rPr>
                        <a:t>не отраженных в финансо</a:t>
                      </a:r>
                      <a:r>
                        <a:rPr lang="ru-RU" sz="1400" dirty="0">
                          <a:effectLst/>
                        </a:rPr>
                        <a:t>вых данных, таких как качество управления или тенденции в отрасли</a:t>
                      </a:r>
                      <a:endParaRPr lang="ru-RU" sz="1400" dirty="0"/>
                    </a:p>
                    <a:p>
                      <a:r>
                        <a:rPr lang="ru-RU" sz="1400" dirty="0">
                          <a:effectLst/>
                        </a:rPr>
                        <a:t>Помогает понять бизнес-модель, </a:t>
                      </a:r>
                      <a:r>
                        <a:rPr lang="ru-RU" sz="1400" u="sng" dirty="0">
                          <a:effectLst/>
                        </a:rPr>
                        <a:t>конкурентные</a:t>
                      </a:r>
                      <a:r>
                        <a:rPr lang="ru-RU" sz="1400" dirty="0">
                          <a:effectLst/>
                        </a:rPr>
                        <a:t> преимущества и положение компании на рынке</a:t>
                      </a:r>
                      <a:endParaRPr lang="ru-RU" sz="1400" dirty="0"/>
                    </a:p>
                    <a:p>
                      <a:r>
                        <a:rPr lang="ru-RU" sz="1400" dirty="0">
                          <a:effectLst/>
                        </a:rPr>
                        <a:t>Полезен для выявления </a:t>
                      </a:r>
                      <a:r>
                        <a:rPr lang="ru-RU" sz="1400" u="sng" dirty="0">
                          <a:effectLst/>
                        </a:rPr>
                        <a:t>нефинансовых рисков</a:t>
                      </a:r>
                      <a:r>
                        <a:rPr lang="ru-RU" sz="1400" dirty="0">
                          <a:effectLst/>
                        </a:rPr>
                        <a:t>, таких как изменения в регулировании или потенциальные судебные иски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0">
                <a:tc>
                  <a:txBody>
                    <a:bodyPr/>
                    <a:lstStyle/>
                    <a:p>
                      <a:r>
                        <a:rPr lang="ru-RU" sz="1400" b="1" dirty="0">
                          <a:effectLst/>
                        </a:rPr>
                        <a:t>Ограничения</a:t>
                      </a:r>
                      <a:endParaRPr lang="ru-RU" sz="1400" dirty="0"/>
                    </a:p>
                    <a:p>
                      <a:r>
                        <a:rPr lang="ru-RU" sz="1400" dirty="0">
                          <a:effectLst/>
                        </a:rPr>
                        <a:t>Может не отражать полную картину, поскольку в первую очередь фокусируется на цифрах и может </a:t>
                      </a:r>
                      <a:r>
                        <a:rPr lang="ru-RU" sz="1400" u="sng" dirty="0">
                          <a:effectLst/>
                        </a:rPr>
                        <a:t>игнорировать</a:t>
                      </a:r>
                      <a:r>
                        <a:rPr lang="ru-RU" sz="1400" dirty="0">
                          <a:effectLst/>
                        </a:rPr>
                        <a:t> качественные факторы</a:t>
                      </a:r>
                      <a:endParaRPr lang="ru-RU" sz="1400" dirty="0"/>
                    </a:p>
                    <a:p>
                      <a:r>
                        <a:rPr lang="ru-RU" sz="1400" dirty="0">
                          <a:effectLst/>
                        </a:rPr>
                        <a:t>В значительной степени полагаться на </a:t>
                      </a:r>
                      <a:r>
                        <a:rPr lang="ru-RU" sz="1400" u="sng" dirty="0">
                          <a:effectLst/>
                        </a:rPr>
                        <a:t>исторические</a:t>
                      </a:r>
                      <a:r>
                        <a:rPr lang="ru-RU" sz="1400" dirty="0">
                          <a:effectLst/>
                        </a:rPr>
                        <a:t> данные и предположения, которые могут оказаться неверными в будущем</a:t>
                      </a:r>
                      <a:endParaRPr lang="ru-RU" sz="1400" dirty="0"/>
                    </a:p>
                    <a:p>
                      <a:r>
                        <a:rPr lang="ru-RU" sz="1400" dirty="0">
                          <a:effectLst/>
                        </a:rPr>
                        <a:t>Часто требуются глубокие математические и статистические знания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effectLst/>
                        </a:rPr>
                        <a:t>Ограничения</a:t>
                      </a:r>
                      <a:endParaRPr lang="ru-RU" sz="1400" dirty="0"/>
                    </a:p>
                    <a:p>
                      <a:r>
                        <a:rPr lang="ru-RU" sz="1400" dirty="0">
                          <a:effectLst/>
                        </a:rPr>
                        <a:t>Более </a:t>
                      </a:r>
                      <a:r>
                        <a:rPr lang="ru-RU" sz="1400" u="sng" dirty="0">
                          <a:effectLst/>
                        </a:rPr>
                        <a:t>субъективен</a:t>
                      </a:r>
                      <a:r>
                        <a:rPr lang="ru-RU" sz="1400" dirty="0">
                          <a:effectLst/>
                        </a:rPr>
                        <a:t> и может по-разному интерпретироваться разными аналитиками</a:t>
                      </a:r>
                      <a:endParaRPr lang="ru-RU" sz="1400" dirty="0"/>
                    </a:p>
                    <a:p>
                      <a:r>
                        <a:rPr lang="ru-RU" sz="1400" dirty="0">
                          <a:effectLst/>
                        </a:rPr>
                        <a:t>Сбор и анализ качественной информации может занять </a:t>
                      </a:r>
                      <a:r>
                        <a:rPr lang="ru-RU" sz="1400" u="sng" dirty="0">
                          <a:effectLst/>
                        </a:rPr>
                        <a:t>много времени</a:t>
                      </a:r>
                      <a:endParaRPr lang="ru-RU" sz="1400" u="sng" dirty="0"/>
                    </a:p>
                    <a:p>
                      <a:r>
                        <a:rPr lang="ru-RU" sz="1400" dirty="0">
                          <a:effectLst/>
                        </a:rPr>
                        <a:t>Отсутствует стандартизированная или числовая мера, что </a:t>
                      </a:r>
                      <a:r>
                        <a:rPr lang="ru-RU" sz="1400" u="sng" dirty="0">
                          <a:effectLst/>
                        </a:rPr>
                        <a:t>затрудняет сравнение </a:t>
                      </a:r>
                      <a:r>
                        <a:rPr lang="ru-RU" sz="1400" dirty="0">
                          <a:effectLst/>
                        </a:rPr>
                        <a:t>между разными компаниями или отраслями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675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91354" y="1131094"/>
            <a:ext cx="6776519" cy="99417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3. Риск-менеджмент инвестиционного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584" y="2780928"/>
            <a:ext cx="7773373" cy="2860506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Методы анализа рисков инвестиционных проектов</a:t>
            </a:r>
          </a:p>
          <a:p>
            <a:r>
              <a:rPr lang="ru-RU" dirty="0"/>
              <a:t>Корпоративный инвестиционный портфель</a:t>
            </a:r>
          </a:p>
          <a:p>
            <a:r>
              <a:rPr lang="ru-RU" dirty="0"/>
              <a:t>Концепция интегрированного управления рисками инвестиционного проекта (EWRM)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590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4ABD43-9A85-93B8-32B2-CE5D51F6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17" y="764704"/>
            <a:ext cx="8046833" cy="764767"/>
          </a:xfrm>
        </p:spPr>
        <p:txBody>
          <a:bodyPr>
            <a:noAutofit/>
          </a:bodyPr>
          <a:lstStyle/>
          <a:p>
            <a:r>
              <a:rPr lang="ru-RU" sz="2800" b="1" dirty="0"/>
              <a:t>Методы анализа рисков инвестиционных проектов (1)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BDF471-EC9E-15FF-97D7-5417BECB2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517" y="1760332"/>
            <a:ext cx="8283921" cy="462099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1. Бета (β) измеряет __________________ доходности акций относительно доходности рынка</a:t>
            </a:r>
          </a:p>
          <a:p>
            <a:pPr marL="0" indent="0">
              <a:buNone/>
            </a:pPr>
            <a:r>
              <a:rPr lang="ru-RU" dirty="0"/>
              <a:t>2. Сравнительный анализ компаний основан на показателях оценки аналогичных публичных компаний для определения стоимости рассматриваемой компании</a:t>
            </a:r>
          </a:p>
          <a:p>
            <a:pPr marL="0" indent="0">
              <a:buNone/>
            </a:pPr>
            <a:r>
              <a:rPr lang="ru-RU" dirty="0"/>
              <a:t>3. Анализ дисконтированных денежных потоков (DCF)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метод, используемый для оценки стоимости инвестиций на основе ___________  ____________ денежных потоков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ключевой инструмент оценки, помогающий аналитикам определить текущую стоимость ожидаемых будущих доходов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NPV, IRR, прогнозируемая финансовая отчетность</a:t>
            </a:r>
          </a:p>
          <a:p>
            <a:pPr marL="0" indent="0">
              <a:buNone/>
            </a:pPr>
            <a:r>
              <a:rPr lang="ru-RU" dirty="0"/>
              <a:t>4. ‍Анализ чувствительности используется для понимания того, как различные значения независимой переменной повлияют на конкретную зависимую переменную при заданном наборе предположений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330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93658" y="944724"/>
            <a:ext cx="6172200" cy="324036"/>
          </a:xfrm>
        </p:spPr>
        <p:txBody>
          <a:bodyPr>
            <a:noAutofit/>
          </a:bodyPr>
          <a:lstStyle/>
          <a:p>
            <a:r>
              <a:rPr lang="ru-RU" sz="2800" dirty="0"/>
              <a:t>Анализ чувствительности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556792"/>
            <a:ext cx="8198542" cy="4968552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довольно общий термин, и подразумевает множество возможных задач и методов моделирования</a:t>
            </a:r>
          </a:p>
          <a:p>
            <a:r>
              <a:rPr lang="ru-RU" dirty="0"/>
              <a:t>предназначен для моделирования влияния различных факторов на итоговые показатели в финансовой модели бизнеса или </a:t>
            </a:r>
            <a:r>
              <a:rPr lang="ru-RU" u="sng" dirty="0"/>
              <a:t>инвестиционного проекта</a:t>
            </a:r>
          </a:p>
          <a:p>
            <a:r>
              <a:rPr lang="ru-RU" dirty="0"/>
              <a:t>может применяться для следующих целей</a:t>
            </a:r>
          </a:p>
          <a:p>
            <a:pPr lvl="1"/>
            <a:r>
              <a:rPr lang="ru-RU" b="1" dirty="0"/>
              <a:t>выявление</a:t>
            </a:r>
            <a:r>
              <a:rPr lang="ru-RU" dirty="0"/>
              <a:t> наиболее значимых параметров модели</a:t>
            </a:r>
          </a:p>
          <a:p>
            <a:pPr lvl="1"/>
            <a:r>
              <a:rPr lang="ru-RU" b="1" dirty="0"/>
              <a:t>оценка</a:t>
            </a:r>
            <a:r>
              <a:rPr lang="ru-RU" dirty="0"/>
              <a:t> ожидаемых результатов в условиях неопределенности</a:t>
            </a:r>
          </a:p>
          <a:p>
            <a:pPr lvl="1"/>
            <a:r>
              <a:rPr lang="ru-RU" b="1" dirty="0"/>
              <a:t>стресс-тестирование</a:t>
            </a:r>
            <a:r>
              <a:rPr lang="ru-RU" dirty="0"/>
              <a:t> для определения способности бизнеса выдерживать колебания</a:t>
            </a:r>
          </a:p>
          <a:p>
            <a:r>
              <a:rPr lang="ru-RU" dirty="0"/>
              <a:t>объединяет четыре основных элемента</a:t>
            </a:r>
          </a:p>
          <a:p>
            <a:pPr marL="728663" lvl="1" indent="-385763">
              <a:buFont typeface="+mj-lt"/>
              <a:buAutoNum type="arabicPeriod"/>
            </a:pPr>
            <a:r>
              <a:rPr lang="ru-RU" dirty="0"/>
              <a:t>подготовленная модель бизнеса</a:t>
            </a:r>
          </a:p>
          <a:p>
            <a:pPr marL="728663" lvl="1" indent="-385763">
              <a:buFont typeface="+mj-lt"/>
              <a:buAutoNum type="arabicPeriod"/>
            </a:pPr>
            <a:r>
              <a:rPr lang="ru-RU" dirty="0"/>
              <a:t>сконцентрирован на одном из результатов модели, который выражается числом (например, ___ инвестиционного проекта или оценка бизнеса)</a:t>
            </a:r>
          </a:p>
          <a:p>
            <a:pPr marL="728663" lvl="1" indent="-385763">
              <a:buFont typeface="+mj-lt"/>
              <a:buAutoNum type="arabicPeriod"/>
            </a:pPr>
            <a:r>
              <a:rPr lang="ru-RU" dirty="0"/>
              <a:t>влияние одного или нескольких параметров модели на результат</a:t>
            </a:r>
          </a:p>
          <a:p>
            <a:pPr marL="1065276" lvl="2" indent="-457200"/>
            <a:r>
              <a:rPr lang="ru-RU" dirty="0"/>
              <a:t>можно менять параметры равномерно</a:t>
            </a:r>
          </a:p>
          <a:p>
            <a:pPr marL="1065276" lvl="2" indent="-457200"/>
            <a:r>
              <a:rPr lang="ru-RU" dirty="0"/>
              <a:t>можно выбирать их значения случайно, с учетом статистического распределения (по методу Монте-Карло)</a:t>
            </a:r>
          </a:p>
          <a:p>
            <a:pPr marL="728663" lvl="1" indent="-385763">
              <a:buFont typeface="+mj-lt"/>
              <a:buAutoNum type="arabicPeriod"/>
            </a:pPr>
            <a:r>
              <a:rPr lang="ru-RU" dirty="0"/>
              <a:t>итоговое графическое представление распределение результата при исследованных колебаниях параметров</a:t>
            </a:r>
          </a:p>
        </p:txBody>
      </p:sp>
    </p:spTree>
    <p:extLst>
      <p:ext uri="{BB962C8B-B14F-4D97-AF65-F5344CB8AC3E}">
        <p14:creationId xmlns:p14="http://schemas.microsoft.com/office/powerpoint/2010/main" val="93480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4" y="692696"/>
            <a:ext cx="7200800" cy="846094"/>
          </a:xfrm>
        </p:spPr>
        <p:txBody>
          <a:bodyPr>
            <a:noAutofit/>
          </a:bodyPr>
          <a:lstStyle/>
          <a:p>
            <a:r>
              <a:rPr lang="ru-RU" sz="2800" dirty="0"/>
              <a:t>Варианты реализации анализа чувствительности в финансовых моделях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9394" y="1700808"/>
            <a:ext cx="8163018" cy="4896544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статистические методы (например, Монте-Карло в простом варианте)</a:t>
            </a:r>
          </a:p>
          <a:p>
            <a:r>
              <a:rPr lang="ru-RU" dirty="0"/>
              <a:t>графики чувствительности помогают продемонстрировать зависимость результата от изменения одного из параметров проекта (например, итоговый результат)</a:t>
            </a:r>
          </a:p>
          <a:p>
            <a:r>
              <a:rPr lang="ru-RU" dirty="0"/>
              <a:t>таблицы чувствительности отслеживают изменение результата при колебаниях двух параметров (строки и столбцы), то есть позволяют просчитать зависимость сразу от двух характеристик</a:t>
            </a:r>
          </a:p>
          <a:p>
            <a:r>
              <a:rPr lang="ru-RU" dirty="0"/>
              <a:t>диаграммы Торнадо</a:t>
            </a:r>
          </a:p>
          <a:p>
            <a:pPr lvl="1"/>
            <a:r>
              <a:rPr lang="ru-RU" dirty="0"/>
              <a:t>сосредоточены только на крайних значениях отклонения изучаемых параметров</a:t>
            </a:r>
          </a:p>
          <a:p>
            <a:pPr lvl="1"/>
            <a:r>
              <a:rPr lang="ru-RU" dirty="0"/>
              <a:t>на диаграммах можно объединить анализ сразу по нескольким параметрам</a:t>
            </a:r>
          </a:p>
          <a:p>
            <a:pPr lvl="1"/>
            <a:r>
              <a:rPr lang="ru-RU" dirty="0"/>
              <a:t>отображается изменение итогового показателя при одинаковых колебаниях нескольких параметров модели</a:t>
            </a:r>
          </a:p>
          <a:p>
            <a:pPr lvl="1"/>
            <a:r>
              <a:rPr lang="ru-RU" dirty="0"/>
              <a:t>рассчитывают только два значения для каждого параметра - для положительного и отрицательного отклонения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0767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16254" y="1090247"/>
            <a:ext cx="3780420" cy="800100"/>
          </a:xfrm>
        </p:spPr>
        <p:txBody>
          <a:bodyPr>
            <a:normAutofit/>
          </a:bodyPr>
          <a:lstStyle/>
          <a:p>
            <a:pPr algn="ctr"/>
            <a:r>
              <a:rPr lang="ru-RU" sz="2800" dirty="0"/>
              <a:t>Диаграмма Торнадо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66205" y="2348880"/>
            <a:ext cx="2838592" cy="3744416"/>
          </a:xfrm>
        </p:spPr>
        <p:txBody>
          <a:bodyPr>
            <a:normAutofit/>
          </a:bodyPr>
          <a:lstStyle/>
          <a:p>
            <a:r>
              <a:rPr lang="ru-RU" sz="1400" dirty="0"/>
              <a:t>Итоговый вид диаграммы визуально напоминает воронку торнадо</a:t>
            </a:r>
          </a:p>
          <a:p>
            <a:r>
              <a:rPr lang="ru-RU" sz="1400" dirty="0"/>
              <a:t>Один из основных способов визуализации результатов</a:t>
            </a:r>
          </a:p>
          <a:p>
            <a:r>
              <a:rPr lang="ru-RU" sz="1400" dirty="0"/>
              <a:t>Полезен при сравнении относительной важности параметров с высокой степенью неопределённости с другими более стабильными параметрами</a:t>
            </a:r>
          </a:p>
        </p:txBody>
      </p:sp>
      <p:pic>
        <p:nvPicPr>
          <p:cNvPr id="6" name="Picture 2" descr="https://allgosts.ru/03/100/gost_r_58970-2020/gost_r_58970-2020_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521" y="2176872"/>
            <a:ext cx="5598502" cy="3190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2753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D83149-629A-FCC4-5FC6-AF08DEF6A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202" y="742938"/>
            <a:ext cx="7886700" cy="741846"/>
          </a:xfrm>
        </p:spPr>
        <p:txBody>
          <a:bodyPr>
            <a:noAutofit/>
          </a:bodyPr>
          <a:lstStyle/>
          <a:p>
            <a:r>
              <a:rPr lang="ru-RU" sz="2800" b="1" dirty="0"/>
              <a:t>Методы анализа рисков инвестиционных проектов (2)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3E4734-5286-8A3B-A5FE-521A88D82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28800"/>
            <a:ext cx="8590740" cy="496855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5. Моделирование методом Монте-Карло (</a:t>
            </a:r>
            <a:r>
              <a:rPr lang="ru-RU" dirty="0" err="1"/>
              <a:t>Monte</a:t>
            </a:r>
            <a:r>
              <a:rPr lang="ru-RU" dirty="0"/>
              <a:t>-Carlo)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dirty="0"/>
              <a:t>этот инструмент использует распределения вероятностей и случайную выборку для оценки будущих результатов инвестиций.</a:t>
            </a:r>
          </a:p>
          <a:p>
            <a:pPr marL="0" indent="0">
              <a:buNone/>
            </a:pPr>
            <a:r>
              <a:rPr lang="ru-RU" dirty="0"/>
              <a:t>6. Точка безубыточности инвестиционного проекта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 err="1"/>
              <a:t>Break-Even</a:t>
            </a:r>
            <a:r>
              <a:rPr lang="ru-RU" dirty="0"/>
              <a:t> Point, BEP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минимальный объём продаж или выручки, при котором доходы полностью покрывают постоянные и переменные затраты, а прибыль равна нулю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постоянные затраты делятся на разницу между ценой за единицу продукции и переменными затратами на единицу продукции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на графике точка безубыточности находится в месте пересечения линий совокупной выручки и общих затрат</a:t>
            </a:r>
          </a:p>
          <a:p>
            <a:pPr marL="0" indent="0">
              <a:buNone/>
            </a:pPr>
            <a:r>
              <a:rPr lang="ru-RU" dirty="0"/>
              <a:t>7. Портфельный анализ рисков  или Портфельный анализ Гарри </a:t>
            </a:r>
            <a:r>
              <a:rPr lang="ru-RU" dirty="0" err="1"/>
              <a:t>Марковица</a:t>
            </a:r>
            <a:r>
              <a:rPr lang="ru-RU" dirty="0"/>
              <a:t> (Modern </a:t>
            </a:r>
            <a:r>
              <a:rPr lang="ru-RU" dirty="0" err="1"/>
              <a:t>Portfolio</a:t>
            </a:r>
            <a:r>
              <a:rPr lang="ru-RU" dirty="0"/>
              <a:t> </a:t>
            </a:r>
            <a:r>
              <a:rPr lang="ru-RU" dirty="0" err="1"/>
              <a:t>Theory</a:t>
            </a:r>
            <a:r>
              <a:rPr lang="ru-RU" dirty="0"/>
              <a:t>, MPT)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метод оптимизации инвестиций, направленный на максимизацию доходности при заданном риске (волатильности) или минимизацию риска при целевой доходности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подход позволяет устранить несистематический (уникальный) риск актива, оставляя только систематический (рыночный) риск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оптимальный портфель — это точка баланса, где невозможно повысить доходность без увеличения риска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основа для корпоративного инвестиционного портфеля</a:t>
            </a:r>
          </a:p>
        </p:txBody>
      </p:sp>
    </p:spTree>
    <p:extLst>
      <p:ext uri="{BB962C8B-B14F-4D97-AF65-F5344CB8AC3E}">
        <p14:creationId xmlns:p14="http://schemas.microsoft.com/office/powerpoint/2010/main" val="93021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3208" y="1131095"/>
            <a:ext cx="7774664" cy="479857"/>
          </a:xfrm>
        </p:spPr>
        <p:txBody>
          <a:bodyPr>
            <a:normAutofit fontScale="90000"/>
          </a:bodyPr>
          <a:lstStyle/>
          <a:p>
            <a:r>
              <a:rPr lang="ru-RU" sz="2700" dirty="0"/>
              <a:t>Специализированное программное обеспечение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0615" y="1706013"/>
            <a:ext cx="8331452" cy="4074059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позволяет проводить комплексный анализ рисков инвестиционного портфеля</a:t>
            </a:r>
          </a:p>
          <a:p>
            <a:r>
              <a:rPr lang="ru-RU" dirty="0"/>
              <a:t>моделируют различные сценарии развития рынка</a:t>
            </a:r>
          </a:p>
          <a:p>
            <a:r>
              <a:rPr lang="ru-RU" dirty="0"/>
              <a:t>оценивают потенциальные потери</a:t>
            </a:r>
          </a:p>
          <a:p>
            <a:r>
              <a:rPr lang="ru-RU" dirty="0"/>
              <a:t>популярные методы, используемые в программном обеспечении:</a:t>
            </a:r>
          </a:p>
          <a:p>
            <a:pPr lvl="1"/>
            <a:r>
              <a:rPr lang="ru-RU" dirty="0"/>
              <a:t>метод Value </a:t>
            </a:r>
            <a:r>
              <a:rPr lang="ru-RU" dirty="0" err="1"/>
              <a:t>at</a:t>
            </a:r>
            <a:r>
              <a:rPr lang="ru-RU" dirty="0"/>
              <a:t> Risk (</a:t>
            </a:r>
            <a:r>
              <a:rPr lang="ru-RU" dirty="0" err="1"/>
              <a:t>VaR</a:t>
            </a:r>
            <a:r>
              <a:rPr lang="ru-RU" dirty="0"/>
              <a:t>) — статистический метод оценки возможных потерь</a:t>
            </a:r>
          </a:p>
          <a:p>
            <a:pPr lvl="1"/>
            <a:r>
              <a:rPr lang="ru-RU" dirty="0"/>
              <a:t>стресс-тестирование — моделирование влияния экстремальных рыночных условий</a:t>
            </a:r>
          </a:p>
          <a:p>
            <a:pPr lvl="1"/>
            <a:r>
              <a:rPr lang="ru-RU" dirty="0"/>
              <a:t>сценарный анализ</a:t>
            </a:r>
            <a:r>
              <a:rPr lang="en-US" dirty="0"/>
              <a:t> </a:t>
            </a:r>
            <a:r>
              <a:rPr lang="ru-RU" dirty="0"/>
              <a:t>или анализ сценариев — моделирование различных сценариев развития событий</a:t>
            </a:r>
          </a:p>
          <a:p>
            <a:pPr lvl="1"/>
            <a:r>
              <a:rPr lang="ru-RU" dirty="0"/>
              <a:t>дерево принятия решений — средство поддержки принятия решений, использующееся в машинном обучении, анализе данных и статистике (структура дерева представляет собой «листья» и «ветки», представление задачи в виде диаграмм)</a:t>
            </a:r>
          </a:p>
          <a:p>
            <a:r>
              <a:rPr lang="ru-RU" dirty="0"/>
              <a:t>современные технологии позволяют моделировать риски с учетом множества рыночных факторов</a:t>
            </a:r>
          </a:p>
        </p:txBody>
      </p:sp>
    </p:spTree>
    <p:extLst>
      <p:ext uri="{BB962C8B-B14F-4D97-AF65-F5344CB8AC3E}">
        <p14:creationId xmlns:p14="http://schemas.microsoft.com/office/powerpoint/2010/main" val="338201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8E0BB-96F4-B24F-1225-3FF8B5073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0A7EC4-7210-20A7-A8BA-D607D06FE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720"/>
            <a:ext cx="8229600" cy="1152128"/>
          </a:xfrm>
        </p:spPr>
        <p:txBody>
          <a:bodyPr>
            <a:noAutofit/>
          </a:bodyPr>
          <a:lstStyle/>
          <a:p>
            <a:r>
              <a:rPr lang="ru-RU" sz="3200" dirty="0"/>
              <a:t>Концепция интегрированного управления рисками инвестиционного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EFECE1-6C63-9478-6BD8-1E966AFD3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013" y="2060848"/>
            <a:ext cx="8390215" cy="4536503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Концепция </a:t>
            </a:r>
            <a:r>
              <a:rPr lang="ru-RU" dirty="0">
                <a:hlinkClick r:id="rId2"/>
              </a:rPr>
              <a:t>Enterprise Wide Risk Management</a:t>
            </a:r>
            <a:r>
              <a:rPr lang="ru-RU" dirty="0"/>
              <a:t> (EWRM)</a:t>
            </a:r>
          </a:p>
          <a:p>
            <a:pPr lvl="1"/>
            <a:r>
              <a:rPr lang="ru-RU" altLang="ru-RU" b="1" dirty="0">
                <a:solidFill>
                  <a:srgbClr val="0A0A0A"/>
                </a:solidFill>
                <a:latin typeface="Google Sans"/>
              </a:rPr>
              <a:t>Альтернативные термины:</a:t>
            </a:r>
            <a:r>
              <a:rPr lang="en-US" altLang="ru-RU" b="1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ru-RU" altLang="ru-RU" i="1" dirty="0">
                <a:solidFill>
                  <a:srgbClr val="0A0A0A"/>
                </a:solidFill>
                <a:latin typeface="Google Sans"/>
                <a:hlinkClick r:id="rId3"/>
              </a:rPr>
              <a:t>Enterprise Risk Management</a:t>
            </a:r>
            <a:r>
              <a:rPr lang="ru-RU" altLang="ru-RU" i="1" dirty="0">
                <a:solidFill>
                  <a:srgbClr val="0A0A0A"/>
                </a:solidFill>
                <a:latin typeface="Google Sans"/>
              </a:rPr>
              <a:t> (ERM)</a:t>
            </a:r>
            <a:r>
              <a:rPr lang="ru-RU" altLang="ru-RU" dirty="0">
                <a:solidFill>
                  <a:srgbClr val="0A0A0A"/>
                </a:solidFill>
                <a:latin typeface="Google Sans"/>
              </a:rPr>
              <a:t> — Управление рисками предприятия</a:t>
            </a:r>
            <a:r>
              <a:rPr lang="en-US" altLang="ru-RU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ru-RU" altLang="ru-RU" dirty="0">
                <a:solidFill>
                  <a:srgbClr val="0A0A0A"/>
                </a:solidFill>
                <a:latin typeface="Google Sans"/>
              </a:rPr>
              <a:t>ИЛИ </a:t>
            </a:r>
            <a:r>
              <a:rPr lang="ru-RU" altLang="ru-RU" i="1" dirty="0">
                <a:solidFill>
                  <a:srgbClr val="0A0A0A"/>
                </a:solidFill>
                <a:latin typeface="Google Sans"/>
                <a:hlinkClick r:id="rId4"/>
              </a:rPr>
              <a:t>Integrated Risk Management</a:t>
            </a:r>
            <a:r>
              <a:rPr lang="ru-RU" altLang="ru-RU" i="1" dirty="0">
                <a:solidFill>
                  <a:srgbClr val="0A0A0A"/>
                </a:solidFill>
                <a:latin typeface="Google Sans"/>
              </a:rPr>
              <a:t> (IRM)</a:t>
            </a:r>
            <a:r>
              <a:rPr lang="ru-RU" altLang="ru-RU" dirty="0">
                <a:solidFill>
                  <a:srgbClr val="0A0A0A"/>
                </a:solidFill>
                <a:latin typeface="Google Sans"/>
              </a:rPr>
              <a:t> — Интегрированное управление рисками</a:t>
            </a:r>
          </a:p>
          <a:p>
            <a:pPr lvl="1"/>
            <a:r>
              <a:rPr lang="ru-RU" dirty="0"/>
              <a:t>переводится как </a:t>
            </a:r>
            <a:r>
              <a:rPr lang="ru-RU" b="1" dirty="0"/>
              <a:t>«Общекорпоративное управление рисками»</a:t>
            </a:r>
            <a:r>
              <a:rPr lang="ru-RU" dirty="0"/>
              <a:t> или </a:t>
            </a:r>
            <a:r>
              <a:rPr lang="ru-RU" b="1" dirty="0"/>
              <a:t>«Комплексное управление рисками на уровне всей организации»</a:t>
            </a:r>
          </a:p>
          <a:p>
            <a:pPr lvl="1"/>
            <a:r>
              <a:rPr lang="ru-RU" dirty="0"/>
              <a:t>это системный подход, объединяющий оценку всех видов рисков — финансовых, стратегических, внешних и эксплуатационных — в единую стратегию</a:t>
            </a:r>
          </a:p>
          <a:p>
            <a:pPr lvl="1"/>
            <a:r>
              <a:rPr lang="ru-RU" altLang="ru-RU" dirty="0">
                <a:solidFill>
                  <a:srgbClr val="0A0A0A"/>
                </a:solidFill>
                <a:latin typeface="Google Sans"/>
              </a:rPr>
              <a:t>переход от разрозненного управления рисками к единому процессу, где риски оцениваются взаимосвязано</a:t>
            </a:r>
            <a:endParaRPr lang="en-US" altLang="ru-RU" dirty="0">
              <a:solidFill>
                <a:srgbClr val="0A0A0A"/>
              </a:solidFill>
              <a:latin typeface="Google Sans"/>
            </a:endParaRPr>
          </a:p>
          <a:p>
            <a:r>
              <a:rPr lang="ru-RU" altLang="ru-RU" dirty="0">
                <a:solidFill>
                  <a:srgbClr val="0A0A0A"/>
                </a:solidFill>
                <a:latin typeface="Google Sans"/>
              </a:rPr>
              <a:t>Охватывает стратегические, финансовые, операционные и внешние риски, внедряя их управление во все бизнес-процессы</a:t>
            </a:r>
          </a:p>
          <a:p>
            <a:pPr marL="109728" indent="0" algn="ctr">
              <a:buNone/>
            </a:pPr>
            <a:endParaRPr lang="ru-RU" altLang="ru-RU" dirty="0">
              <a:solidFill>
                <a:srgbClr val="0A0A0A"/>
              </a:solidFill>
              <a:latin typeface="Google Sans"/>
            </a:endParaRPr>
          </a:p>
          <a:p>
            <a:pPr marL="109728" indent="0" algn="ctr">
              <a:buNone/>
            </a:pPr>
            <a:r>
              <a:rPr lang="ru-RU" altLang="ru-RU" dirty="0">
                <a:solidFill>
                  <a:srgbClr val="0A0A0A"/>
                </a:solidFill>
                <a:latin typeface="Google Sans"/>
              </a:rPr>
              <a:t>EWRM позволяет организации не просто реагировать на события, а системно управлять ими для достижения бизнес-целей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7222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8A73DD-42CF-04D6-1C6B-5E58DFDA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Красные флаги в инвестициях. Гид по рискам </a:t>
            </a:r>
            <a:r>
              <a:rPr lang="ru-RU" b="1"/>
              <a:t>(от 15 декабря)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731F74-06F4-451D-8195-0BA5C7DC9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hlinkClick r:id="rId2"/>
              </a:rPr>
              <a:t>Чего следует избегать при покупке акций и облигаций: опыт 2025 и взгляд в 2026</a:t>
            </a:r>
          </a:p>
          <a:p>
            <a:r>
              <a:rPr lang="en-US" dirty="0">
                <a:hlinkClick r:id="rId2"/>
              </a:rPr>
              <a:t>https://alfabank.ru/alfa-investor/t/krasnye-flagi-v-investitsiyah-gid-po-riskam/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03816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ородская">
  <a:themeElements>
    <a:clrScheme name="Городская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Городская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Город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1254</TotalTime>
  <Words>2219</Words>
  <Application>Microsoft Office PowerPoint</Application>
  <PresentationFormat>Экран (4:3)</PresentationFormat>
  <Paragraphs>252</Paragraphs>
  <Slides>24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4" baseType="lpstr">
      <vt:lpstr>Arial</vt:lpstr>
      <vt:lpstr>Calibri</vt:lpstr>
      <vt:lpstr>Cambria Math</vt:lpstr>
      <vt:lpstr>Georgia</vt:lpstr>
      <vt:lpstr>Google Sans</vt:lpstr>
      <vt:lpstr>Times New Roman</vt:lpstr>
      <vt:lpstr>Trebuchet MS</vt:lpstr>
      <vt:lpstr>Wingdings</vt:lpstr>
      <vt:lpstr>Wingdings 2</vt:lpstr>
      <vt:lpstr>Городская</vt:lpstr>
      <vt:lpstr>Тема 3. Оценка проекта в условиях неопределенности и риска</vt:lpstr>
      <vt:lpstr>3.1. Общие концепции инвестиционного риска и его оценка</vt:lpstr>
      <vt:lpstr>Критерии принятия решений в условиях неопределённости</vt:lpstr>
      <vt:lpstr>ПРИМЕР Надо сравнить открытие юридического лица в другой стране и перевод денег через дружественные компании</vt:lpstr>
      <vt:lpstr>Учет риска в инвестиционно-финансовых решениях</vt:lpstr>
      <vt:lpstr>Риск есть всегда</vt:lpstr>
      <vt:lpstr>Инвестиционный риск</vt:lpstr>
      <vt:lpstr>Типология инвестиционных (проектных) рисков</vt:lpstr>
      <vt:lpstr>Общий риск складывается из суммы систематического и несистематического риска</vt:lpstr>
      <vt:lpstr>Оценка инвестиционного риска</vt:lpstr>
      <vt:lpstr>3.2. Инвестиционный анализ и его методы: преимущества и недостатки</vt:lpstr>
      <vt:lpstr>Компоненты инвестиционного анализа</vt:lpstr>
      <vt:lpstr>Методы инвестиционного анализа</vt:lpstr>
      <vt:lpstr>Инструменты фундаментального и технического анализа</vt:lpstr>
      <vt:lpstr>Сильные и слабые стороны количественного и качественного анализа</vt:lpstr>
      <vt:lpstr>3. Риск-менеджмент инвестиционного проекта</vt:lpstr>
      <vt:lpstr>Методы анализа рисков инвестиционных проектов (1)</vt:lpstr>
      <vt:lpstr>Анализ чувствительности</vt:lpstr>
      <vt:lpstr>Варианты реализации анализа чувствительности в финансовых моделях</vt:lpstr>
      <vt:lpstr>Диаграмма Торнадо</vt:lpstr>
      <vt:lpstr>Методы анализа рисков инвестиционных проектов (2)</vt:lpstr>
      <vt:lpstr>Специализированное программное обеспечение</vt:lpstr>
      <vt:lpstr>Концепция интегрированного управления рисками инвестиционного проекта</vt:lpstr>
      <vt:lpstr>Красные флаги в инвестициях. Гид по рискам (от 15 декабря)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2.</dc:title>
  <dc:creator>Пользователь Windows</dc:creator>
  <cp:lastModifiedBy>Тарасова Юлия Александровна</cp:lastModifiedBy>
  <cp:revision>120</cp:revision>
  <cp:lastPrinted>2024-09-12T09:25:02Z</cp:lastPrinted>
  <dcterms:created xsi:type="dcterms:W3CDTF">2024-09-10T10:55:13Z</dcterms:created>
  <dcterms:modified xsi:type="dcterms:W3CDTF">2026-02-03T18:22:37Z</dcterms:modified>
</cp:coreProperties>
</file>