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notesMasterIdLst>
    <p:notesMasterId r:id="rId20"/>
  </p:notesMasterIdLst>
  <p:sldIdLst>
    <p:sldId id="398" r:id="rId2"/>
    <p:sldId id="399" r:id="rId3"/>
    <p:sldId id="401" r:id="rId4"/>
    <p:sldId id="400" r:id="rId5"/>
    <p:sldId id="265" r:id="rId6"/>
    <p:sldId id="383" r:id="rId7"/>
    <p:sldId id="393" r:id="rId8"/>
    <p:sldId id="394" r:id="rId9"/>
    <p:sldId id="395" r:id="rId10"/>
    <p:sldId id="396" r:id="rId11"/>
    <p:sldId id="377" r:id="rId12"/>
    <p:sldId id="392" r:id="rId13"/>
    <p:sldId id="402" r:id="rId14"/>
    <p:sldId id="359" r:id="rId15"/>
    <p:sldId id="364" r:id="rId16"/>
    <p:sldId id="387" r:id="rId17"/>
    <p:sldId id="388" r:id="rId18"/>
    <p:sldId id="389" r:id="rId19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8220A-A7EA-4A22-9BBA-5A5CC701F4BD}" type="datetimeFigureOut">
              <a:rPr lang="ru-RU" smtClean="0"/>
              <a:t>13.09.2025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188" y="3271838"/>
            <a:ext cx="7942262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925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EACFC-9ECD-4705-B837-B6ADE21F8F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10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>
            <a:extLst>
              <a:ext uri="{FF2B5EF4-FFF2-40B4-BE49-F238E27FC236}">
                <a16:creationId xmlns:a16="http://schemas.microsoft.com/office/drawing/2014/main" id="{88646591-8AF9-6C3A-D910-1F6ED38490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Заметки 2">
            <a:extLst>
              <a:ext uri="{FF2B5EF4-FFF2-40B4-BE49-F238E27FC236}">
                <a16:creationId xmlns:a16="http://schemas.microsoft.com/office/drawing/2014/main" id="{1AA31A20-6D4B-B932-4AAF-33314020C6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Здесь представлены основные моменты, характерные для этих методов. Про свободный денежный поток – чуть позже.</a:t>
            </a:r>
          </a:p>
        </p:txBody>
      </p:sp>
      <p:sp>
        <p:nvSpPr>
          <p:cNvPr id="28676" name="Номер слайда 3">
            <a:extLst>
              <a:ext uri="{FF2B5EF4-FFF2-40B4-BE49-F238E27FC236}">
                <a16:creationId xmlns:a16="http://schemas.microsoft.com/office/drawing/2014/main" id="{5A4A04DE-448B-4907-4F75-96EE2596D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37580F-DD37-41A0-AA08-866AEB3F1891}" type="slidenum">
              <a:rPr lang="ru-RU" altLang="ru-RU" sz="1200"/>
              <a:pPr/>
              <a:t>6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>
            <a:extLst>
              <a:ext uri="{FF2B5EF4-FFF2-40B4-BE49-F238E27FC236}">
                <a16:creationId xmlns:a16="http://schemas.microsoft.com/office/drawing/2014/main" id="{20C1ACC1-C4AB-C564-3F45-ADE5E253B0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Заметки 2">
            <a:extLst>
              <a:ext uri="{FF2B5EF4-FFF2-40B4-BE49-F238E27FC236}">
                <a16:creationId xmlns:a16="http://schemas.microsoft.com/office/drawing/2014/main" id="{A5C57042-EB61-A067-B971-4B264775E2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b="1"/>
              <a:t>Финансовый подход</a:t>
            </a:r>
          </a:p>
        </p:txBody>
      </p:sp>
      <p:sp>
        <p:nvSpPr>
          <p:cNvPr id="29700" name="Номер слайда 3">
            <a:extLst>
              <a:ext uri="{FF2B5EF4-FFF2-40B4-BE49-F238E27FC236}">
                <a16:creationId xmlns:a16="http://schemas.microsoft.com/office/drawing/2014/main" id="{4B579E51-0374-CF30-3AF1-745B53F39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9F9AFAA-DF44-4224-92C5-609FC7D7A5A1}" type="slidenum">
              <a:rPr lang="ru-RU" altLang="ru-RU" sz="1200"/>
              <a:pPr/>
              <a:t>7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Образ слайда 1">
            <a:extLst>
              <a:ext uri="{FF2B5EF4-FFF2-40B4-BE49-F238E27FC236}">
                <a16:creationId xmlns:a16="http://schemas.microsoft.com/office/drawing/2014/main" id="{721D157B-4F56-6053-E057-C1AE793ABB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Заметки 2">
            <a:extLst>
              <a:ext uri="{FF2B5EF4-FFF2-40B4-BE49-F238E27FC236}">
                <a16:creationId xmlns:a16="http://schemas.microsoft.com/office/drawing/2014/main" id="{19360D49-8915-394B-B0E3-1950A5AC9C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Обратите внимание, что </a:t>
            </a:r>
            <a:r>
              <a:rPr lang="en-US" altLang="ru-RU"/>
              <a:t>OCF </a:t>
            </a:r>
            <a:r>
              <a:rPr lang="ru-RU" altLang="ru-RU"/>
              <a:t>связан с тремя видами прибыли. Назовите их - </a:t>
            </a:r>
            <a:r>
              <a:rPr lang="en-US" altLang="ru-RU"/>
              <a:t>EBIT, EBITDA, NOPAT</a:t>
            </a:r>
            <a:r>
              <a:rPr lang="ru-RU" altLang="ru-RU"/>
              <a:t>. Последняя включает в себя проценты по кредитам.</a:t>
            </a:r>
            <a:endParaRPr lang="en-US" altLang="ru-RU"/>
          </a:p>
          <a:p>
            <a:r>
              <a:rPr lang="ru-RU" altLang="ru-RU"/>
              <a:t>Что с амортизацией </a:t>
            </a:r>
            <a:r>
              <a:rPr lang="en-US" altLang="ru-RU"/>
              <a:t>(DA)</a:t>
            </a:r>
            <a:r>
              <a:rPr lang="ru-RU" altLang="ru-RU"/>
              <a:t>? Как вы думаете? Правильно – ее нет в подобных организациях.</a:t>
            </a:r>
          </a:p>
        </p:txBody>
      </p:sp>
      <p:sp>
        <p:nvSpPr>
          <p:cNvPr id="31748" name="Номер слайда 3">
            <a:extLst>
              <a:ext uri="{FF2B5EF4-FFF2-40B4-BE49-F238E27FC236}">
                <a16:creationId xmlns:a16="http://schemas.microsoft.com/office/drawing/2014/main" id="{9FDCDF4D-E7DD-FD39-F022-CF2622FB9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D9C90A-37BA-4E95-A784-5AD21F7584FC}" type="slidenum">
              <a:rPr lang="ru-RU" altLang="ru-RU" sz="1200"/>
              <a:pPr/>
              <a:t>8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Образ слайда 1">
            <a:extLst>
              <a:ext uri="{FF2B5EF4-FFF2-40B4-BE49-F238E27FC236}">
                <a16:creationId xmlns:a16="http://schemas.microsoft.com/office/drawing/2014/main" id="{B6271385-79B0-661B-5EFD-0B213ADB9F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Заметки 2">
            <a:extLst>
              <a:ext uri="{FF2B5EF4-FFF2-40B4-BE49-F238E27FC236}">
                <a16:creationId xmlns:a16="http://schemas.microsoft.com/office/drawing/2014/main" id="{99E1DEC6-FAE2-F88C-D437-C73A3ED3DC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ru-RU"/>
              <a:t>Capital Expenditure</a:t>
            </a:r>
            <a:r>
              <a:rPr lang="ru-RU" altLang="ru-RU"/>
              <a:t> – капитальные затраты (расходы, вложения), которые делает предприятие для приобретения внеоборотных активов (более 1 года) и на их модернизацию. В РСБУ их нет, в МСФО есть отдельная статья. В нашем случае мы показываем, сколько компания максимально может потратить на инвестиции во внеоборотные активы.</a:t>
            </a:r>
          </a:p>
        </p:txBody>
      </p:sp>
      <p:sp>
        <p:nvSpPr>
          <p:cNvPr id="32772" name="Номер слайда 3">
            <a:extLst>
              <a:ext uri="{FF2B5EF4-FFF2-40B4-BE49-F238E27FC236}">
                <a16:creationId xmlns:a16="http://schemas.microsoft.com/office/drawing/2014/main" id="{FEF92D6A-63CB-225B-8550-7F379106E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94954E8-774E-4474-A4A4-D63BFAD4E2F7}" type="slidenum">
              <a:rPr lang="ru-RU" altLang="ru-RU" sz="1200"/>
              <a:pPr/>
              <a:t>9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>
            <a:extLst>
              <a:ext uri="{FF2B5EF4-FFF2-40B4-BE49-F238E27FC236}">
                <a16:creationId xmlns:a16="http://schemas.microsoft.com/office/drawing/2014/main" id="{7D288974-7CBD-D009-DBAF-F499446E74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Заметки 2">
            <a:extLst>
              <a:ext uri="{FF2B5EF4-FFF2-40B4-BE49-F238E27FC236}">
                <a16:creationId xmlns:a16="http://schemas.microsoft.com/office/drawing/2014/main" id="{D53644AD-A75E-4654-1E00-7841DEF3C4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Пассивные потоки с финансовой точки зрения можно разбить на две группы – владельцам и кредиторам. И, как я чуть раньше говорила, его надо распределять между владельцами капитала.</a:t>
            </a:r>
          </a:p>
          <a:p>
            <a:r>
              <a:rPr lang="ru-RU" altLang="ru-RU"/>
              <a:t>Таким образом, наш активный денежный поток включает три потока. </a:t>
            </a:r>
          </a:p>
        </p:txBody>
      </p:sp>
      <p:sp>
        <p:nvSpPr>
          <p:cNvPr id="33796" name="Номер слайда 3">
            <a:extLst>
              <a:ext uri="{FF2B5EF4-FFF2-40B4-BE49-F238E27FC236}">
                <a16:creationId xmlns:a16="http://schemas.microsoft.com/office/drawing/2014/main" id="{9270D13D-AE71-863E-0070-3E7F4D9B3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958296-99A5-43AD-85C0-0371A6E10ABE}" type="slidenum">
              <a:rPr lang="ru-RU" altLang="ru-RU" sz="1200"/>
              <a:pPr/>
              <a:t>10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Образ слайда 1">
            <a:extLst>
              <a:ext uri="{FF2B5EF4-FFF2-40B4-BE49-F238E27FC236}">
                <a16:creationId xmlns:a16="http://schemas.microsoft.com/office/drawing/2014/main" id="{86CFCFBF-6FEA-3C67-BE94-FDBEBA2375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Заметки 2">
            <a:extLst>
              <a:ext uri="{FF2B5EF4-FFF2-40B4-BE49-F238E27FC236}">
                <a16:creationId xmlns:a16="http://schemas.microsoft.com/office/drawing/2014/main" id="{0B848848-F26E-9250-625F-9C8B0786A6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Эта информация есть в шпаргалке. Можно сверяться.</a:t>
            </a:r>
          </a:p>
        </p:txBody>
      </p:sp>
      <p:sp>
        <p:nvSpPr>
          <p:cNvPr id="30724" name="Номер слайда 3">
            <a:extLst>
              <a:ext uri="{FF2B5EF4-FFF2-40B4-BE49-F238E27FC236}">
                <a16:creationId xmlns:a16="http://schemas.microsoft.com/office/drawing/2014/main" id="{234E2D7C-A58D-DD37-A8CE-143A40AD1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5EBC2DB-AC32-4849-BF4F-F80988D32E6B}" type="slidenum">
              <a:rPr lang="ru-RU" altLang="ru-RU" sz="1200"/>
              <a:pPr/>
              <a:t>11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>
            <a:extLst>
              <a:ext uri="{FF2B5EF4-FFF2-40B4-BE49-F238E27FC236}">
                <a16:creationId xmlns:a16="http://schemas.microsoft.com/office/drawing/2014/main" id="{5A00E86A-D76C-BF44-6F83-876A133387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Заметки 2">
            <a:extLst>
              <a:ext uri="{FF2B5EF4-FFF2-40B4-BE49-F238E27FC236}">
                <a16:creationId xmlns:a16="http://schemas.microsoft.com/office/drawing/2014/main" id="{1C869FC7-2DDC-3143-EBD1-FF5EBC14BE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dirty="0"/>
              <a:t>Когда существует огромная разница между </a:t>
            </a:r>
            <a:r>
              <a:rPr lang="en-US" altLang="ru-RU" dirty="0"/>
              <a:t>FCF</a:t>
            </a:r>
            <a:r>
              <a:rPr lang="ru-RU" altLang="ru-RU" dirty="0"/>
              <a:t> и прибылью компании, инвесторам следует насторожиться. Это указывает на низкое качество доходов компании.</a:t>
            </a:r>
          </a:p>
        </p:txBody>
      </p:sp>
      <p:sp>
        <p:nvSpPr>
          <p:cNvPr id="34820" name="Номер слайда 3">
            <a:extLst>
              <a:ext uri="{FF2B5EF4-FFF2-40B4-BE49-F238E27FC236}">
                <a16:creationId xmlns:a16="http://schemas.microsoft.com/office/drawing/2014/main" id="{F35D308F-958E-5540-CA81-B519CEBA9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0AE4563-1DDA-4372-AF8F-2E95E6DDC5EF}" type="slidenum">
              <a:rPr lang="ru-RU" altLang="ru-RU" sz="1200"/>
              <a:pPr/>
              <a:t>12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>
            <a:extLst>
              <a:ext uri="{FF2B5EF4-FFF2-40B4-BE49-F238E27FC236}">
                <a16:creationId xmlns:a16="http://schemas.microsoft.com/office/drawing/2014/main" id="{CB52E65D-E3DB-8C79-76D8-D0262C2D85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Заметки 2">
            <a:extLst>
              <a:ext uri="{FF2B5EF4-FFF2-40B4-BE49-F238E27FC236}">
                <a16:creationId xmlns:a16="http://schemas.microsoft.com/office/drawing/2014/main" id="{49B30016-B466-F11B-8D4E-90E3D2B5E3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Абсолютные величины – горизонтальный метод. Удельный вес – вертикальный анализ. Как вы думаете, в какой отрасли работает эта компания? Аэрофлот</a:t>
            </a:r>
          </a:p>
        </p:txBody>
      </p:sp>
      <p:sp>
        <p:nvSpPr>
          <p:cNvPr id="39940" name="Номер слайда 3">
            <a:extLst>
              <a:ext uri="{FF2B5EF4-FFF2-40B4-BE49-F238E27FC236}">
                <a16:creationId xmlns:a16="http://schemas.microsoft.com/office/drawing/2014/main" id="{3E7149E1-2D96-5682-73E7-B700118B0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EA79825-ECA4-4828-A880-4E45DC741D52}" type="slidenum">
              <a:rPr lang="ru-RU" altLang="ru-RU" sz="1200"/>
              <a:pPr/>
              <a:t>16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Образ слайда 1">
            <a:extLst>
              <a:ext uri="{FF2B5EF4-FFF2-40B4-BE49-F238E27FC236}">
                <a16:creationId xmlns:a16="http://schemas.microsoft.com/office/drawing/2014/main" id="{CDED6EDB-456F-F288-4BC2-38DBA08DE4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Заметки 2">
            <a:extLst>
              <a:ext uri="{FF2B5EF4-FFF2-40B4-BE49-F238E27FC236}">
                <a16:creationId xmlns:a16="http://schemas.microsoft.com/office/drawing/2014/main" id="{D4D28586-9930-7D97-EEC0-CD9E15DCAC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Абсолютные величины – горизонтальный метод. Удельный вес – вертикальный анализ. Как вы думаете, в какой отрасли работает эта компания? Аэрофлот</a:t>
            </a:r>
          </a:p>
        </p:txBody>
      </p:sp>
      <p:sp>
        <p:nvSpPr>
          <p:cNvPr id="40964" name="Номер слайда 3">
            <a:extLst>
              <a:ext uri="{FF2B5EF4-FFF2-40B4-BE49-F238E27FC236}">
                <a16:creationId xmlns:a16="http://schemas.microsoft.com/office/drawing/2014/main" id="{CDEF755A-2EF7-976B-E71B-25A489D90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142CF0-B394-4E8C-9898-069005608E56}" type="slidenum">
              <a:rPr lang="ru-RU" altLang="ru-RU" sz="1200"/>
              <a:pPr/>
              <a:t>17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Образ слайда 1">
            <a:extLst>
              <a:ext uri="{FF2B5EF4-FFF2-40B4-BE49-F238E27FC236}">
                <a16:creationId xmlns:a16="http://schemas.microsoft.com/office/drawing/2014/main" id="{7BFB1526-6E2A-3443-A79E-7D176F460F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Заметки 2">
            <a:extLst>
              <a:ext uri="{FF2B5EF4-FFF2-40B4-BE49-F238E27FC236}">
                <a16:creationId xmlns:a16="http://schemas.microsoft.com/office/drawing/2014/main" id="{3A732761-C157-6079-FC26-5544896617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Как вы думаете, в какой отрасли работает эта компания? МТС или Билайн</a:t>
            </a:r>
          </a:p>
        </p:txBody>
      </p:sp>
      <p:sp>
        <p:nvSpPr>
          <p:cNvPr id="41988" name="Номер слайда 3">
            <a:extLst>
              <a:ext uri="{FF2B5EF4-FFF2-40B4-BE49-F238E27FC236}">
                <a16:creationId xmlns:a16="http://schemas.microsoft.com/office/drawing/2014/main" id="{FD66BEAE-3430-B6E1-4D27-CE7DDFBD8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8378088-7A5C-4934-818B-76ABF08EB0E5}" type="slidenum">
              <a:rPr lang="ru-RU" altLang="ru-RU" sz="1200"/>
              <a:pPr/>
              <a:t>18</a:t>
            </a:fld>
            <a:endParaRPr lang="ru-RU" altLang="ru-RU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050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1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13142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8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246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49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80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7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85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475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8384" y="284163"/>
            <a:ext cx="103632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914400" y="1905000"/>
            <a:ext cx="10363200" cy="2019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914400" y="4076700"/>
            <a:ext cx="10363200" cy="2019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625EA9-EE51-14F5-83E6-EF2D428C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A7A433-D0D8-0C3B-611E-EB97E134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A1579D-83C3-F34F-60BA-2E8417B1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B6C635-92CA-4179-AD63-666A32F5BF9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03903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8384" y="284163"/>
            <a:ext cx="103632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914400" y="1905000"/>
            <a:ext cx="10363200" cy="41910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6134B-0C4E-29EA-42D0-1CDA7FAD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22CB8-AE57-C62F-AF73-389990B0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635E5-4524-C09E-C0BD-BF4D723B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A4ACEA-E6B6-41BB-B2A7-05D1A09A642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6919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655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85B2D-A0B7-6E31-1AC1-A3811DBD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497794"/>
            <a:ext cx="10178322" cy="1313250"/>
          </a:xfrm>
        </p:spPr>
        <p:txBody>
          <a:bodyPr>
            <a:noAutofit/>
          </a:bodyPr>
          <a:lstStyle/>
          <a:p>
            <a:r>
              <a:rPr lang="ru-RU" sz="4000" b="1" dirty="0"/>
              <a:t>2. Финансовый анализ и финансовое планирование на предприятии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0BDC35-3DB3-A981-3BCC-B579648DB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362679"/>
            <a:ext cx="10178322" cy="4112936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800" dirty="0"/>
              <a:t>Цели и задачи финансового планирования. Методы финансового планирования и прогнозирования. Виды денежных потоков, их прогнозирование – прямой и косвенный методы.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Общая характеристика вертикального и горизонтального анализа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Коэффициентный анализ. Моделирование и факторный анализ прибыли и рентабельности. Модель Дюпона.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Финансовая устойчивость и банкротство: риски. Финансовый леверидж. Основные модели анализа вероятности банкротства.</a:t>
            </a:r>
          </a:p>
        </p:txBody>
      </p:sp>
    </p:spTree>
    <p:extLst>
      <p:ext uri="{BB962C8B-B14F-4D97-AF65-F5344CB8AC3E}">
        <p14:creationId xmlns:p14="http://schemas.microsoft.com/office/powerpoint/2010/main" val="383679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623D29-5393-3039-52C4-5C70C5C91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66" y="222587"/>
            <a:ext cx="10178322" cy="682935"/>
          </a:xfrm>
        </p:spPr>
        <p:txBody>
          <a:bodyPr>
            <a:normAutofit/>
          </a:bodyPr>
          <a:lstStyle/>
          <a:p>
            <a:r>
              <a:rPr lang="ru-RU" sz="3600" dirty="0"/>
              <a:t>ЧТО ТАКОЕ финансовое планирование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89E5BB-D27B-ABFB-DC98-96E9B91B9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066" y="1100831"/>
            <a:ext cx="10178322" cy="5534582"/>
          </a:xfrm>
        </p:spPr>
        <p:txBody>
          <a:bodyPr>
            <a:normAutofit lnSpcReduction="10000"/>
          </a:bodyPr>
          <a:lstStyle/>
          <a:p>
            <a:pPr marL="114300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800" b="0" i="0" dirty="0">
                <a:solidFill>
                  <a:srgbClr val="091A4E"/>
                </a:solidFill>
                <a:effectLst/>
              </a:rPr>
              <a:t>Финансовое планирование — процесс управления и контроля за деньгами с учётом целей организации, то есть прогнозирование будущих доходов и расходов</a:t>
            </a:r>
          </a:p>
          <a:p>
            <a:pPr marL="571500" lvl="1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400" b="0" i="0" dirty="0">
                <a:solidFill>
                  <a:srgbClr val="091A4E"/>
                </a:solidFill>
                <a:effectLst/>
              </a:rPr>
              <a:t>Прогноз можно построить на основе показателей работы компании и возможных сценариев развития рынка</a:t>
            </a:r>
          </a:p>
          <a:p>
            <a:pPr marL="571500" lvl="1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solidFill>
                  <a:srgbClr val="091A4E"/>
                </a:solidFill>
              </a:rPr>
              <a:t>Виды планирования</a:t>
            </a:r>
          </a:p>
          <a:p>
            <a:pPr marL="1028700" lvl="2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000" b="0" i="0" dirty="0">
                <a:solidFill>
                  <a:srgbClr val="091A4E"/>
                </a:solidFill>
                <a:effectLst/>
              </a:rPr>
              <a:t>Краткосрочное (расчеты с поставщиками ресурсов)</a:t>
            </a:r>
          </a:p>
          <a:p>
            <a:pPr marL="1028700" lvl="2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rgbClr val="091A4E"/>
                </a:solidFill>
              </a:rPr>
              <a:t>Среднесрочное (составление бюджета, инвестиционное и кредитное финансирование)</a:t>
            </a:r>
          </a:p>
          <a:p>
            <a:pPr marL="1028700" lvl="2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000" b="0" i="0" dirty="0">
                <a:solidFill>
                  <a:srgbClr val="091A4E"/>
                </a:solidFill>
                <a:effectLst/>
              </a:rPr>
              <a:t>Долгосрочное (строительство отеля – сколько вложить, какие риски, через какое период времени бизнес начнет окупаться)</a:t>
            </a:r>
          </a:p>
          <a:p>
            <a:pPr marL="571500" lvl="1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solidFill>
                  <a:srgbClr val="091A4E"/>
                </a:solidFill>
              </a:rPr>
              <a:t>Виды прогнозов – контроль над ситуацией</a:t>
            </a:r>
          </a:p>
          <a:p>
            <a:pPr marL="1028700" lvl="2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000" b="0" i="0" dirty="0">
                <a:solidFill>
                  <a:srgbClr val="091A4E"/>
                </a:solidFill>
                <a:effectLst/>
              </a:rPr>
              <a:t>Реалистический (усредненные показатели при минимальных изменениях внешней среды)</a:t>
            </a:r>
          </a:p>
          <a:p>
            <a:pPr marL="1028700" lvl="2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rgbClr val="091A4E"/>
                </a:solidFill>
              </a:rPr>
              <a:t>Оптимистический (расчет на рост спроса, возросший объем производства)</a:t>
            </a:r>
          </a:p>
          <a:p>
            <a:pPr marL="1028700" lvl="2" indent="-342900" fontAlgn="base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rgbClr val="091A4E"/>
                </a:solidFill>
              </a:rPr>
              <a:t>Пессимистический  (рост продаж, но реклама не даст нужного эффекта, вырастут затраты на маркетинг и производство)</a:t>
            </a:r>
            <a:endParaRPr lang="ru-RU" sz="2000" b="0" i="0" dirty="0">
              <a:solidFill>
                <a:srgbClr val="091A4E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139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6B05-17B4-379C-72A3-4AAA3961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6B8E3-AD6C-560A-E784-F1BEFD6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266976"/>
            <a:ext cx="10178322" cy="639592"/>
          </a:xfrm>
        </p:spPr>
        <p:txBody>
          <a:bodyPr>
            <a:normAutofit/>
          </a:bodyPr>
          <a:lstStyle/>
          <a:p>
            <a:r>
              <a:rPr lang="ru-RU" sz="3600" dirty="0"/>
              <a:t>Цели и задачи финансового планирования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48B9D3-DBDB-D1AE-A865-4F82CE5ED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37386"/>
            <a:ext cx="10178322" cy="5453638"/>
          </a:xfrm>
        </p:spPr>
        <p:txBody>
          <a:bodyPr>
            <a:normAutofit/>
          </a:bodyPr>
          <a:lstStyle/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ru-RU" dirty="0"/>
              <a:t>Цель</a:t>
            </a:r>
          </a:p>
          <a:p>
            <a:pPr marL="457200" lvl="1">
              <a:lnSpc>
                <a:spcPts val="2400"/>
              </a:lnSpc>
              <a:spcBef>
                <a:spcPts val="0"/>
              </a:spcBef>
            </a:pPr>
            <a:r>
              <a:rPr lang="ru-RU" dirty="0"/>
              <a:t>обеспечить предприятие финансовыми ресурсами для достижения стратегических целей организации, повысить ее </a:t>
            </a:r>
            <a:r>
              <a:rPr lang="ru-RU" u="sng" dirty="0"/>
              <a:t>устойчивость</a:t>
            </a:r>
            <a:r>
              <a:rPr lang="ru-RU" dirty="0"/>
              <a:t> и прибыльность</a:t>
            </a:r>
          </a:p>
          <a:p>
            <a:pPr marL="228600" lvl="1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dirty="0"/>
              <a:t>ИЛИ</a:t>
            </a:r>
          </a:p>
          <a:p>
            <a:pPr marL="457200" lvl="1">
              <a:lnSpc>
                <a:spcPts val="2400"/>
              </a:lnSpc>
              <a:spcBef>
                <a:spcPts val="0"/>
              </a:spcBef>
            </a:pPr>
            <a:r>
              <a:rPr lang="ru-RU" dirty="0"/>
              <a:t>установить </a:t>
            </a:r>
            <a:r>
              <a:rPr lang="ru-RU" u="sng" dirty="0"/>
              <a:t>соответствие</a:t>
            </a:r>
            <a:r>
              <a:rPr lang="ru-RU" dirty="0"/>
              <a:t> между наличием финансовых ресурсов организации и потребностью в них и выбор эффективных источников финансирования</a:t>
            </a: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ru-RU" dirty="0"/>
              <a:t>Задачи</a:t>
            </a:r>
          </a:p>
          <a:p>
            <a:pPr marL="457200" lvl="1">
              <a:lnSpc>
                <a:spcPts val="2400"/>
              </a:lnSpc>
              <a:spcBef>
                <a:spcPts val="0"/>
              </a:spcBef>
            </a:pPr>
            <a:r>
              <a:rPr lang="ru-RU" dirty="0"/>
              <a:t>выявление </a:t>
            </a:r>
            <a:r>
              <a:rPr lang="ru-RU" u="sng" dirty="0"/>
              <a:t>резервов</a:t>
            </a:r>
            <a:r>
              <a:rPr lang="ru-RU" dirty="0"/>
              <a:t> увеличения доходов организации</a:t>
            </a:r>
          </a:p>
          <a:p>
            <a:pPr marL="457200" lvl="1">
              <a:lnSpc>
                <a:spcPts val="2400"/>
              </a:lnSpc>
              <a:spcBef>
                <a:spcPts val="0"/>
              </a:spcBef>
            </a:pPr>
            <a:r>
              <a:rPr lang="ru-RU" dirty="0"/>
              <a:t>эффективное использование финансовых ресурсов, рациональность направлений развития организации (получить наивысшую прибыль)</a:t>
            </a:r>
          </a:p>
          <a:p>
            <a:pPr marL="457200" lvl="1">
              <a:lnSpc>
                <a:spcPts val="2400"/>
              </a:lnSpc>
              <a:spcBef>
                <a:spcPts val="0"/>
              </a:spcBef>
            </a:pPr>
            <a:r>
              <a:rPr lang="ru-RU" dirty="0"/>
              <a:t>соответствие финансовых ресурсов и запланированных размеров показателей</a:t>
            </a:r>
          </a:p>
          <a:p>
            <a:pPr marL="457200" lvl="1">
              <a:lnSpc>
                <a:spcPts val="2400"/>
              </a:lnSpc>
              <a:spcBef>
                <a:spcPts val="0"/>
              </a:spcBef>
            </a:pPr>
            <a:r>
              <a:rPr lang="ru-RU" dirty="0"/>
              <a:t>обеспечение оптимальных финансовых взаимоотношений с финансовыми и государственными структурами</a:t>
            </a:r>
          </a:p>
          <a:p>
            <a:pPr marL="0">
              <a:lnSpc>
                <a:spcPts val="2400"/>
              </a:lnSpc>
              <a:spcBef>
                <a:spcPts val="0"/>
              </a:spcBef>
            </a:pPr>
            <a:r>
              <a:rPr lang="ru-RU" u="sng" dirty="0"/>
              <a:t>Задача стратегического финансового планирования </a:t>
            </a:r>
            <a:r>
              <a:rPr lang="ru-RU" dirty="0"/>
              <a:t>заключается в создании и поддержании равновесия между целями, финансовыми возможностями и внешними условиями, для чего производится прогнозирование финансовой деятельности на длительный период</a:t>
            </a:r>
          </a:p>
        </p:txBody>
      </p:sp>
    </p:spTree>
    <p:extLst>
      <p:ext uri="{BB962C8B-B14F-4D97-AF65-F5344CB8AC3E}">
        <p14:creationId xmlns:p14="http://schemas.microsoft.com/office/powerpoint/2010/main" val="146254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85896-4B7D-DE86-3731-61EBB3E12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1C637-E789-5D38-AE8F-6B3BC379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400" dirty="0"/>
              <a:t>Методы финансового планирования и прогнозирования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5E96A8-C91B-4A58-ED38-0DCAAC0EC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988598"/>
            <a:ext cx="10178322" cy="4199137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b="0" i="0" dirty="0">
                <a:solidFill>
                  <a:srgbClr val="040C28"/>
                </a:solidFill>
                <a:effectLst/>
                <a:latin typeface="Google Sans"/>
              </a:rPr>
              <a:t>метод</a:t>
            </a:r>
            <a:r>
              <a:rPr lang="ru-RU" sz="2400" b="0" i="0" dirty="0">
                <a:solidFill>
                  <a:srgbClr val="474747"/>
                </a:solidFill>
                <a:effectLst/>
                <a:latin typeface="Google Sans"/>
              </a:rPr>
              <a:t> экономического анализа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0" i="0" dirty="0">
                <a:solidFill>
                  <a:srgbClr val="474747"/>
                </a:solidFill>
                <a:effectLst/>
                <a:latin typeface="Google Sans"/>
              </a:rPr>
              <a:t>нормативный </a:t>
            </a:r>
            <a:r>
              <a:rPr lang="ru-RU" sz="2400" b="0" i="0" dirty="0">
                <a:solidFill>
                  <a:srgbClr val="040C28"/>
                </a:solidFill>
                <a:effectLst/>
                <a:latin typeface="Google Sans"/>
              </a:rPr>
              <a:t>метод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0" i="0" dirty="0">
                <a:solidFill>
                  <a:srgbClr val="474747"/>
                </a:solidFill>
                <a:effectLst/>
                <a:latin typeface="Google Sans"/>
              </a:rPr>
              <a:t>балансовый </a:t>
            </a:r>
            <a:r>
              <a:rPr lang="ru-RU" sz="2400" b="0" i="0" dirty="0">
                <a:solidFill>
                  <a:srgbClr val="040C28"/>
                </a:solidFill>
                <a:effectLst/>
                <a:latin typeface="Google Sans"/>
              </a:rPr>
              <a:t>метод</a:t>
            </a:r>
            <a:r>
              <a:rPr lang="ru-RU" sz="2400" b="0" i="0" dirty="0">
                <a:solidFill>
                  <a:srgbClr val="474747"/>
                </a:solidFill>
                <a:effectLst/>
                <a:latin typeface="Google Sans"/>
              </a:rPr>
              <a:t> (</a:t>
            </a:r>
            <a:r>
              <a:rPr lang="ru-RU" sz="2400" b="0" i="0" dirty="0">
                <a:solidFill>
                  <a:srgbClr val="040C28"/>
                </a:solidFill>
                <a:effectLst/>
                <a:latin typeface="Google Sans"/>
              </a:rPr>
              <a:t>метод</a:t>
            </a:r>
            <a:r>
              <a:rPr lang="ru-RU" sz="2400" b="0" i="0" dirty="0">
                <a:solidFill>
                  <a:srgbClr val="474747"/>
                </a:solidFill>
                <a:effectLst/>
                <a:latin typeface="Google Sans"/>
              </a:rPr>
              <a:t> балансовых расчетов)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040C28"/>
                </a:solidFill>
                <a:latin typeface="Google Sans"/>
              </a:rPr>
              <a:t>метод</a:t>
            </a:r>
            <a:r>
              <a:rPr lang="ru-RU" sz="2400" dirty="0">
                <a:solidFill>
                  <a:srgbClr val="474747"/>
                </a:solidFill>
                <a:latin typeface="Google Sans"/>
              </a:rPr>
              <a:t> многовариантности (сценариев)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474747"/>
                </a:solidFill>
                <a:latin typeface="Google Sans"/>
              </a:rPr>
              <a:t>экономико-математическое моделирование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>
                <a:solidFill>
                  <a:srgbClr val="7030A0"/>
                </a:solidFill>
                <a:latin typeface="Google Sans"/>
              </a:rPr>
              <a:t>метод дисконтирования денежных потоков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>
                <a:solidFill>
                  <a:srgbClr val="7030A0"/>
                </a:solidFill>
                <a:latin typeface="Google Sans"/>
              </a:rPr>
              <a:t>коэффициентный </a:t>
            </a:r>
            <a:r>
              <a:rPr lang="ru-RU" sz="2400" b="1" i="0" dirty="0">
                <a:solidFill>
                  <a:srgbClr val="7030A0"/>
                </a:solidFill>
                <a:effectLst/>
                <a:latin typeface="Google Sans"/>
              </a:rPr>
              <a:t>метод</a:t>
            </a:r>
          </a:p>
          <a:p>
            <a:pPr indent="-342900">
              <a:spcBef>
                <a:spcPct val="0"/>
              </a:spcBef>
            </a:pPr>
            <a:r>
              <a:rPr lang="ru-RU" altLang="ru-RU" sz="2400" dirty="0"/>
              <a:t>Трендовый анализ</a:t>
            </a:r>
          </a:p>
          <a:p>
            <a:pPr lvl="1" indent="-342900">
              <a:spcBef>
                <a:spcPct val="0"/>
              </a:spcBef>
            </a:pPr>
            <a:r>
              <a:rPr lang="ru-RU" altLang="ru-RU" dirty="0"/>
              <a:t>выявление динамики на перспективу</a:t>
            </a:r>
          </a:p>
          <a:p>
            <a:pPr indent="-342900">
              <a:spcBef>
                <a:spcPct val="0"/>
              </a:spcBef>
            </a:pPr>
            <a:r>
              <a:rPr lang="ru-RU" altLang="ru-RU" dirty="0"/>
              <a:t>Методы экспертных оценок</a:t>
            </a:r>
          </a:p>
          <a:p>
            <a:pPr lvl="1" indent="-342900">
              <a:spcBef>
                <a:spcPct val="0"/>
              </a:spcBef>
            </a:pPr>
            <a:r>
              <a:rPr lang="ru-RU" altLang="ru-RU" dirty="0"/>
              <a:t>Построение сценариев</a:t>
            </a:r>
          </a:p>
          <a:p>
            <a:pPr lvl="1" indent="-342900">
              <a:spcBef>
                <a:spcPct val="0"/>
              </a:spcBef>
            </a:pPr>
            <a:r>
              <a:rPr lang="ru-RU" altLang="ru-RU" dirty="0"/>
              <a:t>Ситуационный анализ</a:t>
            </a:r>
          </a:p>
          <a:p>
            <a:pPr lvl="1" indent="-342900">
              <a:spcBef>
                <a:spcPct val="0"/>
              </a:spcBef>
            </a:pPr>
            <a:r>
              <a:rPr lang="ru-RU" altLang="ru-RU" dirty="0"/>
              <a:t>Метод </a:t>
            </a:r>
            <a:r>
              <a:rPr lang="ru-RU" altLang="ru-RU" dirty="0" err="1"/>
              <a:t>Дельфи</a:t>
            </a:r>
            <a:endParaRPr lang="ru-RU" altLang="ru-RU" dirty="0"/>
          </a:p>
          <a:p>
            <a:pPr indent="-342900">
              <a:spcBef>
                <a:spcPct val="0"/>
              </a:spcBef>
            </a:pPr>
            <a:r>
              <a:rPr lang="ru-RU" altLang="ru-RU" dirty="0"/>
              <a:t>Моделирование</a:t>
            </a:r>
          </a:p>
          <a:p>
            <a:pPr lvl="1" indent="-342900">
              <a:spcBef>
                <a:spcPct val="0"/>
              </a:spcBef>
            </a:pPr>
            <a:r>
              <a:rPr lang="ru-RU" altLang="ru-RU" dirty="0"/>
              <a:t>Компьютерные программы</a:t>
            </a:r>
          </a:p>
          <a:p>
            <a:pPr indent="-342900">
              <a:spcBef>
                <a:spcPct val="0"/>
              </a:spcBef>
            </a:pPr>
            <a:r>
              <a:rPr lang="ru-RU" altLang="ru-RU" dirty="0"/>
              <a:t>Статистические методы</a:t>
            </a:r>
          </a:p>
          <a:p>
            <a:pPr lvl="1" indent="-342900">
              <a:spcBef>
                <a:spcPct val="0"/>
              </a:spcBef>
            </a:pPr>
            <a:r>
              <a:rPr lang="ru-RU" altLang="ru-RU" dirty="0"/>
              <a:t>Регрессионный (эконометрический) анализ</a:t>
            </a:r>
            <a:endParaRPr lang="ru-RU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52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EBFE-281A-2AA1-7BDB-85D865550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C1C82-A564-C661-6374-328D3F21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04877"/>
          </a:xfrm>
        </p:spPr>
        <p:txBody>
          <a:bodyPr/>
          <a:lstStyle/>
          <a:p>
            <a:r>
              <a:rPr lang="ru-RU" dirty="0"/>
              <a:t>Концепция денежного потока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AE27D6-16A7-8F2B-6614-D07FDDBF5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4816"/>
            <a:ext cx="10178322" cy="4669653"/>
          </a:xfrm>
        </p:spPr>
        <p:txBody>
          <a:bodyPr>
            <a:normAutofit/>
          </a:bodyPr>
          <a:lstStyle/>
          <a:p>
            <a:r>
              <a:rPr lang="ru-RU" sz="2600" dirty="0"/>
              <a:t>Денежный поток </a:t>
            </a:r>
            <a:r>
              <a:rPr lang="en-US" sz="2600" dirty="0"/>
              <a:t>(CF)</a:t>
            </a:r>
            <a:endParaRPr lang="ru-RU" sz="2600" dirty="0"/>
          </a:p>
          <a:p>
            <a:pPr lvl="1"/>
            <a:r>
              <a:rPr lang="ru-RU" sz="2400" dirty="0"/>
              <a:t>притоки-оттоки средств за один и тот же период времени</a:t>
            </a:r>
          </a:p>
          <a:p>
            <a:r>
              <a:rPr lang="ru-RU" sz="2600" dirty="0"/>
              <a:t>Прогнозирование</a:t>
            </a:r>
          </a:p>
          <a:p>
            <a:pPr lvl="1"/>
            <a:r>
              <a:rPr lang="ru-RU" sz="2400" dirty="0"/>
              <a:t>Дисконтирование денежных потоков (</a:t>
            </a:r>
            <a:r>
              <a:rPr lang="en-US" sz="2400" dirty="0"/>
              <a:t>DCF)</a:t>
            </a:r>
            <a:endParaRPr lang="ru-RU" sz="2400" dirty="0"/>
          </a:p>
          <a:p>
            <a:pPr lvl="1"/>
            <a:r>
              <a:rPr lang="ru-RU" sz="2400" dirty="0"/>
              <a:t>Учет рисковых обстоятельств</a:t>
            </a:r>
            <a:endParaRPr lang="en-US" sz="2400" dirty="0"/>
          </a:p>
          <a:p>
            <a:r>
              <a:rPr lang="ru-RU" sz="2600" dirty="0"/>
              <a:t>Три вида потоков (деятельности)</a:t>
            </a:r>
          </a:p>
          <a:p>
            <a:pPr lvl="1"/>
            <a:r>
              <a:rPr lang="ru-RU" sz="2400" dirty="0"/>
              <a:t>Операционные (</a:t>
            </a:r>
            <a:r>
              <a:rPr lang="en-US" sz="2400" dirty="0"/>
              <a:t>OCF)</a:t>
            </a:r>
            <a:endParaRPr lang="ru-RU" sz="2400" dirty="0"/>
          </a:p>
          <a:p>
            <a:pPr lvl="1"/>
            <a:r>
              <a:rPr lang="ru-RU" sz="2400" dirty="0"/>
              <a:t>Инвестиционные</a:t>
            </a:r>
            <a:r>
              <a:rPr lang="en-US" sz="2400" dirty="0"/>
              <a:t> (ICF)</a:t>
            </a:r>
            <a:endParaRPr lang="ru-RU" sz="2400" dirty="0"/>
          </a:p>
          <a:p>
            <a:pPr lvl="1"/>
            <a:r>
              <a:rPr lang="ru-RU" sz="2400" dirty="0"/>
              <a:t>Финансовые </a:t>
            </a:r>
            <a:r>
              <a:rPr lang="en-US" sz="2400" dirty="0"/>
              <a:t>(FCF)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8445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descr="Large confetti">
            <a:extLst>
              <a:ext uri="{FF2B5EF4-FFF2-40B4-BE49-F238E27FC236}">
                <a16:creationId xmlns:a16="http://schemas.microsoft.com/office/drawing/2014/main" id="{F943DECD-CE32-CEB3-684B-460B35ED5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177" y="260351"/>
            <a:ext cx="10582181" cy="955889"/>
          </a:xfrm>
        </p:spPr>
        <p:txBody>
          <a:bodyPr>
            <a:noAutofit/>
          </a:bodyPr>
          <a:lstStyle/>
          <a:p>
            <a:pPr algn="ctr"/>
            <a:r>
              <a:rPr lang="ru-RU" altLang="ru-RU" sz="2800" b="1" dirty="0"/>
              <a:t>Характеристики прямого и косвенного</a:t>
            </a:r>
            <a:br>
              <a:rPr lang="ru-RU" altLang="ru-RU" sz="2800" b="1" dirty="0"/>
            </a:br>
            <a:r>
              <a:rPr lang="ru-RU" altLang="ru-RU" sz="2800" b="1" dirty="0"/>
              <a:t> метода расчета </a:t>
            </a:r>
            <a:r>
              <a:rPr lang="en-US" altLang="ru-RU" sz="2800" b="1" dirty="0"/>
              <a:t>CF</a:t>
            </a:r>
            <a:endParaRPr lang="ru-RU" altLang="ru-RU" sz="2800" b="1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D50685E-483E-DFAC-B8B3-BD1C6708FE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022565"/>
              </p:ext>
            </p:extLst>
          </p:nvPr>
        </p:nvGraphicFramePr>
        <p:xfrm>
          <a:off x="1387461" y="1486087"/>
          <a:ext cx="9813612" cy="502901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321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4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616">
                  <a:extLst>
                    <a:ext uri="{9D8B030D-6E8A-4147-A177-3AD203B41FA5}">
                      <a16:colId xmlns:a16="http://schemas.microsoft.com/office/drawing/2014/main" val="1797685713"/>
                    </a:ext>
                  </a:extLst>
                </a:gridCol>
              </a:tblGrid>
              <a:tr h="60953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Критерий</a:t>
                      </a:r>
                    </a:p>
                  </a:txBody>
                  <a:tcPr marL="91424" marR="91424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Прямой метод</a:t>
                      </a:r>
                    </a:p>
                  </a:txBody>
                  <a:tcPr marL="91424" marR="91424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/>
                        <a:t>Косвенный метод</a:t>
                      </a:r>
                      <a:endParaRPr lang="ru-RU" sz="2000" dirty="0"/>
                    </a:p>
                  </a:txBody>
                  <a:tcPr marL="91424" marR="91424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В</a:t>
                      </a:r>
                      <a:r>
                        <a:rPr lang="ru-RU" sz="2000" baseline="0" dirty="0"/>
                        <a:t> основе расчета</a:t>
                      </a:r>
                      <a:endParaRPr lang="ru-RU" sz="2000" dirty="0"/>
                    </a:p>
                  </a:txBody>
                  <a:tcPr marL="91424" marR="91424" marT="45708" marB="45708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Выручка</a:t>
                      </a:r>
                    </a:p>
                  </a:txBody>
                  <a:tcPr marL="91424" marR="91424" marT="45708" marB="45708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Чистая прибыль</a:t>
                      </a:r>
                    </a:p>
                  </a:txBody>
                  <a:tcPr marL="91424" marR="91424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495">
                <a:tc>
                  <a:txBody>
                    <a:bodyPr/>
                    <a:lstStyle/>
                    <a:p>
                      <a:r>
                        <a:rPr lang="ru-RU" sz="2000" dirty="0"/>
                        <a:t>Общие</a:t>
                      </a:r>
                      <a:r>
                        <a:rPr lang="ru-RU" sz="2000" baseline="0" dirty="0"/>
                        <a:t> статьи в расчете</a:t>
                      </a:r>
                      <a:endParaRPr lang="ru-RU" sz="2000" dirty="0"/>
                    </a:p>
                  </a:txBody>
                  <a:tcPr marL="91424" marR="91424" marT="45708" marB="45708"/>
                </a:tc>
                <a:tc gridSpan="2">
                  <a:txBody>
                    <a:bodyPr/>
                    <a:lstStyle/>
                    <a:p>
                      <a:r>
                        <a:rPr lang="ru-RU" sz="2000" dirty="0"/>
                        <a:t>Дебиторская</a:t>
                      </a:r>
                      <a:r>
                        <a:rPr lang="ru-RU" sz="2000" baseline="0" dirty="0"/>
                        <a:t> и кредиторская задолженность, запасы, налоги, инвестиции в основные средства</a:t>
                      </a:r>
                      <a:endParaRPr lang="ru-RU" sz="2000" dirty="0"/>
                    </a:p>
                  </a:txBody>
                  <a:tcPr marL="91424" marR="91424" marT="45708" marB="45708"/>
                </a:tc>
                <a:tc hMerge="1">
                  <a:txBody>
                    <a:bodyPr/>
                    <a:lstStyle/>
                    <a:p>
                      <a:endParaRPr lang="ru-RU" sz="2000" dirty="0"/>
                    </a:p>
                  </a:txBody>
                  <a:tcPr marL="91424" marR="91424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76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Различие в знаках: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Кредиторская задолженность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Запасы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Налоги</a:t>
                      </a:r>
                    </a:p>
                  </a:txBody>
                  <a:tcPr marL="91424" marR="91424" marT="45708" marB="45708"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  <a:p>
                      <a:endParaRPr lang="ru-RU" sz="2000" dirty="0"/>
                    </a:p>
                    <a:p>
                      <a:r>
                        <a:rPr lang="ru-RU" sz="2000" dirty="0"/>
                        <a:t>-</a:t>
                      </a:r>
                    </a:p>
                    <a:p>
                      <a:r>
                        <a:rPr lang="ru-RU" sz="2000" dirty="0"/>
                        <a:t>+</a:t>
                      </a:r>
                    </a:p>
                    <a:p>
                      <a:r>
                        <a:rPr lang="ru-RU" sz="2000" dirty="0"/>
                        <a:t>-</a:t>
                      </a:r>
                    </a:p>
                  </a:txBody>
                  <a:tcPr marL="91424" marR="91424" marT="45708" marB="45708"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  <a:p>
                      <a:endParaRPr lang="ru-RU" sz="2000" dirty="0"/>
                    </a:p>
                    <a:p>
                      <a:r>
                        <a:rPr lang="ru-RU" sz="2000" dirty="0"/>
                        <a:t>+</a:t>
                      </a:r>
                    </a:p>
                    <a:p>
                      <a:r>
                        <a:rPr lang="ru-RU" sz="2000" dirty="0"/>
                        <a:t>-</a:t>
                      </a:r>
                    </a:p>
                    <a:p>
                      <a:r>
                        <a:rPr lang="ru-RU" sz="2000" dirty="0"/>
                        <a:t>+</a:t>
                      </a:r>
                    </a:p>
                  </a:txBody>
                  <a:tcPr marL="91424" marR="91424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22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Различные </a:t>
                      </a:r>
                      <a:r>
                        <a:rPr lang="ru-RU" sz="2000" baseline="0" dirty="0"/>
                        <a:t>статьи в расчете</a:t>
                      </a:r>
                      <a:endParaRPr lang="ru-RU" sz="2000" dirty="0"/>
                    </a:p>
                  </a:txBody>
                  <a:tcPr marL="91424" marR="91424" marT="45708" marB="45708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Операционные издержки, в т.ч. покупка </a:t>
                      </a:r>
                      <a:r>
                        <a:rPr lang="ru-RU" sz="2000" baseline="0" dirty="0"/>
                        <a:t>материалов, </a:t>
                      </a:r>
                      <a:r>
                        <a:rPr lang="ru-RU" sz="2000" dirty="0"/>
                        <a:t>сырья,</a:t>
                      </a:r>
                      <a:r>
                        <a:rPr lang="ru-RU" sz="2000" baseline="0" dirty="0"/>
                        <a:t> комплектующих; общие и административные издержки</a:t>
                      </a:r>
                      <a:endParaRPr lang="ru-RU" sz="2000" dirty="0"/>
                    </a:p>
                  </a:txBody>
                  <a:tcPr marL="91424" marR="91424" marT="45708" marB="45708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Амортизация</a:t>
                      </a:r>
                      <a:r>
                        <a:rPr lang="ru-RU" sz="2000" baseline="0"/>
                        <a:t> (</a:t>
                      </a:r>
                      <a:r>
                        <a:rPr lang="en-US" sz="2000" baseline="0"/>
                        <a:t>DA</a:t>
                      </a:r>
                      <a:r>
                        <a:rPr lang="ru-RU" sz="2000" baseline="0"/>
                        <a:t>) – неденежный поток</a:t>
                      </a:r>
                      <a:endParaRPr lang="ru-RU" sz="2000" dirty="0"/>
                    </a:p>
                  </a:txBody>
                  <a:tcPr marL="91424" marR="91424" marT="45708" marB="4570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913">
                <a:tc>
                  <a:txBody>
                    <a:bodyPr/>
                    <a:lstStyle/>
                    <a:p>
                      <a:r>
                        <a:rPr lang="ru-RU" sz="2000" dirty="0"/>
                        <a:t>Итог</a:t>
                      </a:r>
                    </a:p>
                  </a:txBody>
                  <a:tcPr marL="91424" marR="91424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aseline="0" dirty="0"/>
                        <a:t>по </a:t>
                      </a:r>
                      <a:r>
                        <a:rPr lang="ru-RU" sz="2000" dirty="0"/>
                        <a:t>РСБУ</a:t>
                      </a:r>
                    </a:p>
                  </a:txBody>
                  <a:tcPr marL="91424" marR="91424" marT="45708" marB="4570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aseline="0" dirty="0"/>
                        <a:t>по </a:t>
                      </a:r>
                      <a:r>
                        <a:rPr lang="ru-RU" sz="2000" dirty="0"/>
                        <a:t>МСФО</a:t>
                      </a:r>
                    </a:p>
                  </a:txBody>
                  <a:tcPr marL="91424" marR="91424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74" name="Номер слайда 4">
            <a:extLst>
              <a:ext uri="{FF2B5EF4-FFF2-40B4-BE49-F238E27FC236}">
                <a16:creationId xmlns:a16="http://schemas.microsoft.com/office/drawing/2014/main" id="{FDCBEA96-737B-3FD1-0238-8BD0DC92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967664" y="6515101"/>
            <a:ext cx="300037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FBA2143-DD92-4DFC-A005-B2CFEED04A32}" type="slidenum">
              <a:rPr lang="ru-RU" altLang="ru-RU" sz="1400"/>
              <a:pPr/>
              <a:t>6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 descr="Large confetti">
            <a:extLst>
              <a:ext uri="{FF2B5EF4-FFF2-40B4-BE49-F238E27FC236}">
                <a16:creationId xmlns:a16="http://schemas.microsoft.com/office/drawing/2014/main" id="{4C6B8D25-56E3-5CDE-7036-15A5B8CD43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850" y="333375"/>
            <a:ext cx="8468002" cy="684208"/>
          </a:xfrm>
        </p:spPr>
        <p:txBody>
          <a:bodyPr/>
          <a:lstStyle/>
          <a:p>
            <a:pPr eaLnBrk="1" hangingPunct="1"/>
            <a:r>
              <a:rPr lang="ru-RU" altLang="ru-RU" sz="3000" b="1" dirty="0"/>
              <a:t>Виды денежных потоков предприятия </a:t>
            </a: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647B8AB3-597D-3555-D7E8-F15F0D9FF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278063"/>
            <a:ext cx="3124200" cy="1662112"/>
          </a:xfrm>
          <a:prstGeom prst="rect">
            <a:avLst/>
          </a:prstGeom>
          <a:solidFill>
            <a:srgbClr val="C8E6E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/>
              <a:t>Инвестиционная деятельность</a:t>
            </a:r>
          </a:p>
          <a:p>
            <a:pPr algn="r" eaLnBrk="1" hangingPunct="1">
              <a:spcBef>
                <a:spcPct val="50000"/>
              </a:spcBef>
            </a:pPr>
            <a:r>
              <a:rPr lang="ru-RU" altLang="ru-RU" sz="1800" b="1"/>
              <a:t>Баланс</a:t>
            </a:r>
          </a:p>
          <a:p>
            <a:pPr algn="r" eaLnBrk="1" hangingPunct="1">
              <a:spcBef>
                <a:spcPct val="50000"/>
              </a:spcBef>
            </a:pPr>
            <a:r>
              <a:rPr lang="ru-RU" altLang="ru-RU" sz="1800" b="1"/>
              <a:t>(активы ф.1)</a:t>
            </a:r>
          </a:p>
        </p:txBody>
      </p:sp>
      <p:sp>
        <p:nvSpPr>
          <p:cNvPr id="4102" name="Text Box 6">
            <a:extLst>
              <a:ext uri="{FF2B5EF4-FFF2-40B4-BE49-F238E27FC236}">
                <a16:creationId xmlns:a16="http://schemas.microsoft.com/office/drawing/2014/main" id="{4DFD70AA-0493-A506-F36D-2D6207B10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5373689"/>
            <a:ext cx="4114800" cy="466725"/>
          </a:xfrm>
          <a:prstGeom prst="rect">
            <a:avLst/>
          </a:prstGeom>
          <a:solidFill>
            <a:srgbClr val="C8E6E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>
                <a:solidFill>
                  <a:srgbClr val="00B0F0"/>
                </a:solidFill>
              </a:rPr>
              <a:t>Операционная деятельность</a:t>
            </a: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78397A59-227B-B7A3-F6AE-6AF94E5C3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100" y="2278063"/>
            <a:ext cx="3048000" cy="1662112"/>
          </a:xfrm>
          <a:prstGeom prst="rect">
            <a:avLst/>
          </a:prstGeom>
          <a:solidFill>
            <a:srgbClr val="C8E6E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/>
              <a:t>Финансовая деятельность</a:t>
            </a:r>
          </a:p>
          <a:p>
            <a:pPr algn="r" eaLnBrk="1" hangingPunct="1">
              <a:spcBef>
                <a:spcPct val="50000"/>
              </a:spcBef>
            </a:pPr>
            <a:r>
              <a:rPr lang="ru-RU" altLang="ru-RU" sz="1800" b="1"/>
              <a:t>Баланс </a:t>
            </a:r>
          </a:p>
          <a:p>
            <a:pPr algn="r" eaLnBrk="1" hangingPunct="1">
              <a:spcBef>
                <a:spcPct val="50000"/>
              </a:spcBef>
            </a:pPr>
            <a:r>
              <a:rPr lang="ru-RU" altLang="ru-RU" sz="1800" b="1"/>
              <a:t>(пассивы ф.1)</a:t>
            </a:r>
          </a:p>
        </p:txBody>
      </p:sp>
      <p:sp>
        <p:nvSpPr>
          <p:cNvPr id="4104" name="Line 8">
            <a:extLst>
              <a:ext uri="{FF2B5EF4-FFF2-40B4-BE49-F238E27FC236}">
                <a16:creationId xmlns:a16="http://schemas.microsoft.com/office/drawing/2014/main" id="{99204746-B58F-5626-1017-107AC48E99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59150" y="3933826"/>
            <a:ext cx="1225550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105" name="Line 9">
            <a:extLst>
              <a:ext uri="{FF2B5EF4-FFF2-40B4-BE49-F238E27FC236}">
                <a16:creationId xmlns:a16="http://schemas.microsoft.com/office/drawing/2014/main" id="{B72E2B77-CFCB-A9A7-E978-711D4460C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3128963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106" name="Line 10">
            <a:extLst>
              <a:ext uri="{FF2B5EF4-FFF2-40B4-BE49-F238E27FC236}">
                <a16:creationId xmlns:a16="http://schemas.microsoft.com/office/drawing/2014/main" id="{E895AD9F-0DCA-6A18-B14C-078FB10495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9963" y="3933826"/>
            <a:ext cx="1008062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721BF276-5C51-86B2-B9A7-99EDCCDB4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8" y="6094413"/>
            <a:ext cx="3200400" cy="369332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ru-RU" i="1" dirty="0"/>
              <a:t>Прибыль (ф.2)</a:t>
            </a:r>
          </a:p>
        </p:txBody>
      </p:sp>
      <p:sp>
        <p:nvSpPr>
          <p:cNvPr id="4108" name="Text Box 12">
            <a:extLst>
              <a:ext uri="{FF2B5EF4-FFF2-40B4-BE49-F238E27FC236}">
                <a16:creationId xmlns:a16="http://schemas.microsoft.com/office/drawing/2014/main" id="{A1CC5A62-91D5-A8DE-2049-A45899AB8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773238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i="1"/>
              <a:t>Активы</a:t>
            </a: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A4E7DFB0-B9DE-77A6-6EC1-AB1C72D11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0" y="1773238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i="1"/>
              <a:t>Капитал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1D4DFE73-F45F-FBE8-0445-F1D5AC929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1" y="4294189"/>
            <a:ext cx="1439863" cy="92392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ru-RU" dirty="0"/>
              <a:t>3.</a:t>
            </a:r>
          </a:p>
          <a:p>
            <a:pPr algn="ctr">
              <a:defRPr/>
            </a:pPr>
            <a:r>
              <a:rPr lang="ru-RU" dirty="0"/>
              <a:t>Финансовые</a:t>
            </a:r>
          </a:p>
          <a:p>
            <a:pPr algn="ctr">
              <a:defRPr/>
            </a:pPr>
            <a:r>
              <a:rPr lang="en-US" dirty="0"/>
              <a:t>FCF</a:t>
            </a:r>
            <a:endParaRPr lang="ru-RU" dirty="0"/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C7942BD0-3E45-895D-B9EF-D3A9489D6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204" y="4294189"/>
            <a:ext cx="1849946" cy="92333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dirty="0"/>
              <a:t>1. Операционные</a:t>
            </a:r>
          </a:p>
          <a:p>
            <a:pPr algn="ctr">
              <a:defRPr/>
            </a:pPr>
            <a:r>
              <a:rPr lang="en-US" dirty="0"/>
              <a:t>OCF</a:t>
            </a:r>
            <a:endParaRPr lang="ru-RU" dirty="0"/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3F0DA14A-173B-881A-5D55-CC41CB1BE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1557339"/>
            <a:ext cx="2008188" cy="92392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ru-RU" dirty="0"/>
              <a:t>2.</a:t>
            </a:r>
          </a:p>
          <a:p>
            <a:pPr algn="ctr">
              <a:defRPr/>
            </a:pPr>
            <a:r>
              <a:rPr lang="ru-RU" dirty="0"/>
              <a:t>Инвестиционные</a:t>
            </a:r>
          </a:p>
          <a:p>
            <a:pPr algn="ctr">
              <a:defRPr/>
            </a:pPr>
            <a:r>
              <a:rPr lang="en-US" dirty="0"/>
              <a:t>ICF</a:t>
            </a:r>
            <a:endParaRPr lang="ru-RU" dirty="0"/>
          </a:p>
        </p:txBody>
      </p:sp>
      <p:sp>
        <p:nvSpPr>
          <p:cNvPr id="11279" name="Номер слайда 14">
            <a:extLst>
              <a:ext uri="{FF2B5EF4-FFF2-40B4-BE49-F238E27FC236}">
                <a16:creationId xmlns:a16="http://schemas.microsoft.com/office/drawing/2014/main" id="{7DFD15A2-7D32-3403-CEC2-D46CABBA3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AC2673-EB1C-4D2D-9DA0-6A820BEA119A}" type="slidenum">
              <a:rPr lang="ru-RU" altLang="ru-RU" sz="1400">
                <a:solidFill>
                  <a:schemeClr val="bg1"/>
                </a:solidFill>
              </a:rPr>
              <a:pPr/>
              <a:t>7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101" grpId="0" animBg="1"/>
      <p:bldP spid="4102" grpId="0" animBg="1"/>
      <p:bldP spid="4103" grpId="0" animBg="1"/>
      <p:bldP spid="4107" grpId="0" animBg="1"/>
      <p:bldP spid="4108" grpId="0"/>
      <p:bldP spid="4109" grpId="0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 descr="Large confetti">
            <a:extLst>
              <a:ext uri="{FF2B5EF4-FFF2-40B4-BE49-F238E27FC236}">
                <a16:creationId xmlns:a16="http://schemas.microsoft.com/office/drawing/2014/main" id="{3405699D-E0CD-8987-3D75-F7D0DCFA72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Активные денежные потоки (1)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BE20B5D-26A6-564D-1523-338A94E86D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616604" y="1168262"/>
            <a:ext cx="8958791" cy="2613165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Times New Roman" panose="02020603050405020304" pitchFamily="18" charset="0"/>
              <a:buAutoNum type="arabicPeriod"/>
            </a:pPr>
            <a:r>
              <a:rPr lang="ru-RU" altLang="ru-RU" sz="2800" dirty="0"/>
              <a:t>Операционный денежный поток </a:t>
            </a:r>
            <a:r>
              <a:rPr lang="en-US" altLang="ru-RU" sz="2800" dirty="0"/>
              <a:t>(OCF)</a:t>
            </a:r>
            <a:endParaRPr lang="ru-RU" altLang="ru-RU" sz="2800" dirty="0"/>
          </a:p>
          <a:p>
            <a:pPr lvl="1" eaLnBrk="1" hangingPunct="1"/>
            <a:r>
              <a:rPr lang="en-US" altLang="ru-RU" sz="2400" dirty="0"/>
              <a:t>EBIT – Earning Before Interest &amp;Taxes </a:t>
            </a:r>
            <a:endParaRPr lang="ru-RU" altLang="ru-RU" sz="2400" dirty="0"/>
          </a:p>
          <a:p>
            <a:pPr lvl="2"/>
            <a:r>
              <a:rPr lang="ru-RU" altLang="ru-RU" sz="2200" dirty="0"/>
              <a:t>Прибыль до выплаты процентов и налогов</a:t>
            </a:r>
            <a:endParaRPr lang="en-US" altLang="ru-RU" sz="2200" dirty="0"/>
          </a:p>
          <a:p>
            <a:pPr lvl="1" eaLnBrk="1" hangingPunct="1"/>
            <a:r>
              <a:rPr lang="en-US" altLang="ru-RU" sz="2400" dirty="0"/>
              <a:t>DA</a:t>
            </a:r>
            <a:endParaRPr lang="ru-RU" altLang="ru-RU" sz="2400" dirty="0"/>
          </a:p>
          <a:p>
            <a:pPr lvl="2"/>
            <a:r>
              <a:rPr lang="ru-RU" altLang="ru-RU" sz="2200" dirty="0"/>
              <a:t>амортизация</a:t>
            </a:r>
          </a:p>
          <a:p>
            <a:pPr lvl="1" eaLnBrk="1" hangingPunct="1"/>
            <a:r>
              <a:rPr lang="en-US" altLang="ru-RU" sz="2400" dirty="0"/>
              <a:t>Tax (T)</a:t>
            </a:r>
            <a:endParaRPr lang="ru-RU" altLang="ru-RU" sz="2400" dirty="0"/>
          </a:p>
          <a:p>
            <a:pPr lvl="2"/>
            <a:r>
              <a:rPr lang="ru-RU" altLang="ru-RU" sz="2200" dirty="0">
                <a:solidFill>
                  <a:schemeClr val="tx1"/>
                </a:solidFill>
              </a:rPr>
              <a:t>налоги</a:t>
            </a:r>
            <a:endParaRPr lang="en-US" altLang="ru-RU" sz="2200" dirty="0">
              <a:solidFill>
                <a:schemeClr val="tx1"/>
              </a:solidFill>
            </a:endParaRPr>
          </a:p>
        </p:txBody>
      </p:sp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DD52A268-ADD9-07F8-4DB1-BBC5DAE32124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42447687"/>
              </p:ext>
            </p:extLst>
          </p:nvPr>
        </p:nvGraphicFramePr>
        <p:xfrm>
          <a:off x="3027361" y="4929325"/>
          <a:ext cx="61372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434477" imgH="177723" progId="Equation.3">
                  <p:embed/>
                </p:oleObj>
              </mc:Choice>
              <mc:Fallback>
                <p:oleObj name="Формула" r:id="rId3" imgW="1434477" imgH="177723" progId="Equation.3">
                  <p:embed/>
                  <p:pic>
                    <p:nvPicPr>
                      <p:cNvPr id="33796" name="Object 4">
                        <a:extLst>
                          <a:ext uri="{FF2B5EF4-FFF2-40B4-BE49-F238E27FC236}">
                            <a16:creationId xmlns:a16="http://schemas.microsoft.com/office/drawing/2014/main" id="{DD52A268-ADD9-07F8-4DB1-BBC5DAE3212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1" y="4929325"/>
                        <a:ext cx="6137275" cy="7604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5">
            <a:extLst>
              <a:ext uri="{FF2B5EF4-FFF2-40B4-BE49-F238E27FC236}">
                <a16:creationId xmlns:a16="http://schemas.microsoft.com/office/drawing/2014/main" id="{6CD0F5C6-BCB9-4FBE-F9DC-A57C27864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886" y="4055634"/>
            <a:ext cx="3302000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b="1"/>
              <a:t>EBITDA = EBIT + DA</a:t>
            </a:r>
            <a:endParaRPr lang="ru-RU" altLang="ru-RU" b="1"/>
          </a:p>
        </p:txBody>
      </p:sp>
      <p:sp>
        <p:nvSpPr>
          <p:cNvPr id="33805" name="Text Box 13">
            <a:extLst>
              <a:ext uri="{FF2B5EF4-FFF2-40B4-BE49-F238E27FC236}">
                <a16:creationId xmlns:a16="http://schemas.microsoft.com/office/drawing/2014/main" id="{7A75C31B-83A2-9FCF-64C7-BE3EAF08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139" y="5963945"/>
            <a:ext cx="3554412" cy="7381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ru-RU" b="1" dirty="0"/>
              <a:t>NOPAT = EBIT – T</a:t>
            </a:r>
            <a:endParaRPr lang="ru-RU" altLang="ru-RU" b="1" dirty="0"/>
          </a:p>
          <a:p>
            <a:pPr eaLnBrk="1" hangingPunct="1"/>
            <a:r>
              <a:rPr lang="en-US" altLang="ru-RU" sz="1800" dirty="0">
                <a:solidFill>
                  <a:srgbClr val="404040"/>
                </a:solidFill>
                <a:latin typeface="Trebuchet MS" panose="020B0603020202020204" pitchFamily="34" charset="0"/>
              </a:rPr>
              <a:t>Net Operating Profit After Taxes</a:t>
            </a:r>
            <a:endParaRPr lang="ru-RU" altLang="ru-RU" b="1" dirty="0"/>
          </a:p>
        </p:txBody>
      </p:sp>
      <p:sp>
        <p:nvSpPr>
          <p:cNvPr id="13319" name="Номер слайда 12">
            <a:extLst>
              <a:ext uri="{FF2B5EF4-FFF2-40B4-BE49-F238E27FC236}">
                <a16:creationId xmlns:a16="http://schemas.microsoft.com/office/drawing/2014/main" id="{FDE67CDE-23D2-DA08-1173-321209BE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DC3933-7172-4C2A-8E47-1B1F034385A8}" type="slidenum">
              <a:rPr lang="ru-RU" altLang="ru-RU" sz="1400">
                <a:solidFill>
                  <a:schemeClr val="bg1"/>
                </a:solidFill>
              </a:rPr>
              <a:pPr/>
              <a:t>8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20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0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0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795" grpId="0" build="p"/>
      <p:bldP spid="33797" grpId="0" animBg="1"/>
      <p:bldP spid="3380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 descr="Large confetti">
            <a:extLst>
              <a:ext uri="{FF2B5EF4-FFF2-40B4-BE49-F238E27FC236}">
                <a16:creationId xmlns:a16="http://schemas.microsoft.com/office/drawing/2014/main" id="{C05B8B11-7D6B-02CD-C6D6-D099054B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190" y="534710"/>
            <a:ext cx="7235161" cy="760997"/>
          </a:xfrm>
        </p:spPr>
        <p:txBody>
          <a:bodyPr/>
          <a:lstStyle/>
          <a:p>
            <a:pPr algn="r" eaLnBrk="1" hangingPunct="1"/>
            <a:r>
              <a:rPr lang="ru-RU" altLang="ru-RU" sz="3200" b="1" dirty="0"/>
              <a:t>Активные денежные потоки (2</a:t>
            </a:r>
            <a:r>
              <a:rPr lang="en-US" altLang="ru-RU" sz="3200" b="1" dirty="0"/>
              <a:t>, 3</a:t>
            </a:r>
            <a:r>
              <a:rPr lang="ru-RU" altLang="ru-RU" sz="3200" b="1" dirty="0"/>
              <a:t>)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F4B4B6E8-4CAF-75D2-78B9-53B1D2D45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9" y="1414464"/>
            <a:ext cx="6840537" cy="5038725"/>
          </a:xfrm>
        </p:spPr>
        <p:txBody>
          <a:bodyPr/>
          <a:lstStyle/>
          <a:p>
            <a:pPr marL="514350" indent="-514350">
              <a:spcBef>
                <a:spcPts val="600"/>
              </a:spcBef>
              <a:buNone/>
              <a:defRPr/>
            </a:pPr>
            <a:r>
              <a:rPr lang="en-US" sz="2400" dirty="0"/>
              <a:t>2. </a:t>
            </a:r>
            <a:r>
              <a:rPr lang="ru-RU" sz="2400" dirty="0"/>
              <a:t>Инвестиционный денежный поток (</a:t>
            </a:r>
            <a:r>
              <a:rPr lang="en-US" sz="2400" dirty="0"/>
              <a:t>ICF)</a:t>
            </a:r>
            <a:endParaRPr lang="ru-RU" sz="2400" dirty="0"/>
          </a:p>
          <a:p>
            <a:pPr marL="971550" lvl="1" indent="-514350">
              <a:spcBef>
                <a:spcPts val="600"/>
              </a:spcBef>
              <a:defRPr/>
            </a:pPr>
            <a:r>
              <a:rPr lang="en-US" sz="2000" dirty="0"/>
              <a:t>(FA2 – FA1) + DA</a:t>
            </a:r>
            <a:r>
              <a:rPr lang="ru-RU" sz="2000" dirty="0"/>
              <a:t> = ∆</a:t>
            </a:r>
            <a:r>
              <a:rPr lang="en-US" sz="2000" dirty="0"/>
              <a:t>FA + DA</a:t>
            </a:r>
            <a:endParaRPr lang="ru-RU" sz="2000" dirty="0"/>
          </a:p>
          <a:p>
            <a:pPr marL="1371600" lvl="2" indent="-514350">
              <a:spcBef>
                <a:spcPts val="600"/>
              </a:spcBef>
              <a:defRPr/>
            </a:pPr>
            <a:r>
              <a:rPr lang="en-US" sz="1800" dirty="0"/>
              <a:t>FA – </a:t>
            </a:r>
            <a:r>
              <a:rPr lang="ru-RU" sz="1800" dirty="0"/>
              <a:t>основные средства</a:t>
            </a:r>
            <a:endParaRPr lang="en-US" sz="1800" dirty="0"/>
          </a:p>
          <a:p>
            <a:pPr marL="1371600" lvl="2" indent="-514350">
              <a:spcBef>
                <a:spcPts val="600"/>
              </a:spcBef>
              <a:defRPr/>
            </a:pPr>
            <a:r>
              <a:rPr lang="en-US" sz="1800" dirty="0"/>
              <a:t>DA – </a:t>
            </a:r>
            <a:r>
              <a:rPr lang="ru-RU" sz="1800" dirty="0"/>
              <a:t>амортизация и износ</a:t>
            </a:r>
          </a:p>
          <a:p>
            <a:pPr marL="514350" indent="-514350">
              <a:spcBef>
                <a:spcPts val="600"/>
              </a:spcBef>
              <a:buNone/>
              <a:defRPr/>
            </a:pPr>
            <a:r>
              <a:rPr lang="en-US" sz="2400" dirty="0"/>
              <a:t>3. </a:t>
            </a:r>
            <a:r>
              <a:rPr lang="ru-RU" sz="2400" dirty="0"/>
              <a:t>Изменение чистого оборотного капитала </a:t>
            </a:r>
            <a:r>
              <a:rPr lang="en-US" sz="2400" dirty="0"/>
              <a:t>(∆NWC - net working capital)</a:t>
            </a:r>
          </a:p>
          <a:p>
            <a:pPr marL="971550" lvl="1" indent="-514350">
              <a:spcBef>
                <a:spcPts val="600"/>
              </a:spcBef>
              <a:defRPr/>
            </a:pPr>
            <a:r>
              <a:rPr lang="en-US" sz="2000" dirty="0"/>
              <a:t>NWC2 – NWC1, </a:t>
            </a:r>
            <a:r>
              <a:rPr lang="ru-RU" sz="2000" dirty="0"/>
              <a:t>где </a:t>
            </a:r>
            <a:r>
              <a:rPr lang="en-US" sz="2000" dirty="0"/>
              <a:t>NWC</a:t>
            </a:r>
            <a:r>
              <a:rPr lang="ru-RU" sz="2000" dirty="0"/>
              <a:t> = </a:t>
            </a:r>
            <a:r>
              <a:rPr lang="en-US" sz="2000" dirty="0"/>
              <a:t>OA – CL</a:t>
            </a:r>
          </a:p>
          <a:p>
            <a:pPr marL="1245870" lvl="2" indent="-514350">
              <a:spcBef>
                <a:spcPts val="600"/>
              </a:spcBef>
              <a:defRPr/>
            </a:pPr>
            <a:r>
              <a:rPr lang="en-US" dirty="0"/>
              <a:t>OA – </a:t>
            </a:r>
            <a:r>
              <a:rPr lang="ru-RU" dirty="0"/>
              <a:t>оборотные активы</a:t>
            </a:r>
            <a:endParaRPr lang="en-US" dirty="0"/>
          </a:p>
          <a:p>
            <a:pPr marL="1245870" lvl="2" indent="-514350">
              <a:spcBef>
                <a:spcPts val="600"/>
              </a:spcBef>
              <a:defRPr/>
            </a:pPr>
            <a:r>
              <a:rPr lang="en-US" dirty="0"/>
              <a:t>CL – </a:t>
            </a:r>
            <a:r>
              <a:rPr lang="ru-RU" dirty="0"/>
              <a:t>текущие обязательства</a:t>
            </a:r>
            <a:endParaRPr lang="en-US" dirty="0"/>
          </a:p>
          <a:p>
            <a:pPr marL="57150" indent="0" algn="ctr">
              <a:spcBef>
                <a:spcPts val="600"/>
              </a:spcBef>
              <a:buNone/>
              <a:defRPr/>
            </a:pPr>
            <a:endParaRPr lang="en-US" sz="2400" dirty="0"/>
          </a:p>
          <a:p>
            <a:pPr marL="57150" indent="0" algn="ctr">
              <a:spcBef>
                <a:spcPts val="600"/>
              </a:spcBef>
              <a:buNone/>
              <a:defRPr/>
            </a:pPr>
            <a:r>
              <a:rPr lang="en-US" sz="2400" dirty="0"/>
              <a:t>ICF + ∆NWC = </a:t>
            </a:r>
            <a:r>
              <a:rPr lang="en-US" sz="2400" dirty="0" err="1"/>
              <a:t>CapEx</a:t>
            </a:r>
            <a:r>
              <a:rPr lang="en-US" sz="2400" dirty="0"/>
              <a:t> (Capital Expenditure)</a:t>
            </a:r>
            <a:r>
              <a:rPr lang="ru-RU" sz="2400" dirty="0"/>
              <a:t> </a:t>
            </a:r>
            <a:r>
              <a:rPr lang="ru-RU" dirty="0"/>
              <a:t>Термин введен </a:t>
            </a:r>
            <a:r>
              <a:rPr lang="ru-RU" dirty="0" err="1"/>
              <a:t>Асватом</a:t>
            </a:r>
            <a:r>
              <a:rPr lang="ru-RU" dirty="0"/>
              <a:t> </a:t>
            </a:r>
            <a:r>
              <a:rPr lang="ru-RU" dirty="0" err="1"/>
              <a:t>Дамодараном</a:t>
            </a:r>
            <a:r>
              <a:rPr lang="ru-RU" dirty="0"/>
              <a:t> (</a:t>
            </a:r>
            <a:r>
              <a:rPr lang="en-US" dirty="0" err="1"/>
              <a:t>Aswath</a:t>
            </a:r>
            <a:r>
              <a:rPr lang="en-US" dirty="0"/>
              <a:t> </a:t>
            </a:r>
            <a:r>
              <a:rPr lang="en-US" dirty="0" err="1"/>
              <a:t>Damodaran</a:t>
            </a:r>
            <a:r>
              <a:rPr lang="ru-RU" dirty="0"/>
              <a:t>)</a:t>
            </a:r>
          </a:p>
        </p:txBody>
      </p:sp>
      <p:sp>
        <p:nvSpPr>
          <p:cNvPr id="14340" name="Номер слайда 3">
            <a:extLst>
              <a:ext uri="{FF2B5EF4-FFF2-40B4-BE49-F238E27FC236}">
                <a16:creationId xmlns:a16="http://schemas.microsoft.com/office/drawing/2014/main" id="{810F5F5F-C1B8-A37D-E787-DC19DB45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1872DA-6175-481E-B98F-CC5C6B114A3A}" type="slidenum">
              <a:rPr lang="ru-RU" altLang="ru-RU" sz="1400">
                <a:solidFill>
                  <a:schemeClr val="bg1"/>
                </a:solidFill>
              </a:rPr>
              <a:pPr/>
              <a:t>9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Номер слайда 3">
            <a:extLst>
              <a:ext uri="{FF2B5EF4-FFF2-40B4-BE49-F238E27FC236}">
                <a16:creationId xmlns:a16="http://schemas.microsoft.com/office/drawing/2014/main" id="{DC9DA8D1-BDBA-0EEB-61BD-FC3D62F8F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1D688B-753A-427E-9590-E087E52016A6}" type="slidenum">
              <a:rPr lang="ru-RU" altLang="ru-RU" sz="1400">
                <a:solidFill>
                  <a:schemeClr val="bg1"/>
                </a:solidFill>
              </a:rPr>
              <a:pPr/>
              <a:t>10</a:t>
            </a:fld>
            <a:endParaRPr lang="ru-RU" altLang="ru-RU" sz="1400">
              <a:solidFill>
                <a:schemeClr val="bg1"/>
              </a:solidFill>
            </a:endParaRPr>
          </a:p>
        </p:txBody>
      </p:sp>
      <p:sp>
        <p:nvSpPr>
          <p:cNvPr id="25603" name="Заголовок 1">
            <a:extLst>
              <a:ext uri="{FF2B5EF4-FFF2-40B4-BE49-F238E27FC236}">
                <a16:creationId xmlns:a16="http://schemas.microsoft.com/office/drawing/2014/main" id="{98B72299-D495-6CCA-7896-361FA4CEC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011" y="546439"/>
            <a:ext cx="7436527" cy="696435"/>
          </a:xfrm>
        </p:spPr>
        <p:txBody>
          <a:bodyPr>
            <a:normAutofit/>
          </a:bodyPr>
          <a:lstStyle/>
          <a:p>
            <a:r>
              <a:rPr lang="ru-RU" altLang="ru-RU" sz="3200" b="1" dirty="0"/>
              <a:t>Пассивные денежные потоки (4, 5)</a:t>
            </a:r>
            <a:endParaRPr lang="ru-RU" altLang="ru-RU" sz="32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AC9CC0-455F-B91A-4AB4-C17A3A1CB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8963" y="1681164"/>
            <a:ext cx="6348412" cy="4484687"/>
          </a:xfrm>
        </p:spPr>
        <p:txBody>
          <a:bodyPr/>
          <a:lstStyle/>
          <a:p>
            <a:pPr marL="514350" indent="-514350">
              <a:spcBef>
                <a:spcPts val="600"/>
              </a:spcBef>
              <a:buNone/>
              <a:defRPr/>
            </a:pPr>
            <a:r>
              <a:rPr lang="ru-RU" dirty="0"/>
              <a:t>4</a:t>
            </a:r>
            <a:r>
              <a:rPr lang="en-US" dirty="0"/>
              <a:t>. </a:t>
            </a:r>
            <a:r>
              <a:rPr lang="ru-RU" dirty="0"/>
              <a:t>Денежный поток кредиторам </a:t>
            </a:r>
            <a:r>
              <a:rPr lang="en-US" dirty="0"/>
              <a:t>(CF</a:t>
            </a:r>
            <a:r>
              <a:rPr lang="en-US" sz="1400" dirty="0"/>
              <a:t>D</a:t>
            </a:r>
            <a:r>
              <a:rPr lang="en-US" dirty="0"/>
              <a:t>)</a:t>
            </a:r>
          </a:p>
          <a:p>
            <a:pPr marL="971550" lvl="1" indent="-514350">
              <a:spcBef>
                <a:spcPts val="600"/>
              </a:spcBef>
              <a:defRPr/>
            </a:pPr>
            <a:r>
              <a:rPr lang="en-US" dirty="0"/>
              <a:t>I – (D2 – D1</a:t>
            </a:r>
            <a:r>
              <a:rPr lang="en-US" sz="2400" dirty="0"/>
              <a:t>)</a:t>
            </a:r>
            <a:endParaRPr lang="ru-RU" sz="2400" dirty="0"/>
          </a:p>
          <a:p>
            <a:pPr marL="1245870" lvl="2" indent="-514350">
              <a:spcBef>
                <a:spcPts val="600"/>
              </a:spcBef>
              <a:defRPr/>
            </a:pPr>
            <a:r>
              <a:rPr lang="en-US" dirty="0"/>
              <a:t>I – </a:t>
            </a:r>
            <a:r>
              <a:rPr lang="ru-RU" dirty="0"/>
              <a:t>процент за долгосрочный кредит</a:t>
            </a:r>
            <a:endParaRPr lang="en-US" dirty="0"/>
          </a:p>
          <a:p>
            <a:pPr marL="1245870" lvl="2" indent="-514350">
              <a:spcBef>
                <a:spcPts val="600"/>
              </a:spcBef>
              <a:defRPr/>
            </a:pPr>
            <a:r>
              <a:rPr lang="en-US" dirty="0"/>
              <a:t>D – </a:t>
            </a:r>
            <a:r>
              <a:rPr lang="ru-RU" dirty="0"/>
              <a:t>долгосрочные кредиты</a:t>
            </a:r>
            <a:endParaRPr lang="en-US" dirty="0"/>
          </a:p>
          <a:p>
            <a:pPr marL="514350" indent="-514350">
              <a:spcBef>
                <a:spcPts val="600"/>
              </a:spcBef>
              <a:buNone/>
              <a:defRPr/>
            </a:pPr>
            <a:r>
              <a:rPr lang="ru-RU" dirty="0"/>
              <a:t>5</a:t>
            </a:r>
            <a:r>
              <a:rPr lang="en-US" dirty="0"/>
              <a:t>.</a:t>
            </a:r>
            <a:r>
              <a:rPr lang="ru-RU" dirty="0"/>
              <a:t> Денежный поток владельцам (</a:t>
            </a:r>
            <a:r>
              <a:rPr lang="en-US" dirty="0"/>
              <a:t>CF</a:t>
            </a:r>
            <a:r>
              <a:rPr lang="en-US" sz="1400" dirty="0"/>
              <a:t>E</a:t>
            </a:r>
            <a:r>
              <a:rPr lang="en-US" dirty="0"/>
              <a:t>)</a:t>
            </a:r>
            <a:endParaRPr lang="ru-RU" dirty="0"/>
          </a:p>
          <a:p>
            <a:pPr marL="971550" lvl="1" indent="-514350">
              <a:spcBef>
                <a:spcPts val="600"/>
              </a:spcBef>
              <a:defRPr/>
            </a:pPr>
            <a:r>
              <a:rPr lang="en-US" dirty="0"/>
              <a:t>div - (E2 – E1)</a:t>
            </a:r>
            <a:endParaRPr lang="ru-RU" dirty="0"/>
          </a:p>
          <a:p>
            <a:pPr marL="1245870" lvl="2" indent="-514350">
              <a:spcBef>
                <a:spcPts val="600"/>
              </a:spcBef>
              <a:defRPr/>
            </a:pPr>
            <a:r>
              <a:rPr lang="en-US" dirty="0"/>
              <a:t>div – </a:t>
            </a:r>
            <a:r>
              <a:rPr lang="ru-RU" dirty="0"/>
              <a:t>дивиденды</a:t>
            </a:r>
            <a:endParaRPr lang="en-US" dirty="0"/>
          </a:p>
          <a:p>
            <a:pPr marL="1245870" lvl="2" indent="-514350">
              <a:spcBef>
                <a:spcPts val="600"/>
              </a:spcBef>
              <a:defRPr/>
            </a:pPr>
            <a:r>
              <a:rPr lang="en-US" dirty="0"/>
              <a:t>E –</a:t>
            </a:r>
            <a:r>
              <a:rPr lang="ru-RU" dirty="0"/>
              <a:t> собственный капитал</a:t>
            </a:r>
          </a:p>
          <a:p>
            <a:pPr marL="514350" indent="-514350">
              <a:spcBef>
                <a:spcPts val="600"/>
              </a:spcBef>
              <a:buNone/>
              <a:defRPr/>
            </a:pPr>
            <a:r>
              <a:rPr lang="en-US" dirty="0"/>
              <a:t> </a:t>
            </a:r>
          </a:p>
          <a:p>
            <a:pPr marL="571500" indent="-514350">
              <a:spcBef>
                <a:spcPts val="600"/>
              </a:spcBef>
              <a:buNone/>
              <a:defRPr/>
            </a:pPr>
            <a:r>
              <a:rPr lang="en-US" b="1" dirty="0">
                <a:solidFill>
                  <a:srgbClr val="FF9900"/>
                </a:solidFill>
              </a:rPr>
              <a:t>CF</a:t>
            </a:r>
            <a:r>
              <a:rPr lang="en-US" sz="1600" b="1" dirty="0">
                <a:solidFill>
                  <a:srgbClr val="FF9900"/>
                </a:solidFill>
              </a:rPr>
              <a:t>A</a:t>
            </a:r>
            <a:r>
              <a:rPr lang="en-US" b="1" dirty="0">
                <a:solidFill>
                  <a:srgbClr val="FF9900"/>
                </a:solidFill>
              </a:rPr>
              <a:t> </a:t>
            </a:r>
            <a:r>
              <a:rPr lang="ru-RU" b="1" dirty="0">
                <a:solidFill>
                  <a:srgbClr val="FF9900"/>
                </a:solidFill>
              </a:rPr>
              <a:t>(</a:t>
            </a:r>
            <a:r>
              <a:rPr lang="en-US" b="1" dirty="0">
                <a:solidFill>
                  <a:srgbClr val="FF9900"/>
                </a:solidFill>
              </a:rPr>
              <a:t>FCF</a:t>
            </a:r>
            <a:r>
              <a:rPr lang="ru-RU" b="1" dirty="0">
                <a:solidFill>
                  <a:srgbClr val="FF9900"/>
                </a:solidFill>
              </a:rPr>
              <a:t>) </a:t>
            </a:r>
            <a:r>
              <a:rPr lang="en-US" b="1" dirty="0"/>
              <a:t>= OCF –</a:t>
            </a:r>
            <a:r>
              <a:rPr lang="ru-RU" b="1" dirty="0"/>
              <a:t> </a:t>
            </a:r>
            <a:r>
              <a:rPr lang="en-US" b="1" dirty="0"/>
              <a:t>ICF </a:t>
            </a:r>
            <a:r>
              <a:rPr lang="ru-RU" b="1" dirty="0"/>
              <a:t>-</a:t>
            </a:r>
            <a:r>
              <a:rPr lang="en-US" b="1" dirty="0"/>
              <a:t> ∆NWC</a:t>
            </a:r>
          </a:p>
          <a:p>
            <a:pPr marL="571500" indent="-514350" algn="ctr">
              <a:spcBef>
                <a:spcPts val="600"/>
              </a:spcBef>
              <a:buNone/>
              <a:defRPr/>
            </a:pPr>
            <a:r>
              <a:rPr lang="en-US" b="1" dirty="0"/>
              <a:t>OCF – </a:t>
            </a:r>
            <a:r>
              <a:rPr lang="en-US" b="1" dirty="0" err="1"/>
              <a:t>CapEx</a:t>
            </a:r>
            <a:r>
              <a:rPr lang="en-US" b="1" dirty="0"/>
              <a:t> = CF</a:t>
            </a:r>
            <a:r>
              <a:rPr lang="en-US" sz="1400" b="1" dirty="0"/>
              <a:t>E</a:t>
            </a:r>
            <a:r>
              <a:rPr lang="en-US" b="1" dirty="0"/>
              <a:t> + CF</a:t>
            </a:r>
            <a:r>
              <a:rPr lang="en-US" sz="1400" b="1" dirty="0"/>
              <a:t>D</a:t>
            </a:r>
            <a:endParaRPr lang="en-US" b="1" dirty="0"/>
          </a:p>
          <a:p>
            <a:pPr>
              <a:spcBef>
                <a:spcPts val="600"/>
              </a:spcBef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 descr="Large confetti">
            <a:extLst>
              <a:ext uri="{FF2B5EF4-FFF2-40B4-BE49-F238E27FC236}">
                <a16:creationId xmlns:a16="http://schemas.microsoft.com/office/drawing/2014/main" id="{43ADC1EC-80E2-CEAC-7B51-7EEA40EFC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2419" y="188913"/>
            <a:ext cx="10269673" cy="71660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3200" b="1" dirty="0">
                <a:solidFill>
                  <a:srgbClr val="7030A0"/>
                </a:solidFill>
                <a:cs typeface="Times New Roman" panose="02020603050405020304" pitchFamily="18" charset="0"/>
              </a:rPr>
              <a:t>Классификация денежных потоков (</a:t>
            </a:r>
            <a:r>
              <a:rPr lang="en-US" altLang="ru-RU" sz="3200" b="1" dirty="0">
                <a:solidFill>
                  <a:srgbClr val="7030A0"/>
                </a:solidFill>
                <a:cs typeface="Times New Roman" panose="02020603050405020304" pitchFamily="18" charset="0"/>
              </a:rPr>
              <a:t>CF</a:t>
            </a:r>
            <a:r>
              <a:rPr lang="ru-RU" altLang="ru-RU" sz="3200" b="1" dirty="0">
                <a:solidFill>
                  <a:srgbClr val="7030A0"/>
                </a:solidFill>
                <a:cs typeface="Times New Roman" panose="02020603050405020304" pitchFamily="18" charset="0"/>
              </a:rPr>
              <a:t>)</a:t>
            </a:r>
            <a:r>
              <a:rPr lang="en-US" altLang="ru-RU" sz="3200" b="1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ru-RU" altLang="ru-RU" sz="3200" b="1" dirty="0">
                <a:solidFill>
                  <a:srgbClr val="7030A0"/>
                </a:solidFill>
                <a:cs typeface="Times New Roman" panose="02020603050405020304" pitchFamily="18" charset="0"/>
              </a:rPr>
              <a:t>предприятия</a:t>
            </a:r>
            <a:endParaRPr lang="ru-RU" altLang="ru-RU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206" name="Group 38">
            <a:extLst>
              <a:ext uri="{FF2B5EF4-FFF2-40B4-BE49-F238E27FC236}">
                <a16:creationId xmlns:a16="http://schemas.microsoft.com/office/drawing/2014/main" id="{6210231B-1C44-C8ED-31EF-31B2081807AB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969555162"/>
              </p:ext>
            </p:extLst>
          </p:nvPr>
        </p:nvGraphicFramePr>
        <p:xfrm>
          <a:off x="1162975" y="1500327"/>
          <a:ext cx="10492911" cy="5048250"/>
        </p:xfrm>
        <a:graphic>
          <a:graphicData uri="http://schemas.openxmlformats.org/drawingml/2006/table">
            <a:tbl>
              <a:tblPr/>
              <a:tblGrid>
                <a:gridCol w="562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30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Денежный поток от активов (</a:t>
                      </a:r>
                      <a:r>
                        <a:rPr lang="en-US" sz="2400" dirty="0"/>
                        <a:t>CF</a:t>
                      </a:r>
                      <a:r>
                        <a:rPr lang="en-US" sz="1100" dirty="0"/>
                        <a:t>A</a:t>
                      </a: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 FCF)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Денежны</a:t>
                      </a: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й</a:t>
                      </a: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поток</a:t>
                      </a: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от пассивов </a:t>
                      </a:r>
                    </a:p>
                  </a:txBody>
                  <a:tcPr marL="91441" marR="91441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0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Операционный денежный поток (</a:t>
                      </a:r>
                      <a:r>
                        <a:rPr lang="en-US" sz="2400" dirty="0"/>
                        <a:t>OCF</a:t>
                      </a: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Минус</a:t>
                      </a:r>
                    </a:p>
                  </a:txBody>
                  <a:tcPr marL="91441" marR="91441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 Денежный поток кредиторам</a:t>
                      </a: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(</a:t>
                      </a:r>
                      <a:r>
                        <a:rPr lang="en-US" sz="2400" dirty="0"/>
                        <a:t>CF</a:t>
                      </a:r>
                      <a:r>
                        <a:rPr lang="en-US" sz="1100" dirty="0"/>
                        <a:t>D</a:t>
                      </a: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 - debt</a:t>
                      </a:r>
                      <a:endParaRPr lang="ru-RU" sz="2400" dirty="0"/>
                    </a:p>
                  </a:txBody>
                  <a:tcPr marL="91441" marR="91441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0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 Инвестиционный денежный поток (</a:t>
                      </a:r>
                      <a:r>
                        <a:rPr lang="en-US" sz="2400" dirty="0"/>
                        <a:t>ICF</a:t>
                      </a:r>
                      <a:r>
                        <a:rPr lang="ru-RU" sz="2400" dirty="0"/>
                        <a:t>)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1" marR="91441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плюс</a:t>
                      </a:r>
                    </a:p>
                  </a:txBody>
                  <a:tcPr marL="91441" marR="91441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10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Минус</a:t>
                      </a:r>
                      <a:endParaRPr kumimoji="0" lang="ru-RU" sz="2400" b="0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3. Изменения чистого оборотного капитала </a:t>
                      </a:r>
                      <a:r>
                        <a:rPr lang="en-US" sz="2400" dirty="0"/>
                        <a:t>(∆NWC)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5. Денежный поток владельцам (</a:t>
                      </a:r>
                      <a:r>
                        <a:rPr lang="en-US" sz="2400" dirty="0"/>
                        <a:t>CF</a:t>
                      </a:r>
                      <a:r>
                        <a:rPr lang="en-US" sz="1100" dirty="0"/>
                        <a:t>E</a:t>
                      </a: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lang="en-US" sz="2400" dirty="0"/>
                        <a:t>E </a:t>
                      </a:r>
                      <a:r>
                        <a:rPr lang="ru-RU" sz="2400" dirty="0"/>
                        <a:t>– </a:t>
                      </a:r>
                      <a:r>
                        <a:rPr lang="en-US" sz="2400" dirty="0"/>
                        <a:t>equity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05" name="WordArt 37">
            <a:extLst>
              <a:ext uri="{FF2B5EF4-FFF2-40B4-BE49-F238E27FC236}">
                <a16:creationId xmlns:a16="http://schemas.microsoft.com/office/drawing/2014/main" id="{DDCDF558-F03F-F15D-654A-4DFD1D4579C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93105" y="2401889"/>
            <a:ext cx="609600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12309" name="Номер слайда 4">
            <a:extLst>
              <a:ext uri="{FF2B5EF4-FFF2-40B4-BE49-F238E27FC236}">
                <a16:creationId xmlns:a16="http://schemas.microsoft.com/office/drawing/2014/main" id="{50305DD9-281D-98BE-AB5C-2BA0FC5A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E87ABF-4927-4148-9807-3A6686AC1A88}" type="slidenum">
              <a:rPr lang="ru-RU" altLang="ru-RU" sz="1400">
                <a:solidFill>
                  <a:schemeClr val="bg1"/>
                </a:solidFill>
              </a:rPr>
              <a:pPr/>
              <a:t>11</a:t>
            </a:fld>
            <a:endParaRPr lang="ru-RU" altLang="ru-RU" sz="1400">
              <a:solidFill>
                <a:schemeClr val="bg1"/>
              </a:solidFill>
            </a:endParaRPr>
          </a:p>
        </p:txBody>
      </p:sp>
      <p:sp>
        <p:nvSpPr>
          <p:cNvPr id="6" name="WordArt 37">
            <a:extLst>
              <a:ext uri="{FF2B5EF4-FFF2-40B4-BE49-F238E27FC236}">
                <a16:creationId xmlns:a16="http://schemas.microsoft.com/office/drawing/2014/main" id="{D2759343-4617-BAB9-6066-CE388A01D24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16275" y="2401889"/>
            <a:ext cx="609600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7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7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>
            <a:extLst>
              <a:ext uri="{FF2B5EF4-FFF2-40B4-BE49-F238E27FC236}">
                <a16:creationId xmlns:a16="http://schemas.microsoft.com/office/drawing/2014/main" id="{D31C2AB1-168B-DF1C-7FDA-BCDB3AA6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411271"/>
            <a:ext cx="8158578" cy="504825"/>
          </a:xfrm>
        </p:spPr>
        <p:txBody>
          <a:bodyPr>
            <a:normAutofit/>
          </a:bodyPr>
          <a:lstStyle/>
          <a:p>
            <a:r>
              <a:rPr lang="ru-RU" altLang="ru-RU" sz="2800" b="1" dirty="0"/>
              <a:t>Свободный денежный поток (</a:t>
            </a:r>
            <a:r>
              <a:rPr lang="en-US" altLang="ru-RU" sz="2800" b="1" dirty="0"/>
              <a:t>FCF </a:t>
            </a:r>
            <a:r>
              <a:rPr lang="ru-RU" altLang="ru-RU" sz="2800" b="1" dirty="0"/>
              <a:t>/</a:t>
            </a:r>
            <a:r>
              <a:rPr lang="en-US" altLang="ru-RU" sz="2800" b="1" dirty="0"/>
              <a:t> FCFE</a:t>
            </a:r>
            <a:r>
              <a:rPr lang="ru-RU" altLang="ru-RU" sz="2800" b="1" dirty="0"/>
              <a:t>)</a:t>
            </a:r>
          </a:p>
        </p:txBody>
      </p:sp>
      <p:sp>
        <p:nvSpPr>
          <p:cNvPr id="16387" name="Объект 2">
            <a:extLst>
              <a:ext uri="{FF2B5EF4-FFF2-40B4-BE49-F238E27FC236}">
                <a16:creationId xmlns:a16="http://schemas.microsoft.com/office/drawing/2014/main" id="{5581BA41-FCA2-7EA0-12A5-931D7E43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794" y="1025465"/>
            <a:ext cx="9765437" cy="563886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ru-RU" dirty="0"/>
              <a:t>FCF</a:t>
            </a:r>
            <a:r>
              <a:rPr lang="ru-RU" altLang="ru-RU" dirty="0"/>
              <a:t> - </a:t>
            </a:r>
            <a:r>
              <a:rPr lang="ru-RU" altLang="ru-RU" sz="1800" dirty="0"/>
              <a:t>финансовый показатель, который отражает денежные средства, остающиеся у организации после всех ее капитальных затрат на поддержание активов</a:t>
            </a:r>
          </a:p>
          <a:p>
            <a:pPr lvl="1">
              <a:spcBef>
                <a:spcPts val="600"/>
              </a:spcBef>
            </a:pPr>
            <a:r>
              <a:rPr lang="en-US" altLang="ru-RU" dirty="0"/>
              <a:t>FCFE</a:t>
            </a:r>
            <a:r>
              <a:rPr lang="ru-RU" altLang="ru-RU" dirty="0"/>
              <a:t> - поток, который компания может распределить между владельцами капиталов (держатели акций, облигаций…)</a:t>
            </a:r>
          </a:p>
          <a:p>
            <a:pPr>
              <a:spcBef>
                <a:spcPts val="600"/>
              </a:spcBef>
            </a:pPr>
            <a:r>
              <a:rPr lang="ru-RU" altLang="ru-RU" dirty="0"/>
              <a:t>Два способа расчета</a:t>
            </a:r>
          </a:p>
          <a:p>
            <a:pPr lvl="1">
              <a:spcBef>
                <a:spcPts val="600"/>
              </a:spcBef>
            </a:pPr>
            <a:r>
              <a:rPr lang="ru-RU" altLang="ru-RU" dirty="0"/>
              <a:t>используя три активных потока (левая часть таблицы)</a:t>
            </a:r>
          </a:p>
          <a:p>
            <a:pPr lvl="1">
              <a:spcBef>
                <a:spcPts val="600"/>
              </a:spcBef>
            </a:pPr>
            <a:r>
              <a:rPr lang="ru-RU" altLang="ru-RU" dirty="0"/>
              <a:t>чистая прибыль (</a:t>
            </a:r>
            <a:r>
              <a:rPr lang="en-US" altLang="ru-RU" dirty="0"/>
              <a:t>NE</a:t>
            </a:r>
            <a:r>
              <a:rPr lang="ru-RU" altLang="ru-RU" dirty="0"/>
              <a:t>) + амортизация (</a:t>
            </a:r>
            <a:r>
              <a:rPr lang="en-US" altLang="ru-RU" dirty="0"/>
              <a:t>DA)</a:t>
            </a:r>
            <a:r>
              <a:rPr lang="ru-RU" altLang="ru-RU" dirty="0"/>
              <a:t> – инвестиционный поток</a:t>
            </a:r>
          </a:p>
          <a:p>
            <a:pPr lvl="2">
              <a:spcBef>
                <a:spcPts val="600"/>
              </a:spcBef>
            </a:pPr>
            <a:r>
              <a:rPr lang="ru-RU" altLang="ru-RU" dirty="0"/>
              <a:t>инвестиционный поток = </a:t>
            </a:r>
            <a:r>
              <a:rPr lang="en-US" b="1" dirty="0" err="1"/>
              <a:t>CapEx</a:t>
            </a:r>
            <a:r>
              <a:rPr lang="en-US" b="1" dirty="0"/>
              <a:t> </a:t>
            </a:r>
            <a:r>
              <a:rPr lang="ru-RU" b="1" dirty="0"/>
              <a:t>= </a:t>
            </a:r>
            <a:r>
              <a:rPr lang="en-US" dirty="0"/>
              <a:t>ICF + ∆NWC </a:t>
            </a:r>
            <a:endParaRPr lang="ru-RU" altLang="ru-RU" dirty="0"/>
          </a:p>
          <a:p>
            <a:pPr>
              <a:spcBef>
                <a:spcPts val="600"/>
              </a:spcBef>
            </a:pPr>
            <a:r>
              <a:rPr lang="ru-RU" altLang="ru-RU" dirty="0"/>
              <a:t>Можно использовать</a:t>
            </a:r>
          </a:p>
          <a:p>
            <a:pPr lvl="1">
              <a:spcBef>
                <a:spcPts val="600"/>
              </a:spcBef>
            </a:pPr>
            <a:r>
              <a:rPr lang="ru-RU" altLang="ru-RU" dirty="0"/>
              <a:t>Реинвестиции</a:t>
            </a:r>
          </a:p>
          <a:p>
            <a:pPr lvl="1">
              <a:spcBef>
                <a:spcPts val="600"/>
              </a:spcBef>
            </a:pPr>
            <a:r>
              <a:rPr lang="ru-RU" altLang="ru-RU" dirty="0"/>
              <a:t>Погашение задолженности</a:t>
            </a:r>
          </a:p>
          <a:p>
            <a:pPr lvl="1">
              <a:spcBef>
                <a:spcPts val="600"/>
              </a:spcBef>
            </a:pPr>
            <a:r>
              <a:rPr lang="en-US" altLang="ru-RU" dirty="0"/>
              <a:t>M&amp;As</a:t>
            </a:r>
          </a:p>
          <a:p>
            <a:pPr lvl="1">
              <a:spcBef>
                <a:spcPts val="600"/>
              </a:spcBef>
            </a:pPr>
            <a:r>
              <a:rPr lang="ru-RU" altLang="ru-RU" dirty="0"/>
              <a:t>Выкуп акций</a:t>
            </a:r>
          </a:p>
          <a:p>
            <a:pPr>
              <a:spcBef>
                <a:spcPts val="600"/>
              </a:spcBef>
            </a:pPr>
            <a:r>
              <a:rPr lang="ru-RU" altLang="ru-RU" dirty="0"/>
              <a:t>Когда существует огромная разница между </a:t>
            </a:r>
            <a:r>
              <a:rPr lang="en-US" altLang="ru-RU" dirty="0"/>
              <a:t>FCF</a:t>
            </a:r>
            <a:r>
              <a:rPr lang="ru-RU" altLang="ru-RU" dirty="0"/>
              <a:t> и прибылью компании (</a:t>
            </a:r>
            <a:r>
              <a:rPr lang="en-US" altLang="ru-RU" dirty="0"/>
              <a:t>NE</a:t>
            </a:r>
            <a:r>
              <a:rPr lang="ru-RU" altLang="ru-RU" dirty="0"/>
              <a:t>), инвесторам следует насторожиться</a:t>
            </a:r>
          </a:p>
        </p:txBody>
      </p:sp>
      <p:sp>
        <p:nvSpPr>
          <p:cNvPr id="16388" name="Номер слайда 4">
            <a:extLst>
              <a:ext uri="{FF2B5EF4-FFF2-40B4-BE49-F238E27FC236}">
                <a16:creationId xmlns:a16="http://schemas.microsoft.com/office/drawing/2014/main" id="{19D17794-FE83-5EB9-3241-6E8D67DD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680326" y="6481764"/>
            <a:ext cx="5127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5F61415-E8D4-4970-832C-A0BB9E25B2E9}" type="slidenum">
              <a:rPr lang="ru-RU" altLang="ru-RU" sz="900">
                <a:solidFill>
                  <a:schemeClr val="accent1"/>
                </a:solidFill>
              </a:rPr>
              <a:pPr/>
              <a:t>12</a:t>
            </a:fld>
            <a:endParaRPr lang="ru-RU" altLang="ru-RU" sz="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74DE6-440C-D6E9-2C0F-D20B885F5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348761"/>
          </a:xfrm>
        </p:spPr>
        <p:txBody>
          <a:bodyPr>
            <a:noAutofit/>
          </a:bodyPr>
          <a:lstStyle/>
          <a:p>
            <a:r>
              <a:rPr lang="ru-RU" sz="3600" dirty="0"/>
              <a:t>2. Общая характеристика вертикального и горизонтального анализа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04922E-EA6C-CC3A-1199-181D337F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Вертикальный или структурный</a:t>
            </a:r>
          </a:p>
          <a:p>
            <a:r>
              <a:rPr lang="ru-RU" altLang="ru-RU" dirty="0"/>
              <a:t>Горизонтальный или временной</a:t>
            </a:r>
          </a:p>
          <a:p>
            <a:r>
              <a:rPr lang="ru-RU" altLang="ru-RU" dirty="0"/>
              <a:t>Трендовый или динамический</a:t>
            </a:r>
          </a:p>
          <a:p>
            <a:r>
              <a:rPr lang="ru-RU" altLang="ru-RU" dirty="0"/>
              <a:t>Сравнительный или пространственный</a:t>
            </a:r>
          </a:p>
          <a:p>
            <a:r>
              <a:rPr lang="ru-RU" altLang="ru-RU" dirty="0"/>
              <a:t>Трендовый или динамический</a:t>
            </a:r>
          </a:p>
          <a:p>
            <a:r>
              <a:rPr lang="ru-RU" altLang="ru-RU" dirty="0"/>
              <a:t>Факторный</a:t>
            </a:r>
          </a:p>
          <a:p>
            <a:r>
              <a:rPr lang="ru-RU" altLang="ru-RU" dirty="0"/>
              <a:t>Относительных показателей или коэффициентный</a:t>
            </a:r>
          </a:p>
        </p:txBody>
      </p:sp>
    </p:spTree>
    <p:extLst>
      <p:ext uri="{BB962C8B-B14F-4D97-AF65-F5344CB8AC3E}">
        <p14:creationId xmlns:p14="http://schemas.microsoft.com/office/powerpoint/2010/main" val="3787229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descr="Large confetti">
            <a:extLst>
              <a:ext uri="{FF2B5EF4-FFF2-40B4-BE49-F238E27FC236}">
                <a16:creationId xmlns:a16="http://schemas.microsoft.com/office/drawing/2014/main" id="{A6EFB680-7CC9-E952-2BC4-995848A7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832" y="268812"/>
            <a:ext cx="6553200" cy="10795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altLang="ru-RU" sz="3600" b="1" dirty="0"/>
              <a:t>Вертикальный анализ</a:t>
            </a:r>
            <a:endParaRPr lang="ru-RU" altLang="ru-RU" sz="3600" dirty="0"/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59C370D3-0B46-89EE-E1E4-F27E200C5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314" y="1484314"/>
            <a:ext cx="7488237" cy="496887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ru-RU" altLang="ru-RU" sz="2800"/>
              <a:t>позволяет выявлять удельный вес отдельных статей в общем (итоговом = 100%) показателе</a:t>
            </a:r>
            <a:endParaRPr lang="ru-RU" altLang="ru-RU" sz="2800" b="1"/>
          </a:p>
          <a:p>
            <a:pPr lvl="1" eaLnBrk="1" hangingPunct="1">
              <a:spcBef>
                <a:spcPct val="0"/>
              </a:spcBef>
            </a:pPr>
            <a:r>
              <a:rPr lang="ru-RU" altLang="ru-RU" sz="2400"/>
              <a:t>определение структуры итоговых финансовых показателей</a:t>
            </a:r>
          </a:p>
          <a:p>
            <a:pPr lvl="1" eaLnBrk="1" hangingPunct="1">
              <a:spcBef>
                <a:spcPct val="0"/>
              </a:spcBef>
            </a:pPr>
            <a:r>
              <a:rPr lang="ru-RU" altLang="ru-RU" sz="2400"/>
              <a:t>выявление влияния каждого из них на общий результат хозяйственной деятельности</a:t>
            </a:r>
          </a:p>
          <a:p>
            <a:pPr lvl="1" eaLnBrk="1" hangingPunct="1">
              <a:spcBef>
                <a:spcPct val="0"/>
              </a:spcBef>
            </a:pPr>
            <a:r>
              <a:rPr lang="ru-RU" altLang="ru-RU" sz="2400"/>
              <a:t>позволяет проводить сравнительный анализ между предприятиями</a:t>
            </a:r>
          </a:p>
          <a:p>
            <a:pPr lvl="2" eaLnBrk="1" hangingPunct="1">
              <a:spcBef>
                <a:spcPct val="0"/>
              </a:spcBef>
            </a:pPr>
            <a:r>
              <a:rPr lang="ru-RU" altLang="ru-RU" sz="2000"/>
              <a:t>экономический потенциал, результаты деятельности</a:t>
            </a:r>
          </a:p>
          <a:p>
            <a:pPr lvl="1" eaLnBrk="1" hangingPunct="1">
              <a:spcBef>
                <a:spcPct val="0"/>
              </a:spcBef>
            </a:pPr>
            <a:r>
              <a:rPr lang="ru-RU" altLang="ru-RU" sz="2400"/>
              <a:t>сглаживает негативное влияние инфляционных процессов, искажающих абсолютные показатели отчетности</a:t>
            </a:r>
          </a:p>
        </p:txBody>
      </p:sp>
      <p:sp>
        <p:nvSpPr>
          <p:cNvPr id="20484" name="Номер слайда 3">
            <a:extLst>
              <a:ext uri="{FF2B5EF4-FFF2-40B4-BE49-F238E27FC236}">
                <a16:creationId xmlns:a16="http://schemas.microsoft.com/office/drawing/2014/main" id="{45186329-04B0-D987-4C23-FDF4777E4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597546-377C-4EF7-8DE9-63075D84BBF0}" type="slidenum">
              <a:rPr lang="ru-RU" altLang="ru-RU" sz="1400">
                <a:solidFill>
                  <a:schemeClr val="bg1"/>
                </a:solidFill>
              </a:rPr>
              <a:pPr/>
              <a:t>14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descr="Large confetti">
            <a:extLst>
              <a:ext uri="{FF2B5EF4-FFF2-40B4-BE49-F238E27FC236}">
                <a16:creationId xmlns:a16="http://schemas.microsoft.com/office/drawing/2014/main" id="{DD2684A4-2977-552E-1B3F-58330D776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539" y="379413"/>
            <a:ext cx="6251575" cy="11779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altLang="ru-RU" sz="3600" b="1" dirty="0"/>
              <a:t>Горизонтальный анализ</a:t>
            </a:r>
            <a:endParaRPr lang="ru-RU" altLang="ru-RU" sz="3600" dirty="0"/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45A1624C-AF2E-11F5-CDB9-569D62FF3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8" y="1557338"/>
            <a:ext cx="7129462" cy="466725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ru-RU" altLang="ru-RU" sz="2800"/>
              <a:t>позволяет сравнить каждую статью отчетности с предыдущим периодом</a:t>
            </a:r>
          </a:p>
          <a:p>
            <a:pPr lvl="1" eaLnBrk="1" hangingPunct="1">
              <a:spcBef>
                <a:spcPct val="0"/>
              </a:spcBef>
            </a:pPr>
            <a:r>
              <a:rPr lang="ru-RU" altLang="ru-RU" sz="2400"/>
              <a:t>изучает динамику отдельных финансовых показателей через коэффициенты во времени</a:t>
            </a:r>
          </a:p>
          <a:p>
            <a:pPr lvl="1" eaLnBrk="1" hangingPunct="1">
              <a:spcBef>
                <a:spcPct val="0"/>
              </a:spcBef>
            </a:pPr>
            <a:r>
              <a:rPr lang="ru-RU" altLang="ru-RU" sz="2400"/>
              <a:t>является следующим этапом после вертикального анализа</a:t>
            </a:r>
          </a:p>
          <a:p>
            <a:pPr lvl="1" eaLnBrk="1" hangingPunct="1">
              <a:spcBef>
                <a:spcPct val="0"/>
              </a:spcBef>
            </a:pPr>
            <a:r>
              <a:rPr lang="ru-RU" altLang="ru-RU" sz="2400"/>
              <a:t>определяет изменения по разделам и статьям баланса</a:t>
            </a:r>
          </a:p>
          <a:p>
            <a:pPr lvl="1" eaLnBrk="1" hangingPunct="1">
              <a:spcBef>
                <a:spcPct val="0"/>
              </a:spcBef>
            </a:pPr>
            <a:r>
              <a:rPr lang="ru-RU" altLang="ru-RU" sz="2400"/>
              <a:t>базируется на расчете соотношения различных абсолютных показателей финансовой деятельности между собой</a:t>
            </a:r>
          </a:p>
        </p:txBody>
      </p:sp>
      <p:sp>
        <p:nvSpPr>
          <p:cNvPr id="21508" name="Номер слайда 3">
            <a:extLst>
              <a:ext uri="{FF2B5EF4-FFF2-40B4-BE49-F238E27FC236}">
                <a16:creationId xmlns:a16="http://schemas.microsoft.com/office/drawing/2014/main" id="{8E20BBF5-692F-35AF-81AC-5BA5B6FB5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81A65BF-2D33-48EA-ABE9-DE24C833C40B}" type="slidenum">
              <a:rPr lang="ru-RU" altLang="ru-RU" sz="1400">
                <a:solidFill>
                  <a:schemeClr val="bg1"/>
                </a:solidFill>
              </a:rPr>
              <a:pPr/>
              <a:t>15</a:t>
            </a:fld>
            <a:endParaRPr lang="ru-RU" altLang="ru-RU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85C61-E907-2808-6A6D-0E530B63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5839" y="116632"/>
            <a:ext cx="1887003" cy="360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 b="1" dirty="0"/>
              <a:t>Пример 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A653FE62-42B0-D4E5-5F58-C9C556D261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19536" y="615698"/>
          <a:ext cx="7956376" cy="59172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744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1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76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749">
                <a:tc grid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Активная часть баланса за 2020-2021 гг., в млн.руб.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49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ПОКАЗАТЕЛИ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 err="1">
                          <a:effectLst/>
                        </a:rPr>
                        <a:t>абс.величины</a:t>
                      </a:r>
                      <a:endParaRPr lang="ru-RU" sz="15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 err="1">
                          <a:effectLst/>
                        </a:rPr>
                        <a:t>удел.вес</a:t>
                      </a:r>
                      <a:r>
                        <a:rPr lang="ru-RU" sz="1500" dirty="0">
                          <a:effectLst/>
                        </a:rPr>
                        <a:t>, %</a:t>
                      </a:r>
                      <a:endParaRPr lang="ru-RU" sz="15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Изменения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5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2020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2021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2020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2021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абс.в</a:t>
                      </a:r>
                      <a:r>
                        <a:rPr lang="ru-RU" sz="1600" dirty="0">
                          <a:effectLst/>
                        </a:rPr>
                        <a:t>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effectLst/>
                        </a:rPr>
                        <a:t>удел.в</a:t>
                      </a:r>
                      <a:endParaRPr lang="ru-RU" sz="13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7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ВНЕОБОРОТНЫЕ (итого)</a:t>
                      </a:r>
                      <a:endParaRPr lang="ru-RU" sz="16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highlight>
                            <a:srgbClr val="FFFF00"/>
                          </a:highlight>
                        </a:rPr>
                        <a:t>97 544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highlight>
                            <a:srgbClr val="FFFF00"/>
                          </a:highlight>
                        </a:rPr>
                        <a:t>90 618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100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100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- 6 926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23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1. нематериальные активы, результаты исследований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742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644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- 98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74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2. основные средства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11 513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10 418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- 1095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23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3. доходные вложения в материальные ценности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722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3 538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2 816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74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4. финансовые вложения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14 293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12 011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- 2 282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16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5. отложенные налоговые активы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33 173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43 998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10 825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16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6. прочие внеоборотные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37 101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20 009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- 17 092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-16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1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ОБОРОТНЫЕ (итого)</a:t>
                      </a:r>
                      <a:endParaRPr lang="ru-RU" sz="16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highlight>
                            <a:srgbClr val="FFFF00"/>
                          </a:highlight>
                        </a:rPr>
                        <a:t>173 493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highlight>
                            <a:srgbClr val="FFFF00"/>
                          </a:highlight>
                        </a:rPr>
                        <a:t>172 302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100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100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- 1 191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16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7. Запасы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13 226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13 961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735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16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8. НДС по приобретенным ценностям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1 098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1 012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- 86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16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9. дебиторская задолженность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81 571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83 489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47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1 918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3523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10. финансовые вложения (за исключением п.11)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361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2 500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2 139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3523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11. денежные средства и денежные эквиваленты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76 195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70 724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- 5 471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216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12. прочие оборотные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1 042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616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- 426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ИТОГО (сумма п.1-12):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271 037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262 920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2532" name="Номер слайда 4">
            <a:extLst>
              <a:ext uri="{FF2B5EF4-FFF2-40B4-BE49-F238E27FC236}">
                <a16:creationId xmlns:a16="http://schemas.microsoft.com/office/drawing/2014/main" id="{E29B4300-C8A4-BAA8-A7A5-91D740D79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10200456" y="6492876"/>
            <a:ext cx="456882" cy="365125"/>
          </a:xfrm>
          <a:noFill/>
          <a:ln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7EA6B51-1873-4A85-8B2B-54E19885DF42}" type="slidenum">
              <a:rPr lang="ru-RU" altLang="ru-RU" sz="1800"/>
              <a:pPr/>
              <a:t>16</a:t>
            </a:fld>
            <a:endParaRPr lang="ru-RU" altLang="ru-RU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Заголовок 1">
            <a:extLst>
              <a:ext uri="{FF2B5EF4-FFF2-40B4-BE49-F238E27FC236}">
                <a16:creationId xmlns:a16="http://schemas.microsoft.com/office/drawing/2014/main" id="{AFF25DFF-549A-9A07-5CCC-429E13D5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713" y="116632"/>
            <a:ext cx="2951163" cy="360362"/>
          </a:xfrm>
        </p:spPr>
        <p:txBody>
          <a:bodyPr>
            <a:noAutofit/>
          </a:bodyPr>
          <a:lstStyle/>
          <a:p>
            <a:pPr algn="r">
              <a:defRPr/>
            </a:pPr>
            <a:r>
              <a:rPr lang="ru-RU" altLang="ru-RU" sz="2400" b="1" dirty="0"/>
              <a:t>Пример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790B656-4ED8-8B40-46CE-96E4C9896F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24656" y="677170"/>
          <a:ext cx="7643752" cy="585579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50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8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5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560">
                <a:tc grid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Активная часть баланса за 2020-2021 гг., в млн.руб.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560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ПОКАЗАТЕЛИ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абс.величины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удел.вес</a:t>
                      </a:r>
                      <a:r>
                        <a:rPr lang="ru-RU" sz="1600" dirty="0">
                          <a:effectLst/>
                        </a:rPr>
                        <a:t>, %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Изменения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41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2020</a:t>
                      </a:r>
                      <a:endParaRPr lang="ru-RU" sz="13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2021</a:t>
                      </a:r>
                      <a:endParaRPr lang="ru-RU" sz="13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2020</a:t>
                      </a:r>
                      <a:endParaRPr lang="ru-RU" sz="13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2021</a:t>
                      </a:r>
                      <a:endParaRPr lang="ru-RU" sz="13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effectLst/>
                        </a:rPr>
                        <a:t>абс.в</a:t>
                      </a:r>
                      <a:r>
                        <a:rPr lang="ru-RU" sz="1300" dirty="0">
                          <a:effectLst/>
                        </a:rPr>
                        <a:t>.</a:t>
                      </a:r>
                      <a:endParaRPr lang="ru-RU" sz="13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effectLst/>
                        </a:rPr>
                        <a:t>удел.в</a:t>
                      </a:r>
                      <a:endParaRPr lang="ru-RU" sz="13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I. </a:t>
                      </a:r>
                      <a:r>
                        <a:rPr lang="ru-RU" sz="1600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ВНЕОБОРОТНЫЕ (итого)</a:t>
                      </a:r>
                      <a:endParaRPr lang="ru-RU" sz="16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highlight>
                            <a:srgbClr val="FFFF00"/>
                          </a:highlight>
                        </a:rPr>
                        <a:t>97 544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highlight>
                            <a:srgbClr val="FFFF00"/>
                          </a:highlight>
                        </a:rPr>
                        <a:t>90 618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36,0</a:t>
                      </a:r>
                    </a:p>
                  </a:txBody>
                  <a:tcPr marL="49791" marR="49791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34,5</a:t>
                      </a:r>
                    </a:p>
                  </a:txBody>
                  <a:tcPr marL="49791" marR="49791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</a:rPr>
                        <a:t>- 6 926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- 1,5</a:t>
                      </a:r>
                    </a:p>
                  </a:txBody>
                  <a:tcPr marL="49791" marR="49791" marT="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84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1. нематериальные активы, результаты исследований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742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644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56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2. основные средства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11 513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10 418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4,0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84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3. доходные вложения в материальные ценности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722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3 538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1,4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56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4. финансовые вложения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14 293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12 011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4,6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7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5. отложенные налоговые активы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33 173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43 998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16,7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7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6. прочие внеоборотные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37 101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20 009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7,6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9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II. </a:t>
                      </a:r>
                      <a:r>
                        <a:rPr lang="ru-RU" sz="1600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ОБОРОТНЫЕ (итого)</a:t>
                      </a:r>
                      <a:endParaRPr lang="ru-RU" sz="16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highlight>
                            <a:srgbClr val="FFFF00"/>
                          </a:highlight>
                        </a:rPr>
                        <a:t>173 493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highlight>
                            <a:srgbClr val="FFFF00"/>
                          </a:highlight>
                        </a:rPr>
                        <a:t>172 302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64,0</a:t>
                      </a:r>
                    </a:p>
                  </a:txBody>
                  <a:tcPr marL="49791" marR="49791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65,5</a:t>
                      </a:r>
                    </a:p>
                  </a:txBody>
                  <a:tcPr marL="49791" marR="49791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-1 191</a:t>
                      </a:r>
                    </a:p>
                  </a:txBody>
                  <a:tcPr marL="49791" marR="49791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1,5</a:t>
                      </a:r>
                    </a:p>
                  </a:txBody>
                  <a:tcPr marL="49791" marR="49791" marT="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7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7. Запасы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13 226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13 961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5,3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97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8. НДС по приобретенным ценностям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1 098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1 012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97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9. дебиторская задолженность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81 571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83 489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31,8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3484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10. финансовые вложения (за исключением п.11)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361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2 500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0,9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3484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11. денежные средства и денежные эквиваленты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76 195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70 724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26,9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97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600" dirty="0">
                          <a:effectLst/>
                        </a:rPr>
                        <a:t>12. прочие оборотные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1 042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616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5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ИТОГО (сумма п.1-12):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271 037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262 920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100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100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- 8 117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9791" marR="49791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3556" name="Номер слайда 4">
            <a:extLst>
              <a:ext uri="{FF2B5EF4-FFF2-40B4-BE49-F238E27FC236}">
                <a16:creationId xmlns:a16="http://schemas.microsoft.com/office/drawing/2014/main" id="{447D311E-771C-B611-9B63-06A82CEE8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 rot="16200000">
            <a:off x="9075738" y="1646238"/>
            <a:ext cx="2438400" cy="36512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fld id="{15D44D15-A9C3-4C47-AECE-4CB3DD02B691}" type="slidenum">
              <a:rPr lang="ru-RU" altLang="ru-RU" sz="1200">
                <a:solidFill>
                  <a:schemeClr val="bg2"/>
                </a:solidFill>
              </a:rPr>
              <a:pPr algn="l"/>
              <a:t>17</a:t>
            </a:fld>
            <a:endParaRPr lang="ru-RU" altLang="ru-RU" sz="120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Заголовок 1">
            <a:extLst>
              <a:ext uri="{FF2B5EF4-FFF2-40B4-BE49-F238E27FC236}">
                <a16:creationId xmlns:a16="http://schemas.microsoft.com/office/drawing/2014/main" id="{21763C86-61D8-67B5-93BF-0842D0551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761" y="116632"/>
            <a:ext cx="2951163" cy="360362"/>
          </a:xfrm>
        </p:spPr>
        <p:txBody>
          <a:bodyPr>
            <a:normAutofit fontScale="90000"/>
          </a:bodyPr>
          <a:lstStyle/>
          <a:p>
            <a:pPr algn="r">
              <a:defRPr/>
            </a:pPr>
            <a:r>
              <a:rPr lang="ru-RU" altLang="ru-RU" sz="2400" b="1" dirty="0"/>
              <a:t>Пример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BE470C4-6786-C5D2-A8E9-3C0A693570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24025" y="712789"/>
          <a:ext cx="7737476" cy="5940425"/>
        </p:xfrm>
        <a:graphic>
          <a:graphicData uri="http://schemas.openxmlformats.org/drawingml/2006/table">
            <a:tbl>
              <a:tblPr/>
              <a:tblGrid>
                <a:gridCol w="3580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879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Пассивная часть баланса за 2020-2021 гг., в </a:t>
                      </a:r>
                      <a:r>
                        <a:rPr kumimoji="0" lang="ru-RU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млн.руб</a:t>
                      </a:r>
                      <a:r>
                        <a:rPr kumimoji="0" lang="ru-RU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7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ПОКАЗАТЕЛИ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абс.величины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удел.вес, %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Изменения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2020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2021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2020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2021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абс.в.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удел.в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III. </a:t>
                      </a: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КАПИТАЛ И РЕЗЕРВЫ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53 277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7 670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19,7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2,9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3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Уставной капитал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2 444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2 444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4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Переоценка внеоборотных активов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4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Добавочный капитал (без переоценки)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78 701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78 701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30,0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4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Резервный капитал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278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278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7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Нераспределенная прибыль (непокрытый убыток)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(28 200)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(73 807)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- 28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57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IV. </a:t>
                      </a: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ДОЛГОРОЧНЫЕ ОБЯЗАТЕЛЬСТВА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76 974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130 099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28,4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49,5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4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Заемные средства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53 200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105 750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4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Отложенные налоговые обязательства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463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4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Прочие 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23 374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23 886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257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IV. </a:t>
                      </a: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КРАТКОСРОЧНЫЕ ОБЯЗАТЕЛЬСТВА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140 785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125 150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51,9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47,6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43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Заемные средства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25 536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16 999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0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Кредиторская задолженность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107 356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100 062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39,6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38,1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04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Прочие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7 893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8 089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2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ИТОГО (сумма п.1-12):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271 035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262 919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49793" marR="49793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4723" name="Номер слайда 4">
            <a:extLst>
              <a:ext uri="{FF2B5EF4-FFF2-40B4-BE49-F238E27FC236}">
                <a16:creationId xmlns:a16="http://schemas.microsoft.com/office/drawing/2014/main" id="{A6AE8691-96A7-3BD8-8433-28036C031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 rot="16200000">
            <a:off x="9075738" y="1646238"/>
            <a:ext cx="2438400" cy="36512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fld id="{E42E3C60-A3BD-4753-BE79-1ADC7D2E1FCB}" type="slidenum">
              <a:rPr lang="ru-RU" altLang="ru-RU" sz="1200">
                <a:solidFill>
                  <a:schemeClr val="bg2"/>
                </a:solidFill>
              </a:rPr>
              <a:pPr algn="l"/>
              <a:t>18</a:t>
            </a:fld>
            <a:endParaRPr lang="ru-RU" altLang="ru-RU" sz="120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238</TotalTime>
  <Words>1925</Words>
  <Application>Microsoft Office PowerPoint</Application>
  <PresentationFormat>Широкоэкранный</PresentationFormat>
  <Paragraphs>492</Paragraphs>
  <Slides>18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8" baseType="lpstr">
      <vt:lpstr>Arial</vt:lpstr>
      <vt:lpstr>Calibri</vt:lpstr>
      <vt:lpstr>Corbel</vt:lpstr>
      <vt:lpstr>Gill Sans MT</vt:lpstr>
      <vt:lpstr>Google Sans</vt:lpstr>
      <vt:lpstr>Impact</vt:lpstr>
      <vt:lpstr>Times New Roman</vt:lpstr>
      <vt:lpstr>Trebuchet MS</vt:lpstr>
      <vt:lpstr>Эмблема</vt:lpstr>
      <vt:lpstr>Формула</vt:lpstr>
      <vt:lpstr>2. Финансовый анализ и финансовое планирование на предприятии</vt:lpstr>
      <vt:lpstr>ЧТО ТАКОЕ финансовое планирование</vt:lpstr>
      <vt:lpstr>Цели и задачи финансового планирования</vt:lpstr>
      <vt:lpstr>Методы финансового планирования и прогнозирования</vt:lpstr>
      <vt:lpstr>Концепция денежного потока</vt:lpstr>
      <vt:lpstr>Характеристики прямого и косвенного  метода расчета CF</vt:lpstr>
      <vt:lpstr>Виды денежных потоков предприятия </vt:lpstr>
      <vt:lpstr>Активные денежные потоки (1)</vt:lpstr>
      <vt:lpstr>Активные денежные потоки (2, 3)</vt:lpstr>
      <vt:lpstr>Пассивные денежные потоки (4, 5)</vt:lpstr>
      <vt:lpstr>Классификация денежных потоков (CF) предприятия</vt:lpstr>
      <vt:lpstr>Свободный денежный поток (FCF / FCFE)</vt:lpstr>
      <vt:lpstr>2. Общая характеристика вертикального и горизонтального анализа</vt:lpstr>
      <vt:lpstr>Вертикальный анализ</vt:lpstr>
      <vt:lpstr>Горизонтальный анализ</vt:lpstr>
      <vt:lpstr>Пример </vt:lpstr>
      <vt:lpstr>Пример</vt:lpstr>
      <vt:lpstr>Пример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 Windows</dc:creator>
  <cp:lastModifiedBy>Пользователь Windows</cp:lastModifiedBy>
  <cp:revision>32</cp:revision>
  <cp:lastPrinted>2025-09-02T07:32:44Z</cp:lastPrinted>
  <dcterms:created xsi:type="dcterms:W3CDTF">2025-08-31T15:23:11Z</dcterms:created>
  <dcterms:modified xsi:type="dcterms:W3CDTF">2025-09-13T15:46:37Z</dcterms:modified>
</cp:coreProperties>
</file>