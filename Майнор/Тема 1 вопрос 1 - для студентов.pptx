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notesMasterIdLst>
    <p:notesMasterId r:id="rId21"/>
  </p:notesMasterIdLst>
  <p:handoutMasterIdLst>
    <p:handoutMasterId r:id="rId22"/>
  </p:handoutMasterIdLst>
  <p:sldIdLst>
    <p:sldId id="256" r:id="rId2"/>
    <p:sldId id="291" r:id="rId3"/>
    <p:sldId id="292" r:id="rId4"/>
    <p:sldId id="260" r:id="rId5"/>
    <p:sldId id="268" r:id="rId6"/>
    <p:sldId id="301" r:id="rId7"/>
    <p:sldId id="261" r:id="rId8"/>
    <p:sldId id="299" r:id="rId9"/>
    <p:sldId id="397" r:id="rId10"/>
    <p:sldId id="287" r:id="rId11"/>
    <p:sldId id="307" r:id="rId12"/>
    <p:sldId id="258" r:id="rId13"/>
    <p:sldId id="297" r:id="rId14"/>
    <p:sldId id="308" r:id="rId15"/>
    <p:sldId id="267" r:id="rId16"/>
    <p:sldId id="259" r:id="rId17"/>
    <p:sldId id="298" r:id="rId18"/>
    <p:sldId id="309" r:id="rId19"/>
    <p:sldId id="310" r:id="rId20"/>
  </p:sldIdLst>
  <p:sldSz cx="9144000" cy="6858000" type="screen4x3"/>
  <p:notesSz cx="9926638" cy="67976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7382" autoAdjust="0"/>
    <p:restoredTop sz="94622" autoAdjust="0"/>
  </p:normalViewPr>
  <p:slideViewPr>
    <p:cSldViewPr>
      <p:cViewPr varScale="1">
        <p:scale>
          <a:sx n="108" d="100"/>
          <a:sy n="108" d="100"/>
        </p:scale>
        <p:origin x="130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BF938-7EB2-43F3-8346-E84938F3E18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7763C-B770-406D-8F17-124C2CFA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038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F1E19-6928-48A1-BD1B-A0AC2E70CA2F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1FE43-30F0-4DE2-A680-5F2672262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51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1FE43-30F0-4DE2-A680-5F267226205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304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61FE43-30F0-4DE2-A680-5F267226205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729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5B0705A6-F4B8-4371-B45B-9C7C613F55C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arasova72@mail.ru" TargetMode="External"/><Relationship Id="rId2" Type="http://schemas.openxmlformats.org/officeDocument/2006/relationships/hyperlink" Target="mailto:yutarasova@hse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W42qRlPdmCNlNzk6" TargetMode="External"/><Relationship Id="rId2" Type="http://schemas.openxmlformats.org/officeDocument/2006/relationships/hyperlink" Target="https://telemost.360.yandex.ru/j/3169741726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980728"/>
            <a:ext cx="7772400" cy="2190105"/>
          </a:xfrm>
        </p:spPr>
        <p:txBody>
          <a:bodyPr>
            <a:noAutofit/>
          </a:bodyPr>
          <a:lstStyle/>
          <a:p>
            <a:r>
              <a:rPr lang="ru-RU" sz="4400" b="1" dirty="0">
                <a:solidFill>
                  <a:srgbClr val="7030A0"/>
                </a:solidFill>
              </a:rPr>
              <a:t>Корпоративные инвестиции и проектный бизнес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645024"/>
            <a:ext cx="7160840" cy="1993776"/>
          </a:xfrm>
        </p:spPr>
        <p:txBody>
          <a:bodyPr>
            <a:noAutofit/>
          </a:bodyPr>
          <a:lstStyle/>
          <a:p>
            <a:pPr algn="r"/>
            <a:r>
              <a:rPr lang="ru-RU" dirty="0"/>
              <a:t>Тарасова Юлия Александровна</a:t>
            </a:r>
          </a:p>
          <a:p>
            <a:pPr algn="r"/>
            <a:r>
              <a:rPr lang="ru-RU" dirty="0"/>
              <a:t>К.э.н., доцент департамента</a:t>
            </a:r>
          </a:p>
          <a:p>
            <a:pPr algn="r"/>
            <a:r>
              <a:rPr lang="ru-RU" dirty="0"/>
              <a:t>финансов ШЭМ</a:t>
            </a:r>
          </a:p>
          <a:p>
            <a:pPr algn="r"/>
            <a:r>
              <a:rPr lang="en-US" sz="2000" dirty="0">
                <a:hlinkClick r:id="rId2"/>
              </a:rPr>
              <a:t>yutarasova@hse.ru</a:t>
            </a:r>
            <a:r>
              <a:rPr lang="en-US" sz="2000" dirty="0"/>
              <a:t>; </a:t>
            </a:r>
            <a:r>
              <a:rPr lang="en-US" sz="2000" dirty="0">
                <a:hlinkClick r:id="rId3"/>
              </a:rPr>
              <a:t>tarasova72@mail.ru</a:t>
            </a:r>
            <a:endParaRPr lang="ru-RU" sz="2000" dirty="0"/>
          </a:p>
        </p:txBody>
      </p:sp>
      <p:sp>
        <p:nvSpPr>
          <p:cNvPr id="4" name="Москва, 2017"/>
          <p:cNvSpPr txBox="1">
            <a:spLocks noChangeArrowheads="1"/>
          </p:cNvSpPr>
          <p:nvPr/>
        </p:nvSpPr>
        <p:spPr bwMode="auto">
          <a:xfrm>
            <a:off x="1979712" y="6256337"/>
            <a:ext cx="4721225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7" tIns="35717" rIns="35717" bIns="35717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ru-RU" altLang="ru-RU" sz="1700" dirty="0">
                <a:solidFill>
                  <a:srgbClr val="253957"/>
                </a:solidFill>
                <a:latin typeface="Arial Narrow" pitchFamily="34" charset="0"/>
                <a:ea typeface="Arial Narrow" pitchFamily="34" charset="0"/>
                <a:cs typeface="Arial Narrow" pitchFamily="34" charset="0"/>
                <a:sym typeface="Arial Narrow" pitchFamily="34" charset="0"/>
              </a:rPr>
              <a:t>Санкт-Петербург, 2025/2026 </a:t>
            </a:r>
            <a:r>
              <a:rPr lang="ru-RU" altLang="ru-RU" sz="1700" dirty="0" err="1">
                <a:solidFill>
                  <a:srgbClr val="253957"/>
                </a:solidFill>
                <a:latin typeface="Arial Narrow" pitchFamily="34" charset="0"/>
                <a:ea typeface="Arial Narrow" pitchFamily="34" charset="0"/>
                <a:cs typeface="Arial Narrow" pitchFamily="34" charset="0"/>
                <a:sym typeface="Arial Narrow" pitchFamily="34" charset="0"/>
              </a:rPr>
              <a:t>уч.год</a:t>
            </a:r>
            <a:endParaRPr lang="ru-RU" altLang="ru-RU" sz="1700" dirty="0">
              <a:solidFill>
                <a:srgbClr val="253957"/>
              </a:solidFill>
              <a:latin typeface="Arial Narrow" pitchFamily="34" charset="0"/>
              <a:ea typeface="Arial Narrow" pitchFamily="34" charset="0"/>
              <a:cs typeface="Arial Narrow" pitchFamily="34" charset="0"/>
              <a:sym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03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ВАЖНАЯ ИНФОРМАЦИЯ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517632" cy="5256584"/>
          </a:xfrm>
        </p:spPr>
        <p:txBody>
          <a:bodyPr>
            <a:normAutofit fontScale="85000" lnSpcReduction="20000"/>
          </a:bodyPr>
          <a:lstStyle/>
          <a:p>
            <a:r>
              <a:rPr lang="ru-RU" sz="2800" dirty="0"/>
              <a:t>Ссылка на встречи </a:t>
            </a:r>
            <a:r>
              <a:rPr lang="en-US" sz="2800" dirty="0">
                <a:hlinkClick r:id="rId2"/>
              </a:rPr>
              <a:t>https://telemost.360.yandex.ru/j/3169741726</a:t>
            </a:r>
            <a:endParaRPr lang="ru-RU" sz="2800" dirty="0"/>
          </a:p>
          <a:p>
            <a:r>
              <a:rPr lang="ru-RU" sz="2800" dirty="0"/>
              <a:t>Группа в телеграм (</a:t>
            </a:r>
            <a:r>
              <a:rPr lang="ru-RU" sz="2800" u="sng" dirty="0"/>
              <a:t>для экстренных ситуаций</a:t>
            </a:r>
            <a:r>
              <a:rPr lang="ru-RU" sz="2800" dirty="0"/>
              <a:t>) </a:t>
            </a:r>
            <a:r>
              <a:rPr lang="en-US" sz="2800" dirty="0">
                <a:hlinkClick r:id="rId3"/>
              </a:rPr>
              <a:t>https://t.me/+W42qRlPdmCNlNzk6</a:t>
            </a:r>
            <a:endParaRPr lang="ru-RU" sz="2800" dirty="0"/>
          </a:p>
          <a:p>
            <a:r>
              <a:rPr lang="ru-RU" sz="2800" dirty="0"/>
              <a:t>По средам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400" dirty="0" err="1"/>
              <a:t>начитка</a:t>
            </a:r>
            <a:r>
              <a:rPr lang="ru-RU" sz="2400" dirty="0"/>
              <a:t> лекций - в январе, 4 февраля (3 модуль); в апреле (4 модуль)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400" dirty="0"/>
              <a:t>семинары – в феврале, 11 марта (3 модуль); 29 апреля, май, 3 июня (4 модуль)</a:t>
            </a:r>
          </a:p>
          <a:p>
            <a:r>
              <a:rPr lang="ru-RU" sz="2800"/>
              <a:t>Смарт ЛМС!</a:t>
            </a:r>
          </a:p>
          <a:p>
            <a:r>
              <a:rPr lang="ru-RU" sz="2800" dirty="0"/>
              <a:t>На первом семинаре (11 февраля) - подробно формула оценивания, критерии к проектам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400" dirty="0"/>
              <a:t>3 модуль - тест 1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400" dirty="0"/>
              <a:t>4 модуль – тест 2, задачи, проект (текст и защита – в мае)</a:t>
            </a:r>
          </a:p>
          <a:p>
            <a:pPr marL="57150" indent="0" algn="ctr">
              <a:buNone/>
            </a:pPr>
            <a:r>
              <a:rPr lang="ru-RU" sz="2800" dirty="0" err="1"/>
              <a:t>О</a:t>
            </a:r>
            <a:r>
              <a:rPr lang="ru-RU" sz="2800" baseline="-25000" dirty="0" err="1"/>
              <a:t>рез</a:t>
            </a:r>
            <a:r>
              <a:rPr lang="ru-RU" sz="2800" dirty="0"/>
              <a:t> = 0,15*</a:t>
            </a:r>
            <a:r>
              <a:rPr lang="ru-RU" sz="2800" dirty="0" err="1"/>
              <a:t>О</a:t>
            </a:r>
            <a:r>
              <a:rPr lang="ru-RU" sz="2800" baseline="-25000" dirty="0" err="1"/>
              <a:t>тест</a:t>
            </a:r>
            <a:r>
              <a:rPr lang="ru-RU" sz="2800" baseline="-25000" dirty="0"/>
              <a:t> 1</a:t>
            </a:r>
            <a:r>
              <a:rPr lang="ru-RU" sz="2800" dirty="0"/>
              <a:t> + 0,15*</a:t>
            </a:r>
            <a:r>
              <a:rPr lang="ru-RU" sz="2800" dirty="0" err="1"/>
              <a:t>О</a:t>
            </a:r>
            <a:r>
              <a:rPr lang="ru-RU" sz="2800" baseline="-25000" dirty="0" err="1"/>
              <a:t>тест</a:t>
            </a:r>
            <a:r>
              <a:rPr lang="ru-RU" sz="2800" baseline="-25000" dirty="0"/>
              <a:t> 2</a:t>
            </a:r>
            <a:r>
              <a:rPr lang="ru-RU" sz="2800" dirty="0"/>
              <a:t> + 0,2*</a:t>
            </a:r>
            <a:r>
              <a:rPr lang="ru-RU" sz="2800" dirty="0" err="1"/>
              <a:t>О</a:t>
            </a:r>
            <a:r>
              <a:rPr lang="ru-RU" sz="2800" baseline="-25000" dirty="0" err="1"/>
              <a:t>задачи</a:t>
            </a:r>
            <a:r>
              <a:rPr lang="ru-RU" sz="2800" dirty="0"/>
              <a:t> + </a:t>
            </a:r>
          </a:p>
          <a:p>
            <a:pPr marL="57150" indent="0" algn="ctr">
              <a:buNone/>
            </a:pPr>
            <a:r>
              <a:rPr lang="ru-RU" sz="2800" dirty="0"/>
              <a:t> + 0,25*</a:t>
            </a:r>
            <a:r>
              <a:rPr lang="ru-RU" sz="2800" dirty="0" err="1"/>
              <a:t>О</a:t>
            </a:r>
            <a:r>
              <a:rPr lang="ru-RU" sz="2800" baseline="-25000" dirty="0" err="1"/>
              <a:t>текст</a:t>
            </a:r>
            <a:r>
              <a:rPr lang="ru-RU" sz="2800" baseline="-25000" dirty="0"/>
              <a:t> проекта</a:t>
            </a:r>
            <a:r>
              <a:rPr lang="ru-RU" sz="2800" dirty="0"/>
              <a:t> +0,25*</a:t>
            </a:r>
            <a:r>
              <a:rPr lang="ru-RU" sz="2800" dirty="0" err="1"/>
              <a:t>О</a:t>
            </a:r>
            <a:r>
              <a:rPr lang="ru-RU" sz="2800" baseline="-25000" dirty="0" err="1"/>
              <a:t>защита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148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339552"/>
          </a:xfrm>
        </p:spPr>
        <p:txBody>
          <a:bodyPr>
            <a:noAutofit/>
          </a:bodyPr>
          <a:lstStyle/>
          <a:p>
            <a:r>
              <a:rPr lang="ru-RU" sz="3600" dirty="0"/>
              <a:t>Какой можно сделать вывод с учетом специфики нашей дисциплины?</a:t>
            </a:r>
          </a:p>
        </p:txBody>
      </p:sp>
      <p:sp>
        <p:nvSpPr>
          <p:cNvPr id="4" name="AutoShape 2" descr="﻿Подкаблучник Жена едет на осле, пока он пешком драпает!&#10;Нищеброд, двое на одном осле!&#10;Тряпка. Уселся на&#10;Придурок! Даже не знает, как ослом пользоваться!,осёл,Смешные комиксы,веб-комиксы с юмором и их переводы,общественное мнение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611560" y="2835846"/>
            <a:ext cx="2088232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ru-RU" dirty="0"/>
              <a:t>Сколько инвесторов, столько и мнений</a:t>
            </a:r>
          </a:p>
        </p:txBody>
      </p:sp>
      <p:pic>
        <p:nvPicPr>
          <p:cNvPr id="1028" name="Picture 4" descr="﻿Подкаблучник Жена едет на осле, пока он пешком драпает!&#10;Нищеброд, двое на одном осле!&#10;Тряпка. Уселся на&#10;Придурок! Даже не знает, как ослом пользоваться!,осёл,Смешные комиксы,веб-комиксы с юмором и их переводы,общественное мнени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365970"/>
            <a:ext cx="57150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98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75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9998" y="476672"/>
            <a:ext cx="8024450" cy="1575048"/>
          </a:xfrm>
        </p:spPr>
        <p:txBody>
          <a:bodyPr>
            <a:noAutofit/>
          </a:bodyPr>
          <a:lstStyle/>
          <a:p>
            <a:r>
              <a:rPr lang="ru-RU" sz="4000" b="1" dirty="0"/>
              <a:t>Тема 1. Инвестиции, проекты и денежные потоки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2636912"/>
            <a:ext cx="7848872" cy="348925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Инвестиционная деятельность в компании (корпорации)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Инвестиционный проект: понятие, классификация и особенности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Экономическое содержание и виды (типы) денежных потоков (проекта)</a:t>
            </a:r>
          </a:p>
        </p:txBody>
      </p:sp>
    </p:spTree>
    <p:extLst>
      <p:ext uri="{BB962C8B-B14F-4D97-AF65-F5344CB8AC3E}">
        <p14:creationId xmlns:p14="http://schemas.microsoft.com/office/powerpoint/2010/main" val="293477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7920880" cy="1152128"/>
          </a:xfrm>
        </p:spPr>
        <p:txBody>
          <a:bodyPr>
            <a:noAutofit/>
          </a:bodyPr>
          <a:lstStyle/>
          <a:p>
            <a:r>
              <a:rPr lang="ru-RU" sz="3600" dirty="0"/>
              <a:t>1.1. Инвестиционная деятельность в компании (корпорации)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412776"/>
            <a:ext cx="8424936" cy="5328592"/>
          </a:xfrm>
        </p:spPr>
        <p:txBody>
          <a:bodyPr>
            <a:normAutofit/>
          </a:bodyPr>
          <a:lstStyle/>
          <a:p>
            <a:r>
              <a:rPr lang="ru-RU" dirty="0"/>
              <a:t>Инвестиции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это вложение денежных средств для получения дохода или сохранения капитала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размещение капитала с целью получения прибыли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любые вложения частным лицом или компанией, деньгами, материальными средствами или нематериальными активами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эффективный способ приумножить капитал и добиться финансовой независимости, выбрав подходящую инвестиционную стратегию (повысить доход и снизить риски)</a:t>
            </a:r>
          </a:p>
          <a:p>
            <a:r>
              <a:rPr lang="ru-RU" dirty="0"/>
              <a:t>Инвестиционная деятельность</a:t>
            </a:r>
          </a:p>
          <a:p>
            <a:pPr lvl="1"/>
            <a:r>
              <a:rPr lang="ru-RU" dirty="0"/>
              <a:t>вложение инвестиций и осуществление практических действий в целях получения прибыли и (или) достижения иного полезного эффекта</a:t>
            </a:r>
          </a:p>
          <a:p>
            <a:r>
              <a:rPr lang="ru-RU" dirty="0"/>
              <a:t>Нюансы инвестиционной деятельности</a:t>
            </a:r>
          </a:p>
          <a:p>
            <a:pPr lvl="1"/>
            <a:r>
              <a:rPr lang="ru-RU" dirty="0"/>
              <a:t>Инвесторы </a:t>
            </a:r>
            <a:r>
              <a:rPr lang="en-US" dirty="0"/>
              <a:t>vs</a:t>
            </a:r>
            <a:r>
              <a:rPr lang="ru-RU" dirty="0"/>
              <a:t> Трейдеры </a:t>
            </a:r>
            <a:r>
              <a:rPr lang="ru-RU" dirty="0">
                <a:solidFill>
                  <a:srgbClr val="FF0000"/>
                </a:solidFill>
              </a:rPr>
              <a:t>– отличие есть?</a:t>
            </a:r>
          </a:p>
          <a:p>
            <a:pPr lvl="1"/>
            <a:r>
              <a:rPr lang="ru-RU" dirty="0"/>
              <a:t>За чей счет банкет?</a:t>
            </a:r>
          </a:p>
          <a:p>
            <a:pPr lvl="1"/>
            <a:r>
              <a:rPr lang="ru-RU" dirty="0"/>
              <a:t>Что такое </a:t>
            </a:r>
            <a:r>
              <a:rPr lang="ru-RU" dirty="0" err="1"/>
              <a:t>девистиция</a:t>
            </a:r>
            <a:r>
              <a:rPr lang="ru-RU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5430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F1EDB7-6CCB-7D4D-DD98-1E8311431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288" y="337491"/>
            <a:ext cx="7776864" cy="715245"/>
          </a:xfrm>
        </p:spPr>
        <p:txBody>
          <a:bodyPr>
            <a:noAutofit/>
          </a:bodyPr>
          <a:lstStyle/>
          <a:p>
            <a:r>
              <a:rPr lang="ru-RU" sz="4400" dirty="0"/>
              <a:t>Объекты для инвестиций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40908F-DB3B-B72B-1703-4327C925F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988841"/>
            <a:ext cx="8229600" cy="4531668"/>
          </a:xfrm>
        </p:spPr>
        <p:txBody>
          <a:bodyPr>
            <a:normAutofit/>
          </a:bodyPr>
          <a:lstStyle/>
          <a:p>
            <a:r>
              <a:rPr lang="ru-RU" dirty="0"/>
              <a:t>Ценные бумаги</a:t>
            </a:r>
          </a:p>
          <a:p>
            <a:pPr lvl="1"/>
            <a:r>
              <a:rPr lang="ru-RU" dirty="0"/>
              <a:t> акции, облигации (государственные или корпоративные)</a:t>
            </a:r>
          </a:p>
          <a:p>
            <a:r>
              <a:rPr lang="ru-RU" dirty="0"/>
              <a:t>Производные финансовые инструменты – </a:t>
            </a:r>
            <a:r>
              <a:rPr lang="ru-RU" dirty="0">
                <a:solidFill>
                  <a:srgbClr val="FF0000"/>
                </a:solidFill>
              </a:rPr>
              <a:t>другое название?</a:t>
            </a:r>
            <a:endParaRPr lang="ru-RU" dirty="0"/>
          </a:p>
          <a:p>
            <a:pPr lvl="1"/>
            <a:r>
              <a:rPr lang="ru-RU" dirty="0"/>
              <a:t>фьючерсы, форварды, опционы, свопы</a:t>
            </a:r>
          </a:p>
          <a:p>
            <a:r>
              <a:rPr lang="ru-RU" dirty="0"/>
              <a:t>Драгоценные металлы</a:t>
            </a:r>
          </a:p>
          <a:p>
            <a:pPr lvl="1"/>
            <a:r>
              <a:rPr lang="ru-RU" dirty="0"/>
              <a:t>золото, серебро, платина</a:t>
            </a:r>
          </a:p>
          <a:p>
            <a:r>
              <a:rPr lang="ru-RU" dirty="0"/>
              <a:t>Фонды </a:t>
            </a:r>
          </a:p>
          <a:p>
            <a:pPr lvl="1"/>
            <a:r>
              <a:rPr lang="ru-RU" dirty="0"/>
              <a:t>биржевые (ETF) или паевые инвестфонды (ПИФы)</a:t>
            </a:r>
          </a:p>
          <a:p>
            <a:r>
              <a:rPr lang="ru-RU" dirty="0"/>
              <a:t>Покупка валюты</a:t>
            </a:r>
          </a:p>
          <a:p>
            <a:pPr lvl="1"/>
            <a:r>
              <a:rPr lang="ru-RU" dirty="0"/>
              <a:t>китайский юань</a:t>
            </a:r>
          </a:p>
          <a:p>
            <a:pPr lvl="1"/>
            <a:r>
              <a:rPr lang="ru-RU" dirty="0"/>
              <a:t>доллар, евро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16B0C93-2BD4-4F2F-F854-CDE31CC73783}"/>
              </a:ext>
            </a:extLst>
          </p:cNvPr>
          <p:cNvSpPr txBox="1">
            <a:spLocks/>
          </p:cNvSpPr>
          <p:nvPr/>
        </p:nvSpPr>
        <p:spPr>
          <a:xfrm>
            <a:off x="899592" y="1052737"/>
            <a:ext cx="7776864" cy="6714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z="4400" dirty="0"/>
              <a:t>на бирже в 2025 году</a:t>
            </a:r>
          </a:p>
        </p:txBody>
      </p:sp>
    </p:spTree>
    <p:extLst>
      <p:ext uri="{BB962C8B-B14F-4D97-AF65-F5344CB8AC3E}">
        <p14:creationId xmlns:p14="http://schemas.microsoft.com/office/powerpoint/2010/main" val="85189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>
            <a:noAutofit/>
          </a:bodyPr>
          <a:lstStyle/>
          <a:p>
            <a:r>
              <a:rPr lang="ru-RU" sz="4000" b="1" dirty="0"/>
              <a:t>Типология инвестиций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80728"/>
            <a:ext cx="8568952" cy="5616624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dirty="0"/>
              <a:t>Типы инвестиций по срокам</a:t>
            </a:r>
          </a:p>
          <a:p>
            <a:pPr lvl="1">
              <a:spcBef>
                <a:spcPts val="300"/>
              </a:spcBef>
            </a:pPr>
            <a:r>
              <a:rPr lang="ru-RU" sz="1050" dirty="0"/>
              <a:t> </a:t>
            </a:r>
            <a:r>
              <a:rPr lang="ru-RU" dirty="0"/>
              <a:t>долгосрочный, среднесрочный и краткосрочный</a:t>
            </a:r>
            <a:endParaRPr lang="ru-RU" sz="1050" dirty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dirty="0"/>
              <a:t>По степени риска</a:t>
            </a:r>
          </a:p>
          <a:p>
            <a:pPr lvl="1">
              <a:spcBef>
                <a:spcPts val="300"/>
              </a:spcBef>
            </a:pPr>
            <a:r>
              <a:rPr lang="ru-RU" dirty="0"/>
              <a:t>пассивные (долгий срок, дивиденды) и агрессивные (более рискованные)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dirty="0"/>
              <a:t>Типы инвестиций по объектам инвестирования</a:t>
            </a:r>
          </a:p>
          <a:p>
            <a:pPr marL="971550" lvl="1" indent="-514350"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dirty="0"/>
              <a:t>Реальные</a:t>
            </a:r>
          </a:p>
          <a:p>
            <a:pPr marL="971550" lvl="1" indent="-514350"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dirty="0"/>
              <a:t>Финансовые</a:t>
            </a:r>
          </a:p>
          <a:p>
            <a:pPr marL="1371600" lvl="2" indent="-514350">
              <a:spcBef>
                <a:spcPts val="300"/>
              </a:spcBef>
              <a:spcAft>
                <a:spcPts val="0"/>
              </a:spcAft>
            </a:pPr>
            <a:r>
              <a:rPr lang="ru-RU" dirty="0"/>
              <a:t>Спекулятивные</a:t>
            </a:r>
          </a:p>
          <a:p>
            <a:pPr marL="971550" lvl="1" indent="-514350"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dirty="0"/>
              <a:t>Венчурные</a:t>
            </a:r>
          </a:p>
          <a:p>
            <a:pPr lvl="2">
              <a:spcBef>
                <a:spcPts val="300"/>
              </a:spcBef>
              <a:spcAft>
                <a:spcPts val="0"/>
              </a:spcAft>
            </a:pPr>
            <a:r>
              <a:rPr lang="ru-RU" sz="1400" dirty="0"/>
              <a:t>Пример успешной венчурной инвестиции — вложения фонда </a:t>
            </a:r>
            <a:r>
              <a:rPr lang="ru-RU" sz="1400" dirty="0" err="1"/>
              <a:t>SoftBank</a:t>
            </a:r>
            <a:r>
              <a:rPr lang="ru-RU" sz="1400" dirty="0"/>
              <a:t> в молодую компанию </a:t>
            </a:r>
            <a:r>
              <a:rPr lang="ru-RU" sz="1400" dirty="0" err="1"/>
              <a:t>Alibaba</a:t>
            </a:r>
            <a:r>
              <a:rPr lang="ru-RU" sz="1400" dirty="0"/>
              <a:t> в 2000 году. После выхода </a:t>
            </a:r>
            <a:r>
              <a:rPr lang="ru-RU" sz="1400" dirty="0" err="1"/>
              <a:t>Alibaba</a:t>
            </a:r>
            <a:r>
              <a:rPr lang="ru-RU" sz="1400" dirty="0"/>
              <a:t> на IPO в 2014 году доля </a:t>
            </a:r>
            <a:r>
              <a:rPr lang="ru-RU" sz="1400" dirty="0" err="1"/>
              <a:t>SoftBank</a:t>
            </a:r>
            <a:r>
              <a:rPr lang="ru-RU" sz="1400" dirty="0"/>
              <a:t> выросла с $20 млн до $74 млрд.</a:t>
            </a:r>
          </a:p>
          <a:p>
            <a:pPr lvl="2">
              <a:spcBef>
                <a:spcPts val="300"/>
              </a:spcBef>
              <a:spcAft>
                <a:spcPts val="0"/>
              </a:spcAft>
            </a:pPr>
            <a:r>
              <a:rPr lang="ru-RU" sz="1400" dirty="0"/>
              <a:t>Пример провальной венчурной инвестиции — банкротство медицинского проекта </a:t>
            </a:r>
            <a:r>
              <a:rPr lang="ru-RU" sz="1400" dirty="0" err="1"/>
              <a:t>Theranos</a:t>
            </a:r>
            <a:r>
              <a:rPr lang="ru-RU" sz="1400" dirty="0"/>
              <a:t>, который привлек от венчурных инвесторов не менее $500 млн перед своим крахом.</a:t>
            </a:r>
          </a:p>
          <a:p>
            <a:pPr marL="971550" lvl="1" indent="-514350"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dirty="0"/>
              <a:t>Портфельные инвестиции</a:t>
            </a:r>
          </a:p>
          <a:p>
            <a:pPr marL="971550" lvl="1" indent="-514350"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dirty="0"/>
              <a:t>Интеллектуальные</a:t>
            </a:r>
          </a:p>
        </p:txBody>
      </p:sp>
    </p:spTree>
    <p:extLst>
      <p:ext uri="{BB962C8B-B14F-4D97-AF65-F5344CB8AC3E}">
        <p14:creationId xmlns:p14="http://schemas.microsoft.com/office/powerpoint/2010/main" val="180619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30DF9-CA73-4880-5349-7617466C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1D048-231B-1740-CCE7-4F793492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404664"/>
            <a:ext cx="7992888" cy="86409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400" dirty="0"/>
              <a:t>Корпорация – типы, виды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7E3679-EF22-8B57-38DA-F5FFD6425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824536"/>
          </a:xfrm>
        </p:spPr>
        <p:txBody>
          <a:bodyPr>
            <a:normAutofit/>
          </a:bodyPr>
          <a:lstStyle/>
          <a:p>
            <a:r>
              <a:rPr lang="ru-RU" sz="2800" dirty="0"/>
              <a:t>Корпорация - это</a:t>
            </a:r>
          </a:p>
          <a:p>
            <a:r>
              <a:rPr lang="ru-RU" sz="2800" dirty="0"/>
              <a:t>Госкорпорация - это</a:t>
            </a:r>
          </a:p>
          <a:p>
            <a:r>
              <a:rPr lang="ru-RU" sz="2800" dirty="0"/>
              <a:t>Государственные корпорации России</a:t>
            </a:r>
          </a:p>
          <a:p>
            <a:pPr lvl="1"/>
            <a:r>
              <a:rPr lang="ru-RU" sz="1800" dirty="0"/>
              <a:t>Названия (7 компаний)</a:t>
            </a:r>
          </a:p>
          <a:p>
            <a:r>
              <a:rPr lang="ru-RU" sz="2800" dirty="0"/>
              <a:t>Крупнейшие компании по прибыли</a:t>
            </a:r>
          </a:p>
          <a:p>
            <a:pPr lvl="1"/>
            <a:r>
              <a:rPr lang="ru-RU" sz="1800" dirty="0"/>
              <a:t>Тройка первых – кто вошел?</a:t>
            </a:r>
          </a:p>
          <a:p>
            <a:r>
              <a:rPr lang="ru-RU" sz="2800" dirty="0"/>
              <a:t>Сектора, в которых работают крупнейшие компании</a:t>
            </a:r>
          </a:p>
          <a:p>
            <a:pPr lvl="1"/>
            <a:r>
              <a:rPr lang="ru-RU" sz="1800" dirty="0"/>
              <a:t>Название секторов – 4 отрасли</a:t>
            </a:r>
          </a:p>
          <a:p>
            <a:r>
              <a:rPr lang="ru-RU" sz="2800" dirty="0"/>
              <a:t>Компании с госучастием</a:t>
            </a:r>
          </a:p>
          <a:p>
            <a:pPr lvl="1"/>
            <a:r>
              <a:rPr lang="ru-RU" sz="1800" dirty="0"/>
              <a:t>25 компаний</a:t>
            </a:r>
          </a:p>
        </p:txBody>
      </p:sp>
    </p:spTree>
    <p:extLst>
      <p:ext uri="{BB962C8B-B14F-4D97-AF65-F5344CB8AC3E}">
        <p14:creationId xmlns:p14="http://schemas.microsoft.com/office/powerpoint/2010/main" val="373439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C7EF6-73B0-DE58-45F5-6C681C1D7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88640"/>
            <a:ext cx="8352928" cy="107837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dirty="0"/>
              <a:t>СТРАХОВАНИЕ В ПРОМЫШЛЕННЫХ ЭКОСИСТЕМАХ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D813D-28FC-D5F6-CEF4-38B87E24F539}"/>
              </a:ext>
            </a:extLst>
          </p:cNvPr>
          <p:cNvSpPr txBox="1"/>
          <p:nvPr/>
        </p:nvSpPr>
        <p:spPr>
          <a:xfrm>
            <a:off x="611560" y="1720304"/>
            <a:ext cx="2644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ГОСКОРПОРАЦИЯ РОСТЕХ</a:t>
            </a:r>
            <a:endParaRPr lang="ru-RU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736DC-FA6D-5077-4127-846BD583FE41}"/>
              </a:ext>
            </a:extLst>
          </p:cNvPr>
          <p:cNvSpPr txBox="1"/>
          <p:nvPr/>
        </p:nvSpPr>
        <p:spPr>
          <a:xfrm>
            <a:off x="683568" y="3068960"/>
            <a:ext cx="30243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&gt; 800 производственных объединений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&gt; 200 научных организаций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&gt; 3,6 трлн руб. – консолидированная выручка по итогам 2024 г. 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317 предприятий из числа организаций Государственной корпорации "Ростех"</a:t>
            </a:r>
            <a:endParaRPr lang="ru-RU" sz="1600" dirty="0">
              <a:effectLst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38D957-A1D5-30E3-20EB-607DCE92E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476378"/>
            <a:ext cx="1733550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56A669A-0948-BFE5-27A2-6FD8CC636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426716"/>
            <a:ext cx="561975" cy="56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6BA75E-030F-80E7-1A40-EA9B74408380}"/>
              </a:ext>
            </a:extLst>
          </p:cNvPr>
          <p:cNvSpPr txBox="1"/>
          <p:nvPr/>
        </p:nvSpPr>
        <p:spPr>
          <a:xfrm>
            <a:off x="5678443" y="3361347"/>
            <a:ext cx="27819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ru-RU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Общество взаимного страхования</a:t>
            </a:r>
            <a:endParaRPr lang="ru-RU" sz="1600" dirty="0">
              <a:effectLst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РТ-Взаимное страхование</a:t>
            </a:r>
            <a:endParaRPr lang="ru-RU" sz="1600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825F7C-2C43-1745-680B-4E7DE054CBD2}"/>
              </a:ext>
            </a:extLst>
          </p:cNvPr>
          <p:cNvSpPr txBox="1"/>
          <p:nvPr/>
        </p:nvSpPr>
        <p:spPr>
          <a:xfrm>
            <a:off x="3851469" y="3068960"/>
            <a:ext cx="251054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Банк НОВИКОМ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Еврофинанс Моснарбанк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Тимер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банк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РФК-банк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ОВС РТ-Взаимное страхован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и</a:t>
            </a: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е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СБ РТ-Страхование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НПФ «Ростех»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РТ-Регистратор</a:t>
            </a:r>
            <a:endParaRPr lang="ru-RU" sz="1600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56A5B-4BEA-2216-C162-FF5680EA0891}"/>
              </a:ext>
            </a:extLst>
          </p:cNvPr>
          <p:cNvSpPr txBox="1"/>
          <p:nvPr/>
        </p:nvSpPr>
        <p:spPr>
          <a:xfrm>
            <a:off x="6156176" y="4221088"/>
            <a:ext cx="213662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Имущество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Грузы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Ответственность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СМР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D&amp;O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Кибер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страхование</a:t>
            </a:r>
            <a:endParaRPr lang="ru-RU" sz="16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Эко-страхование</a:t>
            </a:r>
            <a:endParaRPr lang="ru-RU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8608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31640" y="188640"/>
            <a:ext cx="6768752" cy="1368152"/>
          </a:xfrm>
        </p:spPr>
        <p:txBody>
          <a:bodyPr>
            <a:noAutofit/>
          </a:bodyPr>
          <a:lstStyle/>
          <a:p>
            <a:r>
              <a:rPr lang="ru-RU" sz="3600" dirty="0"/>
              <a:t>Корпоративные инвестиции и стоимость компании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844824"/>
            <a:ext cx="8568952" cy="4680520"/>
          </a:xfrm>
        </p:spPr>
        <p:txBody>
          <a:bodyPr>
            <a:normAutofit/>
          </a:bodyPr>
          <a:lstStyle/>
          <a:p>
            <a:r>
              <a:rPr lang="ru-RU" sz="2800" dirty="0"/>
              <a:t>Корпоративные инвестиции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00" dirty="0"/>
              <a:t>это вложения одной компании в активы и проекты другой компании с целью роста (расширения бизнеса), будущей прибыли, укрепления рыночных позиций и контроля</a:t>
            </a:r>
          </a:p>
          <a:p>
            <a:r>
              <a:rPr lang="ru-RU" sz="2800" dirty="0"/>
              <a:t>Стоимость компании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dirty="0"/>
              <a:t>её общая денежная оценка, зависящая от активов, прибыли, долгов и рыночной позиции</a:t>
            </a:r>
          </a:p>
          <a:p>
            <a:r>
              <a:rPr lang="ru-RU" sz="2800" dirty="0"/>
              <a:t>Связь</a:t>
            </a:r>
          </a:p>
          <a:p>
            <a:pPr lvl="1"/>
            <a:r>
              <a:rPr lang="ru-RU" sz="1800" dirty="0"/>
              <a:t>Есть ли она и в чем она состоит?</a:t>
            </a:r>
          </a:p>
        </p:txBody>
      </p:sp>
    </p:spTree>
    <p:extLst>
      <p:ext uri="{BB962C8B-B14F-4D97-AF65-F5344CB8AC3E}">
        <p14:creationId xmlns:p14="http://schemas.microsoft.com/office/powerpoint/2010/main" val="148942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5D463-E2DE-1AB8-75D3-CC262F9EC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944216"/>
          </a:xfrm>
        </p:spPr>
        <p:txBody>
          <a:bodyPr>
            <a:noAutofit/>
          </a:bodyPr>
          <a:lstStyle/>
          <a:p>
            <a:r>
              <a:rPr lang="ru-RU" sz="4000" dirty="0"/>
              <a:t>Примеры корпоративных инвестиций (2024-2025 </a:t>
            </a:r>
            <a:r>
              <a:rPr lang="ru-RU" sz="4000" dirty="0" err="1"/>
              <a:t>гг</a:t>
            </a:r>
            <a:r>
              <a:rPr lang="ru-RU" sz="4000" dirty="0"/>
              <a:t>)</a:t>
            </a:r>
            <a:br>
              <a:rPr lang="ru-RU" sz="4800" dirty="0"/>
            </a:br>
            <a:r>
              <a:rPr lang="ru-RU" sz="2400" dirty="0"/>
              <a:t>есть две ссылки относительно этой информации</a:t>
            </a:r>
            <a:endParaRPr lang="ru-RU" sz="4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839962-9CC6-DC66-5D46-9C668D040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64903"/>
            <a:ext cx="8363272" cy="3888433"/>
          </a:xfrm>
        </p:spPr>
        <p:txBody>
          <a:bodyPr>
            <a:normAutofit/>
          </a:bodyPr>
          <a:lstStyle/>
          <a:p>
            <a:r>
              <a:rPr lang="ru-RU" sz="2800" dirty="0"/>
              <a:t>IT (ИИ, кибербезопасность, развитие экосистем)</a:t>
            </a:r>
          </a:p>
          <a:p>
            <a:pPr lvl="1"/>
            <a:r>
              <a:rPr lang="ru-RU" sz="1800" dirty="0"/>
              <a:t> «Яндекс», «Сбер», «Ростелеком»</a:t>
            </a:r>
          </a:p>
          <a:p>
            <a:r>
              <a:rPr lang="ru-RU" sz="2800" dirty="0"/>
              <a:t>Энергетика (нефть, газ, электросети)</a:t>
            </a:r>
          </a:p>
          <a:p>
            <a:pPr lvl="1"/>
            <a:r>
              <a:rPr lang="ru-RU" sz="1800" dirty="0"/>
              <a:t>«Газпром», «Роснефть», «Лукойл»; </a:t>
            </a:r>
            <a:r>
              <a:rPr lang="ru-RU" sz="1800" dirty="0" err="1"/>
              <a:t>Россеть</a:t>
            </a:r>
            <a:r>
              <a:rPr lang="ru-RU" sz="1800" dirty="0"/>
              <a:t> (и дочки)</a:t>
            </a:r>
          </a:p>
          <a:p>
            <a:r>
              <a:rPr lang="ru-RU" sz="2800" dirty="0"/>
              <a:t>Финтех</a:t>
            </a:r>
          </a:p>
          <a:p>
            <a:pPr lvl="1"/>
            <a:r>
              <a:rPr lang="ru-RU" sz="1800" dirty="0"/>
              <a:t>Сбер, ВТБ</a:t>
            </a:r>
          </a:p>
          <a:p>
            <a:r>
              <a:rPr lang="ru-RU" sz="2800" dirty="0"/>
              <a:t>Ритейл</a:t>
            </a:r>
          </a:p>
          <a:p>
            <a:pPr lvl="1"/>
            <a:r>
              <a:rPr lang="ru-RU" sz="1800" dirty="0"/>
              <a:t>X5, </a:t>
            </a:r>
            <a:r>
              <a:rPr lang="ru-RU" sz="1800" dirty="0" err="1"/>
              <a:t>Ozon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49238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1282154"/>
          </a:xfrm>
        </p:spPr>
        <p:txBody>
          <a:bodyPr>
            <a:noAutofit/>
          </a:bodyPr>
          <a:lstStyle/>
          <a:p>
            <a:r>
              <a:rPr lang="ru-RU" sz="3200" b="1" dirty="0"/>
              <a:t>Мифы про оценку активов (стоимость компании) от </a:t>
            </a:r>
            <a:r>
              <a:rPr lang="ru-RU" sz="3200" b="1" dirty="0" err="1"/>
              <a:t>Асвата</a:t>
            </a:r>
            <a:r>
              <a:rPr lang="ru-RU" sz="3200" b="1" dirty="0"/>
              <a:t> </a:t>
            </a:r>
            <a:r>
              <a:rPr lang="ru-RU" sz="3200" b="1" dirty="0" err="1"/>
              <a:t>Дамодарана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2636912"/>
            <a:ext cx="7560840" cy="3661867"/>
          </a:xfrm>
        </p:spPr>
        <p:txBody>
          <a:bodyPr>
            <a:normAutofit lnSpcReduction="10000"/>
          </a:bodyPr>
          <a:lstStyle/>
          <a:p>
            <a:pPr marL="501650" indent="-457200">
              <a:buFont typeface="Trebuchet MS" pitchFamily="34" charset="0"/>
              <a:buAutoNum type="arabicPeriod"/>
            </a:pPr>
            <a:r>
              <a:rPr lang="ru-RU" altLang="ru-RU" dirty="0"/>
              <a:t>Объективность от количественных моделей</a:t>
            </a:r>
          </a:p>
          <a:p>
            <a:pPr marL="501650" indent="-457200">
              <a:buFont typeface="Trebuchet MS" pitchFamily="34" charset="0"/>
              <a:buAutoNum type="arabicPeriod"/>
            </a:pPr>
            <a:r>
              <a:rPr lang="ru-RU" altLang="ru-RU" dirty="0"/>
              <a:t>Идеальное оценивание на обоснованной базе</a:t>
            </a:r>
          </a:p>
          <a:p>
            <a:pPr marL="501650" indent="-457200">
              <a:buFont typeface="Trebuchet MS" pitchFamily="34" charset="0"/>
              <a:buAutoNum type="arabicPeriod"/>
            </a:pPr>
            <a:r>
              <a:rPr lang="ru-RU" altLang="ru-RU" dirty="0"/>
              <a:t>Качественная оценка всегда адекватная</a:t>
            </a:r>
          </a:p>
          <a:p>
            <a:pPr marL="501650" indent="-457200">
              <a:buFont typeface="Trebuchet MS" pitchFamily="34" charset="0"/>
              <a:buAutoNum type="arabicPeriod"/>
            </a:pPr>
            <a:r>
              <a:rPr lang="ru-RU" altLang="ru-RU" dirty="0"/>
              <a:t>Сложная модель – точная оценка</a:t>
            </a:r>
          </a:p>
          <a:p>
            <a:pPr marL="501650" indent="-457200">
              <a:buFont typeface="Trebuchet MS" pitchFamily="34" charset="0"/>
              <a:buAutoNum type="arabicPeriod"/>
            </a:pPr>
            <a:r>
              <a:rPr lang="ru-RU" altLang="ru-RU" dirty="0"/>
              <a:t>Допущение об неэффективном рынке, чтобы делать деньги</a:t>
            </a:r>
          </a:p>
          <a:p>
            <a:pPr marL="501650" indent="-457200">
              <a:buFont typeface="Trebuchet MS" pitchFamily="34" charset="0"/>
              <a:buAutoNum type="arabicPeriod"/>
            </a:pPr>
            <a:r>
              <a:rPr lang="ru-RU" altLang="ru-RU" dirty="0"/>
              <a:t>Важен результат, а не процесс оценки актива</a:t>
            </a:r>
          </a:p>
        </p:txBody>
      </p:sp>
    </p:spTree>
    <p:extLst>
      <p:ext uri="{BB962C8B-B14F-4D97-AF65-F5344CB8AC3E}">
        <p14:creationId xmlns:p14="http://schemas.microsoft.com/office/powerpoint/2010/main" val="321270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1DB664-2242-4F23-7850-22DB4973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Корпоративные инвестиционные стратегии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4174EA-E6B6-6CBD-01F2-15317F433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2132856"/>
            <a:ext cx="8291264" cy="4248471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комплексные планы размещения средств компании для устойчивого развития и роста, охватывающие выбор активов, управление рисками и соответствие целям бизнеса</a:t>
            </a:r>
          </a:p>
          <a:p>
            <a:r>
              <a:rPr lang="ru-RU" dirty="0"/>
              <a:t>выбор стратегии зависит от целей (рост капитала, доходность), горизонта инвестирования (кратко-, средне-, долгосрочные) и допустимого уровня риска</a:t>
            </a:r>
          </a:p>
          <a:p>
            <a:r>
              <a:rPr lang="ru-RU" dirty="0"/>
              <a:t>выделяют около 8 видов стратегий, и включающие такие подходы, как «купить и держать» (</a:t>
            </a:r>
            <a:r>
              <a:rPr lang="ru-RU" dirty="0" err="1"/>
              <a:t>Buy</a:t>
            </a:r>
            <a:r>
              <a:rPr lang="ru-RU" dirty="0"/>
              <a:t> &amp; </a:t>
            </a:r>
            <a:r>
              <a:rPr lang="ru-RU" dirty="0" err="1"/>
              <a:t>Hold</a:t>
            </a:r>
            <a:r>
              <a:rPr lang="ru-RU" dirty="0"/>
              <a:t>), дивидендная стратегия, спекулятивная, консервативная и агрессивная, а также диверсификация и фокусирование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20782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01C46-5F11-9B33-8DCD-721A0F906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65618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altLang="ru-RU" sz="3600" dirty="0">
                <a:solidFill>
                  <a:srgbClr val="001D35"/>
                </a:solidFill>
                <a:latin typeface="Google Sans"/>
              </a:rPr>
              <a:t>Основные виды корпоративных инвестиционных стратегий</a:t>
            </a:r>
            <a:br>
              <a:rPr lang="ru-RU" altLang="ru-RU" sz="4000" dirty="0">
                <a:solidFill>
                  <a:srgbClr val="001D35"/>
                </a:solidFill>
                <a:latin typeface="Google Sans"/>
              </a:rPr>
            </a:br>
            <a:r>
              <a:rPr lang="ru-RU" altLang="ru-RU" sz="3200" dirty="0">
                <a:solidFill>
                  <a:srgbClr val="FF0000"/>
                </a:solidFill>
                <a:latin typeface="Google Sans"/>
              </a:rPr>
              <a:t>на чем они основываются?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71FDB9-B56D-C9FA-DCD1-607D05FA1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160" y="2287413"/>
            <a:ext cx="8229600" cy="423793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altLang="ru-RU" sz="2800" dirty="0">
                <a:solidFill>
                  <a:srgbClr val="0A0A0A"/>
                </a:solidFill>
              </a:rPr>
              <a:t>«Купить и держать» (</a:t>
            </a:r>
            <a:r>
              <a:rPr lang="ru-RU" altLang="ru-RU" sz="2800" dirty="0" err="1">
                <a:solidFill>
                  <a:srgbClr val="0A0A0A"/>
                </a:solidFill>
              </a:rPr>
              <a:t>Buy</a:t>
            </a:r>
            <a:r>
              <a:rPr lang="ru-RU" altLang="ru-RU" sz="2800" dirty="0">
                <a:solidFill>
                  <a:srgbClr val="0A0A0A"/>
                </a:solidFill>
              </a:rPr>
              <a:t> &amp; </a:t>
            </a:r>
            <a:r>
              <a:rPr lang="ru-RU" altLang="ru-RU" sz="2800" dirty="0" err="1">
                <a:solidFill>
                  <a:srgbClr val="0A0A0A"/>
                </a:solidFill>
              </a:rPr>
              <a:t>Hold</a:t>
            </a:r>
            <a:r>
              <a:rPr lang="ru-RU" altLang="ru-RU" sz="2800" dirty="0">
                <a:solidFill>
                  <a:srgbClr val="0A0A0A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ru-RU" altLang="ru-RU" sz="2800" dirty="0">
                <a:solidFill>
                  <a:srgbClr val="0A0A0A"/>
                </a:solidFill>
              </a:rPr>
              <a:t>Дивидендная</a:t>
            </a:r>
          </a:p>
          <a:p>
            <a:pPr marL="457200" indent="-457200">
              <a:buFont typeface="+mj-lt"/>
              <a:buAutoNum type="arabicPeriod"/>
            </a:pPr>
            <a:r>
              <a:rPr lang="ru-RU" altLang="ru-RU" sz="2800" dirty="0">
                <a:solidFill>
                  <a:srgbClr val="0A0A0A"/>
                </a:solidFill>
              </a:rPr>
              <a:t>Агрессивная (Спекулятивная)</a:t>
            </a:r>
          </a:p>
          <a:p>
            <a:pPr marL="457200" indent="-457200">
              <a:buFont typeface="+mj-lt"/>
              <a:buAutoNum type="arabicPeriod"/>
            </a:pPr>
            <a:r>
              <a:rPr lang="ru-RU" altLang="ru-RU" sz="2800" dirty="0">
                <a:solidFill>
                  <a:srgbClr val="0A0A0A"/>
                </a:solidFill>
              </a:rPr>
              <a:t>Консервативная</a:t>
            </a:r>
          </a:p>
          <a:p>
            <a:pPr marL="457200" indent="-457200">
              <a:buFont typeface="+mj-lt"/>
              <a:buAutoNum type="arabicPeriod"/>
            </a:pPr>
            <a:r>
              <a:rPr lang="ru-RU" altLang="ru-RU" sz="2800" dirty="0">
                <a:solidFill>
                  <a:srgbClr val="0A0A0A"/>
                </a:solidFill>
              </a:rPr>
              <a:t>Комбинированная</a:t>
            </a:r>
          </a:p>
          <a:p>
            <a:pPr marL="457200" indent="-457200">
              <a:buFont typeface="+mj-lt"/>
              <a:buAutoNum type="arabicPeriod"/>
            </a:pPr>
            <a:r>
              <a:rPr lang="ru-RU" altLang="ru-RU" sz="2800" dirty="0">
                <a:solidFill>
                  <a:srgbClr val="0A0A0A"/>
                </a:solidFill>
              </a:rPr>
              <a:t>Диверсифицированная</a:t>
            </a:r>
          </a:p>
          <a:p>
            <a:pPr marL="457200" indent="-457200">
              <a:buFont typeface="+mj-lt"/>
              <a:buAutoNum type="arabicPeriod"/>
            </a:pPr>
            <a:r>
              <a:rPr lang="ru-RU" altLang="ru-RU" sz="2800" dirty="0">
                <a:solidFill>
                  <a:srgbClr val="0A0A0A"/>
                </a:solidFill>
              </a:rPr>
              <a:t>Фокусированная</a:t>
            </a:r>
          </a:p>
          <a:p>
            <a:pPr marL="457200" indent="-457200">
              <a:buFont typeface="+mj-lt"/>
              <a:buAutoNum type="arabicPeriod"/>
            </a:pPr>
            <a:r>
              <a:rPr lang="ru-RU" altLang="ru-RU" sz="2800" dirty="0">
                <a:solidFill>
                  <a:srgbClr val="0A0A0A"/>
                </a:solidFill>
              </a:rPr>
              <a:t>Инновационная (Венчурная)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22991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26754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dirty="0"/>
              <a:t>Корпоративные инвестиционные стратегии 2025 года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772816"/>
            <a:ext cx="8496944" cy="4536504"/>
          </a:xfrm>
        </p:spPr>
        <p:txBody>
          <a:bodyPr>
            <a:normAutofit/>
          </a:bodyPr>
          <a:lstStyle/>
          <a:p>
            <a:r>
              <a:rPr lang="ru-RU" dirty="0"/>
              <a:t>были сосредоточены на адаптации</a:t>
            </a:r>
          </a:p>
          <a:p>
            <a:pPr lvl="1"/>
            <a:r>
              <a:rPr lang="ru-RU" sz="1800" dirty="0"/>
              <a:t>к высокой ключевой ставке ЦБ РФ</a:t>
            </a:r>
          </a:p>
          <a:p>
            <a:pPr lvl="1"/>
            <a:r>
              <a:rPr lang="ru-RU" sz="1800" dirty="0"/>
              <a:t>к геополитической неопределенности</a:t>
            </a:r>
          </a:p>
          <a:p>
            <a:pPr lvl="1"/>
            <a:r>
              <a:rPr lang="ru-RU" sz="1800" dirty="0"/>
              <a:t>к смене фокуса с «рискованных» активов на инструменты с предсказуемой доходностью, такие как облигации (особенно длинные ОФЗ и высококачественные корпоративные), а также на дивидендные акции с низким долгом</a:t>
            </a:r>
          </a:p>
          <a:p>
            <a:r>
              <a:rPr lang="ru-RU" dirty="0"/>
              <a:t>ключевые направления включали IT, цифровизацию, ИИ, а также защитные активы (золото, валютные облигации)</a:t>
            </a:r>
            <a:endParaRPr lang="ru-RU" strike="sngStrike" dirty="0"/>
          </a:p>
          <a:p>
            <a:r>
              <a:rPr lang="ru-RU" dirty="0"/>
              <a:t>Модели стратегического планирования инвестиций (SWOT-анализ, GAP-анализ)</a:t>
            </a:r>
          </a:p>
        </p:txBody>
      </p:sp>
    </p:spTree>
    <p:extLst>
      <p:ext uri="{BB962C8B-B14F-4D97-AF65-F5344CB8AC3E}">
        <p14:creationId xmlns:p14="http://schemas.microsoft.com/office/powerpoint/2010/main" val="48372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920881" cy="10801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400" b="1" dirty="0"/>
              <a:t>Ситуация № 1</a:t>
            </a:r>
            <a:br>
              <a:rPr lang="ru-RU" sz="4400" b="1" dirty="0"/>
            </a:br>
            <a:r>
              <a:rPr lang="ru-RU" sz="2000" dirty="0"/>
              <a:t>(в ТГ Акции и Конкуренты –Дмитрий Воронов)</a:t>
            </a:r>
            <a:endParaRPr lang="ru-RU" sz="4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556792"/>
            <a:ext cx="8136903" cy="4896544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sz="2800" u="sng" dirty="0"/>
              <a:t>Магнит разочаровал инвесторов (от 3 июня 2025)</a:t>
            </a:r>
          </a:p>
          <a:p>
            <a:pPr marL="457200" lvl="1" indent="0" algn="just">
              <a:buNone/>
            </a:pPr>
            <a:r>
              <a:rPr lang="ru-RU" sz="2400" dirty="0"/>
              <a:t>Компания опубликовала свой годовой отчет позже всех эмитентов (даже Газпрома). Параллельно появилась информация о том, что акции Магнита – претенденты на исключение из индекса </a:t>
            </a:r>
            <a:r>
              <a:rPr lang="ru-RU" sz="2400" dirty="0" err="1"/>
              <a:t>МосБиржи</a:t>
            </a:r>
            <a:r>
              <a:rPr lang="ru-RU" sz="2400" dirty="0"/>
              <a:t>. К концу недели выяснилось, что величина дивидендов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r>
              <a:rPr lang="ru-RU" sz="2400" dirty="0"/>
              <a:t>оказалась ниже ожиданий инвесторов. Естественно, котировки компании устремились вниз: потеряли 22% по сравнению с майскими пиками выплат.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Что такое акции? Их виды, плюсы, минусы.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Что такое дивиденд? Когда получают? Платится ли налог?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Как интерпретировать?</a:t>
            </a:r>
          </a:p>
          <a:p>
            <a:pPr lvl="1"/>
            <a:r>
              <a:rPr lang="ru-RU" sz="2400" dirty="0"/>
              <a:t>Состав Магнита (компании, акционеры)</a:t>
            </a:r>
          </a:p>
          <a:p>
            <a:pPr lvl="1"/>
            <a:r>
              <a:rPr lang="ru-RU" sz="2400" dirty="0"/>
              <a:t>Срок жизни</a:t>
            </a:r>
          </a:p>
          <a:p>
            <a:pPr lvl="1"/>
            <a:r>
              <a:rPr lang="ru-RU" sz="2400" dirty="0"/>
              <a:t>Вид деятельности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6570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7CAECB-95CE-9187-28B2-E3B92F65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404664"/>
            <a:ext cx="7920880" cy="130386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Ситуация № 2</a:t>
            </a:r>
            <a:br>
              <a:rPr lang="ru-RU" b="1" dirty="0"/>
            </a:br>
            <a:r>
              <a:rPr lang="ru-RU" sz="3200" dirty="0"/>
              <a:t>(в ТГ КОРПФИНГУРУ - Олег </a:t>
            </a:r>
            <a:r>
              <a:rPr lang="ru-RU" sz="3200" dirty="0" err="1"/>
              <a:t>Балабаев</a:t>
            </a:r>
            <a:r>
              <a:rPr lang="ru-RU" sz="3200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0C1ED8-5060-0230-33C6-352E8F97D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844824"/>
            <a:ext cx="7920880" cy="4525963"/>
          </a:xfrm>
        </p:spPr>
        <p:txBody>
          <a:bodyPr>
            <a:normAutofit/>
          </a:bodyPr>
          <a:lstStyle/>
          <a:p>
            <a:r>
              <a:rPr lang="ru-RU" dirty="0"/>
              <a:t>Если вам предлагают структурную облигацию с доходностью 50%, что с этим делать?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Что такое структурная облигация? От чего зависит ее стоимость?</a:t>
            </a:r>
          </a:p>
          <a:p>
            <a:r>
              <a:rPr lang="ru-RU" dirty="0"/>
              <a:t>Осенью 2025 г. ВТБ досрочно погасил структурные облигации ВТБ С1-519 номиналом 1000 рублей, выплатив по 315 рублей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Это много или мало?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Насколько это законно?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Плюсы и минусы структурной облигации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422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04512-CCC0-EC9E-7752-27A1B53E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907504"/>
          </a:xfrm>
        </p:spPr>
        <p:txBody>
          <a:bodyPr>
            <a:normAutofit/>
          </a:bodyPr>
          <a:lstStyle/>
          <a:p>
            <a:r>
              <a:rPr lang="ru-RU" dirty="0"/>
              <a:t>Структурные продукты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4E8DED-2D21-85E1-CD49-51AF61660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1772816"/>
            <a:ext cx="7200799" cy="4608511"/>
          </a:xfrm>
        </p:spPr>
        <p:txBody>
          <a:bodyPr>
            <a:normAutofit/>
          </a:bodyPr>
          <a:lstStyle/>
          <a:p>
            <a:r>
              <a:rPr lang="ru-RU" dirty="0"/>
              <a:t>по сути, готовая инвестиционная стратегия с заданным сроком, доходностью (выше депозита) и с рискованностью (можно не получить доход и потерять часть своих средств)</a:t>
            </a:r>
          </a:p>
          <a:p>
            <a:r>
              <a:rPr lang="ru-RU" dirty="0"/>
              <a:t>сложные финансовые инструменты, комбинирующие традиционные активы (облигации) и производные финансовые инструменты (опционы) в один «пакет» условий</a:t>
            </a:r>
          </a:p>
          <a:p>
            <a:pPr lvl="1"/>
            <a:r>
              <a:rPr lang="ru-RU" dirty="0"/>
              <a:t>Структурная облигация – долговая ценная бумага, доходность и погашение номинала зависит от выполнения определенных условий или от реализации события</a:t>
            </a:r>
          </a:p>
        </p:txBody>
      </p:sp>
    </p:spTree>
    <p:extLst>
      <p:ext uri="{BB962C8B-B14F-4D97-AF65-F5344CB8AC3E}">
        <p14:creationId xmlns:p14="http://schemas.microsoft.com/office/powerpoint/2010/main" val="33565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9A9578-AB06-D6E9-4F42-A89742B38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404664"/>
            <a:ext cx="7776863" cy="10081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b="1" dirty="0"/>
              <a:t>Ситуация № 3 – передача Украиной проекта по добыче ресурсов американским инвесторам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57A98E-C214-9437-87D4-9DBD5B5F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72816"/>
            <a:ext cx="8136904" cy="468052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проект на разработку крупного Добрянского литиевого месторождения (Добра)</a:t>
            </a:r>
          </a:p>
          <a:p>
            <a:r>
              <a:rPr lang="ru-RU" dirty="0"/>
              <a:t>инвесторам необходимо будет предоставлять отчеты о добыче правительству Украины</a:t>
            </a:r>
          </a:p>
          <a:p>
            <a:r>
              <a:rPr lang="ru-RU" dirty="0"/>
              <a:t>доходы и взносы фонда не будут облагаться налогом ни в США, ни на Украине</a:t>
            </a:r>
          </a:p>
          <a:p>
            <a:pPr fontAlgn="base"/>
            <a:r>
              <a:rPr lang="ru-RU" dirty="0"/>
              <a:t>половина доходов, будет направляться в совместный американо-украинский инвестиционный фонд реконструкции для реинвестирования в экономику Украины</a:t>
            </a:r>
          </a:p>
          <a:p>
            <a:pPr fontAlgn="base"/>
            <a:r>
              <a:rPr lang="ru-RU" dirty="0"/>
              <a:t>месторождение позволит привлечь минимальный объем капитальных инвестиций в 179 миллионов долларов</a:t>
            </a:r>
          </a:p>
          <a:p>
            <a:pPr fontAlgn="base"/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Почему важен этот проект?</a:t>
            </a:r>
            <a:r>
              <a:rPr lang="ru-RU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Что значит совместный инвестиционный фонд?</a:t>
            </a:r>
            <a:r>
              <a:rPr lang="ru-RU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Чем полезны такие соглашения (проекты)?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62240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435</TotalTime>
  <Words>1319</Words>
  <Application>Microsoft Office PowerPoint</Application>
  <PresentationFormat>Экран (4:3)</PresentationFormat>
  <Paragraphs>172</Paragraphs>
  <Slides>19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30" baseType="lpstr">
      <vt:lpstr>Arial</vt:lpstr>
      <vt:lpstr>Arial Narrow</vt:lpstr>
      <vt:lpstr>Calibri</vt:lpstr>
      <vt:lpstr>Century Gothic</vt:lpstr>
      <vt:lpstr>Courier New</vt:lpstr>
      <vt:lpstr>Google Sans</vt:lpstr>
      <vt:lpstr>Palatino Linotype</vt:lpstr>
      <vt:lpstr>Times New Roman</vt:lpstr>
      <vt:lpstr>Trebuchet MS</vt:lpstr>
      <vt:lpstr>Wingdings</vt:lpstr>
      <vt:lpstr>Исполнительная</vt:lpstr>
      <vt:lpstr>Корпоративные инвестиции и проектный бизнес</vt:lpstr>
      <vt:lpstr>ВАЖНАЯ ИНФОРМАЦИЯ</vt:lpstr>
      <vt:lpstr>Какой можно сделать вывод с учетом специфики нашей дисциплины?</vt:lpstr>
      <vt:lpstr>Тема 1. Инвестиции, проекты и денежные потоки</vt:lpstr>
      <vt:lpstr>1.1. Инвестиционная деятельность в компании (корпорации)</vt:lpstr>
      <vt:lpstr>Объекты для инвестиций</vt:lpstr>
      <vt:lpstr>Типология инвестиций</vt:lpstr>
      <vt:lpstr>Корпорация – типы, виды</vt:lpstr>
      <vt:lpstr>СТРАХОВАНИЕ В ПРОМЫШЛЕННЫХ ЭКОСИСТЕМАХ</vt:lpstr>
      <vt:lpstr>Корпоративные инвестиции и стоимость компании</vt:lpstr>
      <vt:lpstr>Примеры корпоративных инвестиций (2024-2025 гг) есть две ссылки относительно этой информации</vt:lpstr>
      <vt:lpstr>Мифы про оценку активов (стоимость компании) от Асвата Дамодарана</vt:lpstr>
      <vt:lpstr>Корпоративные инвестиционные стратегии</vt:lpstr>
      <vt:lpstr>Основные виды корпоративных инвестиционных стратегий на чем они основываются?</vt:lpstr>
      <vt:lpstr>Корпоративные инвестиционные стратегии 2025 года</vt:lpstr>
      <vt:lpstr>Ситуация № 1 (в ТГ Акции и Конкуренты –Дмитрий Воронов)</vt:lpstr>
      <vt:lpstr>Ситуация № 2 (в ТГ КОРПФИНГУРУ - Олег Балабаев)</vt:lpstr>
      <vt:lpstr>Структурные продукты</vt:lpstr>
      <vt:lpstr>Ситуация № 3 – передача Украиной проекта по добыче ресурсов американским инвесторам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 инвестиционного анализа</dc:title>
  <dc:creator>Пользователь Windows</dc:creator>
  <cp:lastModifiedBy>Тарасова Юлия Александровна</cp:lastModifiedBy>
  <cp:revision>82</cp:revision>
  <cp:lastPrinted>2024-09-04T09:46:42Z</cp:lastPrinted>
  <dcterms:created xsi:type="dcterms:W3CDTF">2024-09-02T08:18:05Z</dcterms:created>
  <dcterms:modified xsi:type="dcterms:W3CDTF">2026-01-14T06:14:57Z</dcterms:modified>
</cp:coreProperties>
</file>