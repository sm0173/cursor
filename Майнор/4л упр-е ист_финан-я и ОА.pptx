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handoutMasterIdLst>
    <p:handoutMasterId r:id="rId35"/>
  </p:handoutMasterIdLst>
  <p:sldIdLst>
    <p:sldId id="258" r:id="rId2"/>
    <p:sldId id="299" r:id="rId3"/>
    <p:sldId id="300" r:id="rId4"/>
    <p:sldId id="338" r:id="rId5"/>
    <p:sldId id="339" r:id="rId6"/>
    <p:sldId id="340" r:id="rId7"/>
    <p:sldId id="341" r:id="rId8"/>
    <p:sldId id="342" r:id="rId9"/>
    <p:sldId id="301" r:id="rId10"/>
    <p:sldId id="302" r:id="rId11"/>
    <p:sldId id="305" r:id="rId12"/>
    <p:sldId id="294" r:id="rId13"/>
    <p:sldId id="313" r:id="rId14"/>
    <p:sldId id="358" r:id="rId15"/>
    <p:sldId id="349" r:id="rId16"/>
    <p:sldId id="306" r:id="rId17"/>
    <p:sldId id="309" r:id="rId18"/>
    <p:sldId id="307" r:id="rId19"/>
    <p:sldId id="308" r:id="rId20"/>
    <p:sldId id="298" r:id="rId21"/>
    <p:sldId id="304" r:id="rId22"/>
    <p:sldId id="360" r:id="rId23"/>
    <p:sldId id="363" r:id="rId24"/>
    <p:sldId id="295" r:id="rId25"/>
    <p:sldId id="365" r:id="rId26"/>
    <p:sldId id="273" r:id="rId27"/>
    <p:sldId id="372" r:id="rId28"/>
    <p:sldId id="373" r:id="rId29"/>
    <p:sldId id="370" r:id="rId30"/>
    <p:sldId id="288" r:id="rId31"/>
    <p:sldId id="297" r:id="rId32"/>
    <p:sldId id="366" r:id="rId33"/>
  </p:sldIdLst>
  <p:sldSz cx="9144000" cy="6858000" type="screen4x3"/>
  <p:notesSz cx="9926638" cy="67976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6704" autoAdjust="0"/>
    <p:restoredTop sz="95538" autoAdjust="0"/>
  </p:normalViewPr>
  <p:slideViewPr>
    <p:cSldViewPr>
      <p:cViewPr varScale="1">
        <p:scale>
          <a:sx n="109" d="100"/>
          <a:sy n="109" d="100"/>
        </p:scale>
        <p:origin x="12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r">
              <a:defRPr sz="1200"/>
            </a:lvl1pPr>
          </a:lstStyle>
          <a:p>
            <a:fld id="{C04F3965-31BA-4087-9572-BC87E5F0A4A3}" type="datetimeFigureOut">
              <a:rPr lang="ru-RU" smtClean="0"/>
              <a:pPr/>
              <a:t>07.10.2025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r">
              <a:defRPr sz="1200"/>
            </a:lvl1pPr>
          </a:lstStyle>
          <a:p>
            <a:fld id="{5D4FA315-6623-4FB1-BE10-76031141127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312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CFF9-C9DA-4A9C-9031-F39D42DE283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188" y="3228975"/>
            <a:ext cx="7942262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C1EDA-25B8-4934-859E-914D0E921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90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/>
              <a:t>Студенты по выше приведенным критериям</a:t>
            </a:r>
            <a:r>
              <a:rPr lang="ru-RU" altLang="ru-RU" baseline="0" dirty="0"/>
              <a:t> должны дать характеристику акциям и НП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002060"/>
                </a:solidFill>
              </a:rPr>
              <a:t>Акции – д/ср, собств., </a:t>
            </a:r>
            <a:r>
              <a:rPr lang="ru-RU" dirty="0" err="1">
                <a:solidFill>
                  <a:srgbClr val="002060"/>
                </a:solidFill>
              </a:rPr>
              <a:t>внутр</a:t>
            </a:r>
            <a:r>
              <a:rPr lang="ru-RU" dirty="0">
                <a:solidFill>
                  <a:srgbClr val="002060"/>
                </a:solidFill>
              </a:rPr>
              <a:t>., </a:t>
            </a:r>
            <a:r>
              <a:rPr lang="ru-RU" dirty="0" err="1">
                <a:solidFill>
                  <a:srgbClr val="002060"/>
                </a:solidFill>
              </a:rPr>
              <a:t>привлеч</a:t>
            </a:r>
            <a:r>
              <a:rPr lang="ru-RU" dirty="0">
                <a:solidFill>
                  <a:srgbClr val="002060"/>
                </a:solidFill>
              </a:rPr>
              <a:t>.; НП – д/ср, </a:t>
            </a:r>
            <a:r>
              <a:rPr lang="ru-RU" altLang="ru-RU" sz="1200" dirty="0"/>
              <a:t>внутренний собственный</a:t>
            </a:r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900" indent="-288808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230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322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414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1506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3598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5690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7782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79128FCB-B60E-4826-874E-8709D99E831B}" type="slidenum">
              <a:rPr lang="ru-RU" altLang="ru-RU">
                <a:latin typeface="Arial" pitchFamily="34" charset="0"/>
              </a:rPr>
              <a:pPr>
                <a:spcBef>
                  <a:spcPct val="0"/>
                </a:spcBef>
              </a:pPr>
              <a:t>2</a:t>
            </a:fld>
            <a:endParaRPr lang="ru-RU" alt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55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614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0900" indent="-28880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5230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7322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9414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41506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03598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65690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27782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DDBE4879-698A-411B-B90B-7DF5E85BD294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6613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624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0900" indent="-28880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5230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7322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9414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41506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03598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65690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27782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0FCEDF73-0848-4E80-91AD-9760B8DF9AF2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54375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634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0900" indent="-28880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5230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7322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9414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41506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03598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65690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27782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183876BE-7F97-44E2-AE1E-BDD42F7CD9F4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8060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Почему до 25%? Выше – может кто-нибудь выкупить контрольный пакет акций</a:t>
            </a:r>
          </a:p>
        </p:txBody>
      </p:sp>
      <p:sp>
        <p:nvSpPr>
          <p:cNvPr id="645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0900" indent="-28880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5230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7322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9414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41506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03598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65690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27782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3097747-A61E-4ABE-A0A7-11ED22B5CA4D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8847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900" indent="-288808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230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322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414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1506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3598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5690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7782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117CB9C0-3468-4F69-B707-D1FB8C3BB662}" type="slidenum">
              <a:rPr lang="ru-RU" altLang="ru-RU">
                <a:latin typeface="Arial" pitchFamily="34" charset="0"/>
              </a:rPr>
              <a:pPr>
                <a:spcBef>
                  <a:spcPct val="0"/>
                </a:spcBef>
              </a:pPr>
              <a:t>9</a:t>
            </a:fld>
            <a:endParaRPr lang="ru-RU" alt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93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Какой размер налога платит получатель дивидендов в России в 2025 году? Резиденты 13</a:t>
            </a:r>
            <a:r>
              <a:rPr lang="ru-RU" baseline="0" dirty="0"/>
              <a:t>% (до 2,4 </a:t>
            </a:r>
            <a:r>
              <a:rPr lang="ru-RU" baseline="0" dirty="0" err="1"/>
              <a:t>млн.руб</a:t>
            </a:r>
            <a:r>
              <a:rPr lang="ru-RU" baseline="0" dirty="0"/>
              <a:t>.; выше – 372 тыс. + 15%); нерезиденты = 15% (вне зависимости от суммы налога).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979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5632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0900" indent="-288808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230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7322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79414" indent="-231046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1506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3598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5690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7782" indent="-231046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7FB22B10-13A7-4D4B-B37A-5889849F283F}" type="slidenum">
              <a:rPr lang="ru-RU" altLang="ru-RU">
                <a:latin typeface="Arial" pitchFamily="34" charset="0"/>
              </a:rPr>
              <a:pPr>
                <a:spcBef>
                  <a:spcPct val="0"/>
                </a:spcBef>
              </a:pPr>
              <a:t>11</a:t>
            </a:fld>
            <a:endParaRPr lang="ru-RU" alt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7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Самое главное – компания не может напряму</a:t>
            </a:r>
            <a:r>
              <a:rPr lang="ru-RU" baseline="0" dirty="0"/>
              <a:t>ю влиять на ЗК (на его размеры, сроки …)</a:t>
            </a:r>
            <a:endParaRPr lang="ru-RU" dirty="0"/>
          </a:p>
          <a:p>
            <a:r>
              <a:rPr lang="ru-RU" dirty="0"/>
              <a:t>Помните, я говорила вам про </a:t>
            </a:r>
            <a:r>
              <a:rPr lang="en-US" dirty="0"/>
              <a:t>WACC</a:t>
            </a:r>
            <a:r>
              <a:rPr lang="ru-RU" dirty="0"/>
              <a:t> с российской спецификой, которая сейчас не применяется.</a:t>
            </a:r>
            <a:r>
              <a:rPr lang="ru-RU" baseline="0" dirty="0"/>
              <a:t> Налоговый щит – инструмент (средство), позволяющий снижать налогооблагаемую базу за счет стоимости ссудного процента (сравнение ключевой ставки – раньше она называлась ставкой рефинансирования – и ставки за кредит). Кто знает, на сегодняшний день чему равна ключевая ставка? </a:t>
            </a:r>
            <a:r>
              <a:rPr lang="ru-RU" sz="1400" baseline="0" dirty="0"/>
              <a:t>16%</a:t>
            </a:r>
            <a:r>
              <a:rPr lang="ru-RU" baseline="0" dirty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527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696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0900" indent="-28880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5230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7322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9414" indent="-23104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41506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03598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65690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27782" indent="-2310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461AF1CE-0D99-41F8-9560-F09DD3D1EB44}" type="slidenum">
              <a:rPr lang="ru-RU" altLang="ru-RU" smtClean="0"/>
              <a:pPr/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646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70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ФО – не имеет нормативного значения, зависит от отрасли,</a:t>
            </a:r>
            <a:r>
              <a:rPr lang="ru-RU" baseline="0" dirty="0"/>
              <a:t> лучше в динамике, эффективное или </a:t>
            </a:r>
            <a:r>
              <a:rPr lang="ru-RU" baseline="0" dirty="0" err="1"/>
              <a:t>не-</a:t>
            </a:r>
            <a:r>
              <a:rPr lang="ru-RU" baseline="0" dirty="0"/>
              <a:t> использование фондов, важно сравнивать темпы прироста</a:t>
            </a:r>
            <a:r>
              <a:rPr lang="en-US" baseline="0" dirty="0"/>
              <a:t>FA </a:t>
            </a:r>
            <a:r>
              <a:rPr lang="ru-RU" baseline="0" dirty="0"/>
              <a:t>с темпами прироста </a:t>
            </a:r>
            <a:r>
              <a:rPr lang="en-US" baseline="0" dirty="0"/>
              <a:t>S </a:t>
            </a:r>
            <a:r>
              <a:rPr lang="ru-RU" baseline="0" dirty="0"/>
              <a:t>(выручки). Для его улучшения нужно либо повысить</a:t>
            </a:r>
            <a:r>
              <a:rPr lang="en-US" baseline="0" dirty="0"/>
              <a:t> </a:t>
            </a:r>
            <a:r>
              <a:rPr lang="ru-RU" baseline="0" dirty="0"/>
              <a:t>интенсивность использования</a:t>
            </a:r>
            <a:r>
              <a:rPr lang="en-US" baseline="0" dirty="0"/>
              <a:t> FA</a:t>
            </a:r>
            <a:r>
              <a:rPr lang="ru-RU" baseline="0" dirty="0"/>
              <a:t>, либо реализовать неиспользуемое оборудование для снижения общей стоимости </a:t>
            </a:r>
            <a:r>
              <a:rPr lang="en-US" baseline="0" dirty="0"/>
              <a:t>FA</a:t>
            </a:r>
            <a:r>
              <a:rPr lang="ru-RU" baseline="0" dirty="0"/>
              <a:t>.</a:t>
            </a:r>
          </a:p>
          <a:p>
            <a:r>
              <a:rPr lang="ru-RU" baseline="0" dirty="0"/>
              <a:t>ФЕ </a:t>
            </a:r>
            <a:r>
              <a:rPr lang="en-US" baseline="0" dirty="0"/>
              <a:t>– </a:t>
            </a:r>
            <a:r>
              <a:rPr lang="ru-RU" baseline="0" dirty="0"/>
              <a:t>обратный ФО - отражает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EFAB00-86C7-4466-B689-B8B69EAA7B1E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130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НЗП</a:t>
            </a:r>
            <a:r>
              <a:rPr lang="ru-RU" baseline="0" dirty="0"/>
              <a:t> –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 продукция, не прошедшая все стадии обработки, предусмотренных технологическим процессом, либо не прошедшая отдел технического контроля. К ней также относятся неукомплектованные изделия. Иначе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говоря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готовая к реализации согласно п. 63 Положения по ведению бухгалтерского учёта.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7878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70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Кредитоспособность оценивается с точки зрения поставщиков,</a:t>
            </a:r>
            <a:r>
              <a:rPr lang="ru-RU" sz="1200" baseline="0" dirty="0"/>
              <a:t> но при этом есть ряд характеристик, которыми должна обладать компания, чтобы иметь возможность получить именно этот вид кредита.</a:t>
            </a:r>
          </a:p>
          <a:p>
            <a:r>
              <a:rPr lang="ru-RU" dirty="0"/>
              <a:t>Этот вид</a:t>
            </a:r>
            <a:r>
              <a:rPr lang="ru-RU" baseline="0" dirty="0"/>
              <a:t> финансирования возникает из-за деятельности компании, то есть компания </a:t>
            </a:r>
            <a:r>
              <a:rPr lang="ru-RU" sz="1200" dirty="0"/>
              <a:t>привлекает его</a:t>
            </a:r>
            <a:r>
              <a:rPr lang="ru-RU" sz="1200" baseline="0" dirty="0"/>
              <a:t> </a:t>
            </a:r>
            <a:r>
              <a:rPr lang="ru-RU" sz="1200" dirty="0"/>
              <a:t>не специально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BC1EDA-25B8-4934-859E-914D0E921CF6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388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сравниваем</a:t>
            </a:r>
            <a:r>
              <a:rPr lang="ru-RU" baseline="0" dirty="0"/>
              <a:t> эти два важных показателя и оцениваем по ним состояние дел на предприятии. ДЗ – нам должны клиенты (покупатели), т.е. актив. КЗ – мы должны поставщикам денег или товаров, т.е. пассив.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EFAB00-86C7-4466-B689-B8B69EAA7B1E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93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D284C-3FC9-4940-91B2-0EC358DBAA6F}" type="datetime1">
              <a:rPr lang="ru-RU" smtClean="0"/>
              <a:t>07.10.2025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B425-0059-49BF-A799-E1FC8CD60CC0}" type="datetime1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07E8C-0063-47A9-A32C-89D1AF011C4A}" type="datetime1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8E5C-8749-4D92-A6A0-FA59ECB575AD}" type="datetime1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0D752-AC00-4E4E-BC45-EF437AD3212C}" type="datetime1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5A74-6B12-4129-9A2C-ACFA1CE156FD}" type="datetime1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32AA-167B-4343-9D17-4CF13EA5E376}" type="datetime1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BB37A-EA4D-45B2-913A-C6755F0744C3}" type="datetime1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ED32-71BA-4086-995F-1D337EC5149E}" type="datetime1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E39C-0058-412B-A115-ACF5A1057491}" type="datetime1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DEDF-2E10-4E59-9B88-17F465278ED9}" type="datetime1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42E0E68-A261-404C-9CB7-9007F080837C}" type="datetime1">
              <a:rPr lang="ru-RU" smtClean="0"/>
              <a:t>07.10.2025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F051A3F-34CA-4FA6-8F15-35754DAB2A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iffeisen.ru/wiki/overdraf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udit-it.ru/terms/accounting/debitorskaya_zadolzhennost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in-accounting.ru/articles/2018/ifrs-9-financial-instrument" TargetMode="External"/><Relationship Id="rId2" Type="http://schemas.openxmlformats.org/officeDocument/2006/relationships/hyperlink" Target="https://www.profiz.ru/se/8_2020/upravlenie_aktivam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effectLst/>
              </a:rPr>
              <a:t>Тема 4. </a:t>
            </a:r>
            <a:r>
              <a:rPr lang="ru-RU" sz="3600" b="1" dirty="0"/>
              <a:t>Управление источниками</a:t>
            </a:r>
            <a:r>
              <a:rPr lang="en-US" sz="3600" b="1" dirty="0"/>
              <a:t> </a:t>
            </a:r>
            <a:r>
              <a:rPr lang="ru-RU" sz="3600" b="1" dirty="0"/>
              <a:t>финансирования и ОА</a:t>
            </a:r>
            <a:endParaRPr lang="ru-RU" sz="3600" b="1" dirty="0">
              <a:effectLst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03648" y="1916832"/>
            <a:ext cx="7416824" cy="4237931"/>
          </a:xfrm>
        </p:spPr>
        <p:txBody>
          <a:bodyPr>
            <a:normAutofit/>
          </a:bodyPr>
          <a:lstStyle/>
          <a:p>
            <a:pPr marL="596646" indent="-514350">
              <a:buAutoNum type="arabicPeriod"/>
            </a:pPr>
            <a:r>
              <a:rPr lang="ru-RU" dirty="0"/>
              <a:t>Классификации источников финансирования</a:t>
            </a:r>
          </a:p>
          <a:p>
            <a:pPr marL="596646" indent="-514350">
              <a:buAutoNum type="arabicPeriod"/>
            </a:pPr>
            <a:r>
              <a:rPr lang="ru-RU" dirty="0"/>
              <a:t>Управление собственным и заемным капиталом</a:t>
            </a:r>
          </a:p>
          <a:p>
            <a:pPr marL="596646" indent="-514350">
              <a:buAutoNum type="arabicPeriod"/>
            </a:pPr>
            <a:r>
              <a:rPr lang="ru-RU" dirty="0"/>
              <a:t>Общая характеристика активов и внеоборотных активов</a:t>
            </a:r>
          </a:p>
          <a:p>
            <a:pPr marL="596646" indent="-514350">
              <a:buAutoNum type="arabicPeriod"/>
            </a:pPr>
            <a:r>
              <a:rPr lang="ru-RU" dirty="0"/>
              <a:t>Оборотные активы: особенности управления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2275" y="188913"/>
            <a:ext cx="7283450" cy="1284287"/>
          </a:xfrm>
        </p:spPr>
        <p:txBody>
          <a:bodyPr>
            <a:normAutofit fontScale="90000"/>
          </a:bodyPr>
          <a:lstStyle/>
          <a:p>
            <a:pPr algn="r"/>
            <a:r>
              <a:rPr lang="ru-RU" sz="4400" i="1" dirty="0"/>
              <a:t>1. Классификация и виды источников финансирования</a:t>
            </a:r>
            <a:endParaRPr lang="ru-RU" altLang="ru-RU" b="1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96963" y="1556792"/>
            <a:ext cx="7878762" cy="4362995"/>
          </a:xfrm>
        </p:spPr>
        <p:txBody>
          <a:bodyPr rtlCol="0">
            <a:normAutofit fontScale="85000" lnSpcReduction="20000"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>
                <a:solidFill>
                  <a:srgbClr val="002060"/>
                </a:solidFill>
              </a:rPr>
              <a:t>По сроку привлечения</a:t>
            </a:r>
            <a:endParaRPr lang="ru-RU" sz="2800" dirty="0">
              <a:solidFill>
                <a:srgbClr val="002060"/>
              </a:solidFill>
            </a:endParaRPr>
          </a:p>
          <a:p>
            <a:pPr lvl="1" indent="-246888">
              <a:buFont typeface="Wingdings" pitchFamily="2" charset="2"/>
              <a:buChar char="Ø"/>
              <a:defRPr/>
            </a:pPr>
            <a:r>
              <a:rPr lang="ru-RU" dirty="0">
                <a:solidFill>
                  <a:srgbClr val="002060"/>
                </a:solidFill>
              </a:rPr>
              <a:t>до 1 года (</a:t>
            </a:r>
            <a:r>
              <a:rPr lang="ru-RU" i="1" dirty="0">
                <a:solidFill>
                  <a:srgbClr val="002060"/>
                </a:solidFill>
              </a:rPr>
              <a:t>краткосрочные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lvl="1" indent="-246888">
              <a:buFont typeface="Wingdings" pitchFamily="2" charset="2"/>
              <a:buChar char="Ø"/>
              <a:defRPr/>
            </a:pPr>
            <a:r>
              <a:rPr lang="ru-RU" dirty="0">
                <a:solidFill>
                  <a:srgbClr val="002060"/>
                </a:solidFill>
              </a:rPr>
              <a:t>более 1 года (</a:t>
            </a:r>
            <a:r>
              <a:rPr lang="ru-RU" i="1" dirty="0">
                <a:solidFill>
                  <a:srgbClr val="002060"/>
                </a:solidFill>
              </a:rPr>
              <a:t>долгосрочные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>
                <a:solidFill>
                  <a:srgbClr val="002060"/>
                </a:solidFill>
              </a:rPr>
              <a:t>По праву собственности</a:t>
            </a:r>
            <a:endParaRPr lang="ru-RU" sz="2800" dirty="0">
              <a:solidFill>
                <a:srgbClr val="002060"/>
              </a:solidFill>
            </a:endParaRPr>
          </a:p>
          <a:p>
            <a:pPr lvl="1" indent="-246888">
              <a:buFont typeface="Wingdings" pitchFamily="2" charset="2"/>
              <a:buChar char="Ø"/>
              <a:defRPr/>
            </a:pPr>
            <a:r>
              <a:rPr lang="ru-RU" b="1" dirty="0">
                <a:solidFill>
                  <a:srgbClr val="002060"/>
                </a:solidFill>
              </a:rPr>
              <a:t>принадлежат</a:t>
            </a:r>
            <a:r>
              <a:rPr lang="ru-RU" dirty="0">
                <a:solidFill>
                  <a:srgbClr val="002060"/>
                </a:solidFill>
              </a:rPr>
              <a:t> юридическим лицам, которые могут ими пользоваться и распоряжаться (</a:t>
            </a:r>
            <a:r>
              <a:rPr lang="ru-RU" i="1" dirty="0">
                <a:solidFill>
                  <a:srgbClr val="002060"/>
                </a:solidFill>
              </a:rPr>
              <a:t>собственные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lvl="1" indent="-246888">
              <a:buFont typeface="Wingdings" pitchFamily="2" charset="2"/>
              <a:buChar char="Ø"/>
              <a:defRPr/>
            </a:pPr>
            <a:r>
              <a:rPr lang="ru-RU" dirty="0">
                <a:solidFill>
                  <a:srgbClr val="002060"/>
                </a:solidFill>
              </a:rPr>
              <a:t>только пользоваться и распоряжаться (</a:t>
            </a:r>
            <a:r>
              <a:rPr lang="ru-RU" i="1" dirty="0">
                <a:solidFill>
                  <a:srgbClr val="002060"/>
                </a:solidFill>
              </a:rPr>
              <a:t>заемные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>
                <a:solidFill>
                  <a:srgbClr val="002060"/>
                </a:solidFill>
              </a:rPr>
              <a:t>По характеру управленческих решений, то есть решение о привлечении</a:t>
            </a:r>
            <a:endParaRPr lang="ru-RU" sz="2800" dirty="0">
              <a:solidFill>
                <a:srgbClr val="002060"/>
              </a:solidFill>
            </a:endParaRPr>
          </a:p>
          <a:p>
            <a:pPr marL="640080" lvl="1" indent="-246888" fontAlgn="auto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ru-RU" dirty="0">
                <a:solidFill>
                  <a:srgbClr val="002060"/>
                </a:solidFill>
              </a:rPr>
              <a:t>принимают менеджеры предприятия (</a:t>
            </a:r>
            <a:r>
              <a:rPr lang="ru-RU" i="1" dirty="0">
                <a:solidFill>
                  <a:srgbClr val="002060"/>
                </a:solidFill>
              </a:rPr>
              <a:t>внутренние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marL="640080" lvl="1" indent="-246888" fontAlgn="auto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ru-RU" dirty="0">
                <a:solidFill>
                  <a:srgbClr val="002060"/>
                </a:solidFill>
              </a:rPr>
              <a:t>принимаются совместно с третьими лицами (</a:t>
            </a:r>
            <a:r>
              <a:rPr lang="ru-RU" i="1" dirty="0">
                <a:solidFill>
                  <a:srgbClr val="002060"/>
                </a:solidFill>
              </a:rPr>
              <a:t>внешние</a:t>
            </a:r>
            <a:r>
              <a:rPr lang="ru-RU" dirty="0">
                <a:solidFill>
                  <a:srgbClr val="002060"/>
                </a:solidFill>
              </a:rPr>
              <a:t> или </a:t>
            </a:r>
            <a:r>
              <a:rPr lang="ru-RU" i="1" dirty="0">
                <a:solidFill>
                  <a:srgbClr val="002060"/>
                </a:solidFill>
              </a:rPr>
              <a:t>привлеченные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 bwMode="auto">
          <a:xfrm>
            <a:off x="914400" y="6021288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320" indent="-274320"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ru-RU" sz="2400" i="1" dirty="0">
                <a:solidFill>
                  <a:schemeClr val="accent2">
                    <a:lumMod val="75000"/>
                  </a:schemeClr>
                </a:solidFill>
                <a:latin typeface="+mn-lt"/>
                <a:cs typeface="+mn-cs"/>
              </a:rPr>
              <a:t>Акции и нераспределённая прибыль</a:t>
            </a:r>
          </a:p>
        </p:txBody>
      </p:sp>
    </p:spTree>
    <p:extLst>
      <p:ext uri="{BB962C8B-B14F-4D97-AF65-F5344CB8AC3E}">
        <p14:creationId xmlns:p14="http://schemas.microsoft.com/office/powerpoint/2010/main" val="39562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>
          <a:xfrm>
            <a:off x="1187624" y="260351"/>
            <a:ext cx="7742065" cy="792386"/>
          </a:xfrm>
        </p:spPr>
        <p:txBody>
          <a:bodyPr>
            <a:normAutofit/>
          </a:bodyPr>
          <a:lstStyle/>
          <a:p>
            <a:pPr algn="r"/>
            <a:r>
              <a:rPr lang="ru-RU" altLang="ru-RU" sz="3400" i="1" dirty="0">
                <a:solidFill>
                  <a:srgbClr val="7030A0"/>
                </a:solidFill>
              </a:rPr>
              <a:t>Привлеченные или внешние источники</a:t>
            </a:r>
          </a:p>
        </p:txBody>
      </p:sp>
      <p:graphicFrame>
        <p:nvGraphicFramePr>
          <p:cNvPr id="6" name="Object 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355669"/>
              </p:ext>
            </p:extLst>
          </p:nvPr>
        </p:nvGraphicFramePr>
        <p:xfrm>
          <a:off x="1724025" y="1541463"/>
          <a:ext cx="6683375" cy="484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915080" imgH="3559320" progId="Word.Picture.8">
                  <p:embed/>
                </p:oleObj>
              </mc:Choice>
              <mc:Fallback>
                <p:oleObj name="Picture" r:id="rId2" imgW="4915080" imgH="3559320" progId="Word.Picture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1541463"/>
                        <a:ext cx="6683375" cy="48402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75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2268538" y="490538"/>
            <a:ext cx="6588125" cy="644525"/>
          </a:xfrm>
        </p:spPr>
        <p:txBody>
          <a:bodyPr>
            <a:normAutofit fontScale="90000"/>
          </a:bodyPr>
          <a:lstStyle/>
          <a:p>
            <a:pPr algn="r" fontAlgn="auto">
              <a:spcAft>
                <a:spcPts val="0"/>
              </a:spcAft>
              <a:defRPr/>
            </a:pP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Обыкновенные акции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403350" y="1176338"/>
            <a:ext cx="7481888" cy="5329237"/>
          </a:xfrm>
        </p:spPr>
        <p:txBody>
          <a:bodyPr rtlCol="0">
            <a:noAutofit/>
          </a:bodyPr>
          <a:lstStyle/>
          <a:p>
            <a:pPr marL="91440" indent="-91440" fontAlgn="auto">
              <a:defRPr/>
            </a:pPr>
            <a:r>
              <a:rPr lang="ru-RU" sz="2300" dirty="0">
                <a:solidFill>
                  <a:srgbClr val="002060"/>
                </a:solidFill>
              </a:rPr>
              <a:t>эмиссионные ценные бумаги,</a:t>
            </a:r>
          </a:p>
          <a:p>
            <a:pPr marL="384048" lvl="1" indent="-182880" fontAlgn="auto">
              <a:defRPr/>
            </a:pPr>
            <a:r>
              <a:rPr lang="ru-RU" sz="2300" u="sng" dirty="0">
                <a:solidFill>
                  <a:srgbClr val="002060"/>
                </a:solidFill>
              </a:rPr>
              <a:t>обладающие</a:t>
            </a:r>
            <a:r>
              <a:rPr lang="ru-RU" sz="2300" dirty="0">
                <a:solidFill>
                  <a:srgbClr val="002060"/>
                </a:solidFill>
              </a:rPr>
              <a:t> инвестиционными свойствами;</a:t>
            </a:r>
          </a:p>
          <a:p>
            <a:pPr marL="384048" lvl="1" indent="-182880" fontAlgn="auto">
              <a:defRPr/>
            </a:pPr>
            <a:r>
              <a:rPr lang="ru-RU" sz="2300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удостоверяющие</a:t>
            </a:r>
            <a:r>
              <a:rPr lang="ru-RU" sz="23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участие владельца в капитале компании</a:t>
            </a:r>
          </a:p>
          <a:p>
            <a:pPr marL="384048" lvl="1" indent="-182880" fontAlgn="auto">
              <a:defRPr/>
            </a:pPr>
            <a:r>
              <a:rPr lang="ru-RU" sz="2300" u="sng" dirty="0">
                <a:solidFill>
                  <a:srgbClr val="002060"/>
                </a:solidFill>
              </a:rPr>
              <a:t>дающие</a:t>
            </a:r>
            <a:r>
              <a:rPr lang="ru-RU" sz="2300" dirty="0">
                <a:solidFill>
                  <a:srgbClr val="002060"/>
                </a:solidFill>
              </a:rPr>
              <a:t> ряд прав владельцам:</a:t>
            </a:r>
          </a:p>
          <a:p>
            <a:pPr marL="566928" lvl="2" indent="-182880" fontAlgn="auto">
              <a:buFont typeface="Wingdings" pitchFamily="2" charset="2"/>
              <a:buChar char="Ø"/>
              <a:defRPr/>
            </a:pPr>
            <a:r>
              <a:rPr lang="ru-RU" sz="2300" dirty="0">
                <a:solidFill>
                  <a:srgbClr val="002060"/>
                </a:solidFill>
              </a:rPr>
              <a:t>на участие в управлении и в прибыли</a:t>
            </a:r>
          </a:p>
          <a:p>
            <a:pPr marL="566928" lvl="2" indent="-182880" fontAlgn="auto">
              <a:buFont typeface="Wingdings" pitchFamily="2" charset="2"/>
              <a:buChar char="Ø"/>
              <a:defRPr/>
            </a:pPr>
            <a:r>
              <a:rPr lang="ru-RU" sz="2300" dirty="0">
                <a:solidFill>
                  <a:srgbClr val="002060"/>
                </a:solidFill>
              </a:rPr>
              <a:t>на прирост курсовой стоимости</a:t>
            </a:r>
          </a:p>
          <a:p>
            <a:pPr marL="566928" lvl="2" indent="-182880" fontAlgn="auto">
              <a:buFont typeface="Wingdings" pitchFamily="2" charset="2"/>
              <a:buChar char="Ø"/>
              <a:defRPr/>
            </a:pPr>
            <a:r>
              <a:rPr lang="ru-RU" sz="2300" dirty="0">
                <a:solidFill>
                  <a:srgbClr val="002060"/>
                </a:solidFill>
              </a:rPr>
              <a:t>на преимущественный выкуп с последующей эмиссией</a:t>
            </a:r>
          </a:p>
          <a:p>
            <a:pPr marL="566928" lvl="2" indent="-182880" fontAlgn="auto">
              <a:buFont typeface="Wingdings" pitchFamily="2" charset="2"/>
              <a:buChar char="Ø"/>
              <a:defRPr/>
            </a:pPr>
            <a:r>
              <a:rPr lang="ru-RU" sz="2300" dirty="0">
                <a:solidFill>
                  <a:srgbClr val="002060"/>
                </a:solidFill>
              </a:rPr>
              <a:t>на распределение ликвидационного остатка</a:t>
            </a:r>
          </a:p>
          <a:p>
            <a:pPr marL="777240" lvl="3" indent="-182880">
              <a:buFont typeface="Wingdings" pitchFamily="2" charset="2"/>
              <a:buChar char="Ø"/>
              <a:defRPr/>
            </a:pPr>
            <a:r>
              <a:rPr lang="ru-RU" sz="1900" dirty="0">
                <a:solidFill>
                  <a:srgbClr val="002060"/>
                </a:solidFill>
              </a:rPr>
              <a:t>ИЗ ОСНОВНОГО УРАВНЕНИЯ БАЛАНСА</a:t>
            </a:r>
          </a:p>
          <a:p>
            <a:pPr marL="91440" indent="-91440" fontAlgn="auto">
              <a:defRPr/>
            </a:pPr>
            <a:endParaRPr lang="ru-RU" sz="23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30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8638" y="476250"/>
            <a:ext cx="8229600" cy="936625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Финансирование компании</a:t>
            </a:r>
            <a:br>
              <a:rPr lang="ru-RU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помощью обыкновенных акций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331913" y="1700213"/>
          <a:ext cx="7426325" cy="4632323"/>
        </p:xfrm>
        <a:graphic>
          <a:graphicData uri="http://schemas.openxmlformats.org/drawingml/2006/table">
            <a:tbl>
              <a:tblPr/>
              <a:tblGrid>
                <a:gridCol w="371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5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Преимущества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Недостатки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Эмитент (предприятие) –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Issuer</a:t>
                      </a:r>
                      <a:endParaRPr kumimoji="0" lang="ru-RU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Привлечение значительного объема капитала на неопределенный срок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Размывание корпоративного контроля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Отсутствие обязательных выплат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Неустойчивость конъюнктуры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7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Распределение или передача риска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Длительные сроки и высокие издержки привлечения финансирования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29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Акционер / Собственник капитала -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Shareholder</a:t>
                      </a: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/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Owner</a:t>
                      </a: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of Capital</a:t>
                      </a:r>
                      <a:endParaRPr kumimoji="0" lang="ru-RU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Участие в управлении (представительский принцип)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Колебания рыночной конъюнктуры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5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Набор прав (предыдущий слайд)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Право на участие в управлении действительно только для мажоритарных акционеров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0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Ограничение риска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8582" marR="68582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81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619250" y="325438"/>
            <a:ext cx="7180263" cy="9239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Привилегированные акции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47813" y="1557338"/>
            <a:ext cx="7488237" cy="4948237"/>
          </a:xfrm>
        </p:spPr>
        <p:txBody>
          <a:bodyPr/>
          <a:lstStyle/>
          <a:p>
            <a:pPr marL="0" lvl="1" indent="0" eaLnBrk="1" hangingPunct="1"/>
            <a:r>
              <a:rPr lang="ru-RU" altLang="ru-RU" sz="2400">
                <a:solidFill>
                  <a:srgbClr val="002060"/>
                </a:solidFill>
              </a:rPr>
              <a:t>Гарантируют выплату дивидендов в обмен на отказ от права участия в управлении</a:t>
            </a:r>
          </a:p>
          <a:p>
            <a:pPr marL="0" lvl="1" indent="0" eaLnBrk="1" hangingPunct="1"/>
            <a:r>
              <a:rPr lang="ru-RU" altLang="ru-RU" sz="2400">
                <a:solidFill>
                  <a:srgbClr val="002060"/>
                </a:solidFill>
              </a:rPr>
              <a:t>Типы привилегированных акций: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гарантированные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с плавающей ставкой дивиденда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с экстра-дивидендом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с варрантом (warrant)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отзывные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конвертируемые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супер привилегированные акции</a:t>
            </a:r>
          </a:p>
          <a:p>
            <a:pPr marL="730250" lvl="2" indent="-457200" eaLnBrk="1" hangingPunct="1">
              <a:buFont typeface="Century Gothic" pitchFamily="34" charset="0"/>
              <a:buAutoNum type="arabicPeriod"/>
            </a:pPr>
            <a:r>
              <a:rPr lang="ru-RU" altLang="ru-RU" sz="2000">
                <a:solidFill>
                  <a:srgbClr val="002060"/>
                </a:solidFill>
              </a:rPr>
              <a:t>кумулятивные</a:t>
            </a:r>
          </a:p>
        </p:txBody>
      </p:sp>
    </p:spTree>
    <p:extLst>
      <p:ext uri="{BB962C8B-B14F-4D97-AF65-F5344CB8AC3E}">
        <p14:creationId xmlns:p14="http://schemas.microsoft.com/office/powerpoint/2010/main" val="266528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052" y="188640"/>
            <a:ext cx="7417519" cy="955675"/>
          </a:xfrm>
        </p:spPr>
        <p:txBody>
          <a:bodyPr>
            <a:no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Ключевые аспекты</a:t>
            </a:r>
            <a:b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привилегированных акций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692275" y="1340769"/>
            <a:ext cx="7077075" cy="3168352"/>
          </a:xfrm>
        </p:spPr>
        <p:txBody>
          <a:bodyPr>
            <a:noAutofit/>
          </a:bodyPr>
          <a:lstStyle/>
          <a:p>
            <a:pPr eaLnBrk="1" hangingPunct="1"/>
            <a:r>
              <a:rPr lang="ru-RU" altLang="ru-RU" sz="2400" dirty="0">
                <a:solidFill>
                  <a:srgbClr val="002060"/>
                </a:solidFill>
              </a:rPr>
              <a:t>элемент собственного капитала (часть УК)</a:t>
            </a:r>
          </a:p>
          <a:p>
            <a:pPr eaLnBrk="1" hangingPunct="1"/>
            <a:r>
              <a:rPr lang="ru-RU" altLang="ru-RU" sz="2400" b="1" dirty="0">
                <a:solidFill>
                  <a:srgbClr val="002060"/>
                </a:solidFill>
              </a:rPr>
              <a:t>гибридный инструмент финансирования, </a:t>
            </a:r>
            <a:r>
              <a:rPr lang="ru-RU" altLang="ru-RU" sz="2400" dirty="0">
                <a:solidFill>
                  <a:srgbClr val="002060"/>
                </a:solidFill>
              </a:rPr>
              <a:t>то есть сочетание черт собственного и заемного капитала</a:t>
            </a:r>
          </a:p>
          <a:p>
            <a:pPr lvl="1" eaLnBrk="1" hangingPunct="1"/>
            <a:r>
              <a:rPr lang="ru-RU" altLang="ru-RU" sz="2000" dirty="0">
                <a:solidFill>
                  <a:srgbClr val="002060"/>
                </a:solidFill>
              </a:rPr>
              <a:t>обязательность и гарантированность выплат</a:t>
            </a:r>
          </a:p>
          <a:p>
            <a:pPr lvl="1" eaLnBrk="1" hangingPunct="1"/>
            <a:r>
              <a:rPr lang="ru-RU" altLang="ru-RU" sz="2000" dirty="0">
                <a:solidFill>
                  <a:srgbClr val="002060"/>
                </a:solidFill>
              </a:rPr>
              <a:t>владельцы удовлетворяют свои требования как кредиторы</a:t>
            </a:r>
          </a:p>
          <a:p>
            <a:pPr lvl="1" eaLnBrk="1" hangingPunct="1"/>
            <a:r>
              <a:rPr lang="ru-RU" altLang="ru-RU" sz="2000" dirty="0">
                <a:solidFill>
                  <a:srgbClr val="002060"/>
                </a:solidFill>
              </a:rPr>
              <a:t>дивиденды выплачиваются в приоритетном порядке</a:t>
            </a:r>
          </a:p>
          <a:p>
            <a:pPr lvl="1" eaLnBrk="1" hangingPunct="1"/>
            <a:r>
              <a:rPr lang="ru-RU" altLang="ru-RU" sz="2000" dirty="0">
                <a:solidFill>
                  <a:srgbClr val="002060"/>
                </a:solidFill>
              </a:rPr>
              <a:t>безвозвратное предоставление капитала</a:t>
            </a:r>
          </a:p>
          <a:p>
            <a:pPr eaLnBrk="1" hangingPunct="1">
              <a:buFont typeface="Arial" pitchFamily="34" charset="0"/>
              <a:buNone/>
            </a:pPr>
            <a:endParaRPr lang="ru-RU" altLang="ru-RU" sz="1800" dirty="0"/>
          </a:p>
        </p:txBody>
      </p:sp>
      <p:sp>
        <p:nvSpPr>
          <p:cNvPr id="10244" name="TextBox 3"/>
          <p:cNvSpPr txBox="1">
            <a:spLocks noChangeArrowheads="1"/>
          </p:cNvSpPr>
          <p:nvPr/>
        </p:nvSpPr>
        <p:spPr bwMode="auto">
          <a:xfrm>
            <a:off x="1692275" y="5543553"/>
            <a:ext cx="6696744" cy="92333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ru-RU" b="1" i="1" dirty="0">
                <a:solidFill>
                  <a:srgbClr val="C00000"/>
                </a:solidFill>
                <a:latin typeface="Calibri" pitchFamily="34" charset="0"/>
              </a:rPr>
              <a:t>Для эмитента - более дорогой и рискованный источник финансирования, поэтому их доля в уставном капитале ограничена – 25%</a:t>
            </a:r>
            <a:endParaRPr lang="ru-RU" b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7" name="Стрелка вниз 6"/>
          <p:cNvSpPr/>
          <p:nvPr/>
        </p:nvSpPr>
        <p:spPr>
          <a:xfrm>
            <a:off x="4776574" y="4902674"/>
            <a:ext cx="287337" cy="6477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51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24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32" y="116632"/>
            <a:ext cx="7631956" cy="1066800"/>
          </a:xfrm>
        </p:spPr>
        <p:txBody>
          <a:bodyPr/>
          <a:lstStyle/>
          <a:p>
            <a:pPr algn="r" eaLnBrk="1" hangingPunct="1">
              <a:defRPr/>
            </a:pPr>
            <a:r>
              <a:rPr lang="ru-RU" altLang="ru-RU" sz="3200" b="1" dirty="0">
                <a:solidFill>
                  <a:schemeClr val="accent1">
                    <a:lumMod val="75000"/>
                  </a:schemeClr>
                </a:solidFill>
              </a:rPr>
              <a:t>Отличия и схожие черты</a:t>
            </a:r>
            <a:br>
              <a:rPr lang="ru-RU" altLang="ru-RU" sz="32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altLang="ru-RU" sz="3200" b="1" dirty="0">
                <a:solidFill>
                  <a:schemeClr val="accent1">
                    <a:lumMod val="75000"/>
                  </a:schemeClr>
                </a:solidFill>
              </a:rPr>
              <a:t>между видами акций</a:t>
            </a: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489022"/>
              </p:ext>
            </p:extLst>
          </p:nvPr>
        </p:nvGraphicFramePr>
        <p:xfrm>
          <a:off x="1259632" y="1318243"/>
          <a:ext cx="7655569" cy="4840476"/>
        </p:xfrm>
        <a:graphic>
          <a:graphicData uri="http://schemas.openxmlformats.org/drawingml/2006/table">
            <a:tbl>
              <a:tblPr/>
              <a:tblGrid>
                <a:gridCol w="340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1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Критерий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Обыкновенные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акции, CS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Привилегированные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акции, PS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926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Участие в управлении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 представительскому признаку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участвуют, за исключением случаев, предусмотренных законодательством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8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Денежные потоки (дивиденды)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необязательны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обязательны в большинстве случаев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84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Размер дивидендов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определяется прибылью и дивидендной политикой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зафиксирован в учредительных документах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483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Источник выплат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чистая прибыль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чистая прибыль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483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Ликвидность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относительно высокая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относительно низкая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8568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Инвестиционная привлекательность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участие в управлении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изменение курсовой стоимости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получение дивидендов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ru-RU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первоочередное получение дивидендов</a:t>
                      </a:r>
                    </a:p>
                  </a:txBody>
                  <a:tcPr marL="68567" marR="68567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88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848" y="49406"/>
            <a:ext cx="5368360" cy="1008112"/>
          </a:xfrm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ru-RU" sz="3200" b="1" i="1" dirty="0"/>
              <a:t>2. </a:t>
            </a:r>
            <a:r>
              <a:rPr lang="ru-RU" sz="3200" b="1" dirty="0"/>
              <a:t>Управление собственным и заемным капиталом</a:t>
            </a:r>
            <a:endParaRPr lang="ru-RU" sz="3200" b="1" i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34277"/>
              </p:ext>
            </p:extLst>
          </p:nvPr>
        </p:nvGraphicFramePr>
        <p:xfrm>
          <a:off x="1075848" y="1575674"/>
          <a:ext cx="8040689" cy="4731392"/>
        </p:xfrm>
        <a:graphic>
          <a:graphicData uri="http://schemas.openxmlformats.org/drawingml/2006/table">
            <a:tbl>
              <a:tblPr/>
              <a:tblGrid>
                <a:gridCol w="1479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8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Источники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Элементы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Финансирование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Направление исполнения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12">
                <a:tc>
                  <a:txBody>
                    <a:bodyPr/>
                    <a:lstStyle/>
                    <a:p>
                      <a:pPr marL="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Уставный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капитал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акции, паи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эмиссия акций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взносы собственников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устав, лицензия / лицензии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43">
                <a:tc rowSpan="2">
                  <a:txBody>
                    <a:bodyPr/>
                    <a:lstStyle/>
                    <a:p>
                      <a:pPr marL="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Добавочный капитал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переоценка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любые ценности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инвестиционная деятельность (развитие, вложения)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06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вложение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доходы от дополнительных эмиссии акций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(∆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E), IPO, SPO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7812">
                <a:tc>
                  <a:txBody>
                    <a:bodyPr/>
                    <a:lstStyle/>
                    <a:p>
                      <a:pPr marL="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Резервный капитал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обязатель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ru-RU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ные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</a:t>
                      </a:r>
                      <a:r>
                        <a:rPr kumimoji="0" lang="ru-RU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доб-ровольные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виды резервов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прибыль: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налогооблагаемая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облагаемая налогом (для некоторых обязательных видов)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погашение убытков /  сомнительных долгов, выкуп ц/б, выполнение обязательств, отпуска, сглаживание сезонности…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367">
                <a:tc>
                  <a:txBody>
                    <a:bodyPr/>
                    <a:lstStyle/>
                    <a:p>
                      <a:pPr marL="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Нераспределенная прибыль (СР)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чистая прибыль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инвестиционные и другие цели (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 убытки!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886">
                <a:tc>
                  <a:txBody>
                    <a:bodyPr/>
                    <a:lstStyle/>
                    <a:p>
                      <a:pPr marL="0" marR="0" lvl="0" indent="-34290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ru-R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Амортизация</a:t>
                      </a:r>
                      <a:endParaRPr kumimoji="0" 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прибыль до налогообложения, так как элемент затрат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обновление производственной базы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6263" marR="66263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71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18" charset="2"/>
              <a:buChar char=""/>
              <a:defRPr>
                <a:solidFill>
                  <a:srgbClr val="404040"/>
                </a:solidFill>
                <a:latin typeface="Century Gothic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18" charset="2"/>
              <a:buChar char=""/>
              <a:defRPr sz="1600">
                <a:solidFill>
                  <a:srgbClr val="404040"/>
                </a:solidFill>
                <a:latin typeface="Century Gothic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18" charset="2"/>
              <a:buChar char=""/>
              <a:defRPr sz="1400">
                <a:solidFill>
                  <a:srgbClr val="404040"/>
                </a:solidFill>
                <a:latin typeface="Century Gothic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18" charset="2"/>
              <a:buChar char=""/>
              <a:defRPr sz="1200">
                <a:solidFill>
                  <a:srgbClr val="404040"/>
                </a:solidFill>
                <a:latin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5364088" y="1112699"/>
            <a:ext cx="3752449" cy="504056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defRPr/>
            </a:pPr>
            <a:r>
              <a:rPr lang="ru-RU" sz="2800" b="1" dirty="0">
                <a:effectLst/>
              </a:rPr>
              <a:t>Собственный капитал</a:t>
            </a:r>
            <a:endParaRPr lang="ru-RU" sz="2800" b="1" dirty="0">
              <a:solidFill>
                <a:srgbClr val="7030A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963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Заголовок 1"/>
          <p:cNvSpPr>
            <a:spLocks noGrp="1"/>
          </p:cNvSpPr>
          <p:nvPr>
            <p:ph type="title"/>
          </p:nvPr>
        </p:nvSpPr>
        <p:spPr>
          <a:xfrm>
            <a:off x="2124075" y="330201"/>
            <a:ext cx="6588125" cy="1082575"/>
          </a:xfrm>
        </p:spPr>
        <p:txBody>
          <a:bodyPr>
            <a:normAutofit fontScale="90000"/>
          </a:bodyPr>
          <a:lstStyle/>
          <a:p>
            <a:pPr algn="r" eaLnBrk="1" hangingPunct="1"/>
            <a:r>
              <a:rPr lang="ru-RU" altLang="ru-RU" sz="4000" b="1" i="1" dirty="0">
                <a:solidFill>
                  <a:srgbClr val="7030A0"/>
                </a:solidFill>
                <a:effectLst/>
              </a:rPr>
              <a:t>Нераспределённая прибыль </a:t>
            </a:r>
            <a:r>
              <a:rPr lang="en-US" altLang="ru-RU" sz="4000" b="1" i="1" dirty="0">
                <a:solidFill>
                  <a:srgbClr val="7030A0"/>
                </a:solidFill>
                <a:effectLst/>
              </a:rPr>
              <a:t>(Capitalized Profit</a:t>
            </a:r>
            <a:r>
              <a:rPr lang="ru-RU" altLang="ru-RU" sz="4000" b="1" i="1" dirty="0">
                <a:solidFill>
                  <a:srgbClr val="7030A0"/>
                </a:solidFill>
                <a:effectLst/>
              </a:rPr>
              <a:t> - </a:t>
            </a:r>
            <a:r>
              <a:rPr lang="en-US" altLang="ru-RU" sz="4000" b="1" i="1" dirty="0">
                <a:solidFill>
                  <a:srgbClr val="7030A0"/>
                </a:solidFill>
                <a:effectLst/>
              </a:rPr>
              <a:t>CP)</a:t>
            </a:r>
            <a:endParaRPr lang="ru-RU" altLang="ru-RU" sz="4000" b="1" i="1" dirty="0">
              <a:solidFill>
                <a:srgbClr val="7030A0"/>
              </a:solidFill>
              <a:effectLst/>
            </a:endParaRPr>
          </a:p>
        </p:txBody>
      </p:sp>
      <p:sp>
        <p:nvSpPr>
          <p:cNvPr id="39939" name="Содержимое 2"/>
          <p:cNvSpPr>
            <a:spLocks noGrp="1"/>
          </p:cNvSpPr>
          <p:nvPr>
            <p:ph idx="1"/>
          </p:nvPr>
        </p:nvSpPr>
        <p:spPr>
          <a:xfrm>
            <a:off x="1331639" y="1556792"/>
            <a:ext cx="7128793" cy="4948783"/>
          </a:xfrm>
        </p:spPr>
        <p:txBody>
          <a:bodyPr>
            <a:noAutofit/>
          </a:bodyPr>
          <a:lstStyle/>
          <a:p>
            <a:r>
              <a:rPr lang="ru-RU" altLang="ru-RU" sz="2000" dirty="0"/>
              <a:t>внутренний собственный источник финансирования</a:t>
            </a:r>
          </a:p>
          <a:p>
            <a:r>
              <a:rPr lang="ru-RU" altLang="ru-RU" sz="2000" dirty="0"/>
              <a:t>порядок использования - не требуется согласие акционеров</a:t>
            </a:r>
          </a:p>
          <a:p>
            <a:r>
              <a:rPr lang="ru-RU" altLang="ru-RU" sz="2000" dirty="0"/>
              <a:t>образуется в процессе производственной (уставной) деятельности</a:t>
            </a:r>
          </a:p>
          <a:p>
            <a:r>
              <a:rPr lang="ru-RU" altLang="ru-RU" sz="2000" dirty="0"/>
              <a:t>инвестиционная деятельность</a:t>
            </a:r>
          </a:p>
          <a:p>
            <a:r>
              <a:rPr lang="ru-RU" altLang="ru-RU" sz="2000" dirty="0"/>
              <a:t>переходящий источник финансирования</a:t>
            </a:r>
          </a:p>
          <a:p>
            <a:r>
              <a:rPr lang="ru-RU" altLang="ru-RU" sz="2000" b="1" i="1" dirty="0">
                <a:solidFill>
                  <a:srgbClr val="7030A0"/>
                </a:solidFill>
              </a:rPr>
              <a:t>факторы, формирующие </a:t>
            </a:r>
            <a:r>
              <a:rPr lang="en-US" altLang="ru-RU" sz="2000" b="1" i="1" dirty="0">
                <a:solidFill>
                  <a:srgbClr val="7030A0"/>
                </a:solidFill>
              </a:rPr>
              <a:t>CP</a:t>
            </a:r>
            <a:endParaRPr lang="ru-RU" altLang="ru-RU" sz="2000" b="1" i="1" dirty="0">
              <a:solidFill>
                <a:srgbClr val="7030A0"/>
              </a:solidFill>
            </a:endParaRPr>
          </a:p>
          <a:p>
            <a:pPr marL="788670" lvl="1" indent="-514350"/>
            <a:r>
              <a:rPr lang="ru-RU" altLang="ru-RU" sz="1800" dirty="0"/>
              <a:t>Степень корпоративного контроля, Рыночная конъюнктура, Уровень налогообложения (дивиденды), Стадия жизненного цикла компании (растущая, зрелая, теряющая), Стратегия роста компании (за счет прибыли или заемных источников или за счет </a:t>
            </a:r>
            <a:r>
              <a:rPr lang="en-US" altLang="ru-RU" sz="1800" dirty="0"/>
              <a:t>M&amp;A</a:t>
            </a:r>
            <a:r>
              <a:rPr lang="ru-RU" altLang="ru-RU" sz="1800" dirty="0"/>
              <a:t>)</a:t>
            </a:r>
            <a:endParaRPr lang="ru-RU" altLang="ru-RU" sz="1600" dirty="0"/>
          </a:p>
          <a:p>
            <a:pPr marL="514350" indent="-514350">
              <a:buFont typeface="Calibri" pitchFamily="34" charset="0"/>
              <a:buAutoNum type="arabicPeriod"/>
            </a:pPr>
            <a:endParaRPr lang="ru-RU" altLang="ru-RU" sz="2400" dirty="0"/>
          </a:p>
        </p:txBody>
      </p:sp>
    </p:spTree>
    <p:extLst>
      <p:ext uri="{BB962C8B-B14F-4D97-AF65-F5344CB8AC3E}">
        <p14:creationId xmlns:p14="http://schemas.microsoft.com/office/powerpoint/2010/main" val="359314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25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25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25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8762" y="323687"/>
            <a:ext cx="7075685" cy="1152525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b="1" i="1" dirty="0">
                <a:solidFill>
                  <a:schemeClr val="accent2">
                    <a:lumMod val="50000"/>
                  </a:schemeClr>
                </a:solidFill>
                <a:effectLst/>
              </a:rPr>
              <a:t>Виды заемных источников финансирования</a:t>
            </a:r>
          </a:p>
        </p:txBody>
      </p:sp>
      <p:cxnSp>
        <p:nvCxnSpPr>
          <p:cNvPr id="25" name="Прямая соединительная линия 24"/>
          <p:cNvCxnSpPr>
            <a:endCxn id="55313" idx="1"/>
          </p:cNvCxnSpPr>
          <p:nvPr/>
        </p:nvCxnSpPr>
        <p:spPr>
          <a:xfrm flipV="1">
            <a:off x="1258094" y="5270413"/>
            <a:ext cx="288925" cy="3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endCxn id="55317" idx="1"/>
          </p:cNvCxnSpPr>
          <p:nvPr/>
        </p:nvCxnSpPr>
        <p:spPr>
          <a:xfrm flipV="1">
            <a:off x="4066381" y="5337088"/>
            <a:ext cx="215900" cy="36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endCxn id="55316" idx="1"/>
          </p:cNvCxnSpPr>
          <p:nvPr/>
        </p:nvCxnSpPr>
        <p:spPr>
          <a:xfrm flipV="1">
            <a:off x="4066381" y="4478251"/>
            <a:ext cx="144463" cy="3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endCxn id="55315" idx="1"/>
          </p:cNvCxnSpPr>
          <p:nvPr/>
        </p:nvCxnSpPr>
        <p:spPr>
          <a:xfrm flipV="1">
            <a:off x="4066381" y="3901988"/>
            <a:ext cx="144463" cy="3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55320" idx="1"/>
          </p:cNvCxnSpPr>
          <p:nvPr/>
        </p:nvCxnSpPr>
        <p:spPr>
          <a:xfrm flipV="1">
            <a:off x="6803231" y="5587913"/>
            <a:ext cx="144463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306" name="Группа 35"/>
          <p:cNvGrpSpPr>
            <a:grpSpLocks/>
          </p:cNvGrpSpPr>
          <p:nvPr/>
        </p:nvGrpSpPr>
        <p:grpSpPr bwMode="auto">
          <a:xfrm>
            <a:off x="1115219" y="1441887"/>
            <a:ext cx="7704137" cy="4470167"/>
            <a:chOff x="900113" y="722657"/>
            <a:chExt cx="7704137" cy="4469105"/>
          </a:xfrm>
        </p:grpSpPr>
        <p:sp>
          <p:nvSpPr>
            <p:cNvPr id="55307" name="TextBox 16"/>
            <p:cNvSpPr txBox="1">
              <a:spLocks noChangeArrowheads="1"/>
            </p:cNvSpPr>
            <p:nvPr/>
          </p:nvSpPr>
          <p:spPr bwMode="auto">
            <a:xfrm>
              <a:off x="1131591" y="937080"/>
              <a:ext cx="1656656" cy="892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Font typeface="Wingdings 3" pitchFamily="18" charset="2"/>
                <a:buChar char=""/>
                <a:defRPr>
                  <a:solidFill>
                    <a:srgbClr val="404040"/>
                  </a:solidFill>
                  <a:latin typeface="Century Gothic" pitchFamily="34" charset="0"/>
                </a:defRPr>
              </a:lvl1pPr>
              <a:lvl2pPr marL="742950" indent="-285750">
                <a:spcBef>
                  <a:spcPts val="1000"/>
                </a:spcBef>
                <a:buClr>
                  <a:schemeClr val="accent1"/>
                </a:buClr>
                <a:buFont typeface="Wingdings 3" pitchFamily="18" charset="2"/>
                <a:buChar char=""/>
                <a:defRPr sz="1600">
                  <a:solidFill>
                    <a:srgbClr val="404040"/>
                  </a:solidFill>
                  <a:latin typeface="Century Gothic" pitchFamily="34" charset="0"/>
                </a:defRPr>
              </a:lvl2pPr>
              <a:lvl3pPr marL="1143000" indent="-228600">
                <a:spcBef>
                  <a:spcPts val="1000"/>
                </a:spcBef>
                <a:buClr>
                  <a:schemeClr val="accent1"/>
                </a:buClr>
                <a:buFont typeface="Wingdings 3" pitchFamily="18" charset="2"/>
                <a:buChar char=""/>
                <a:defRPr sz="1400">
                  <a:solidFill>
                    <a:srgbClr val="404040"/>
                  </a:solidFill>
                  <a:latin typeface="Century Gothic" pitchFamily="34" charset="0"/>
                </a:defRPr>
              </a:lvl3pPr>
              <a:lvl4pPr marL="1600200" indent="-228600">
                <a:spcBef>
                  <a:spcPts val="1000"/>
                </a:spcBef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4pPr>
              <a:lvl5pPr marL="2057400" indent="-228600">
                <a:spcBef>
                  <a:spcPts val="1000"/>
                </a:spcBef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Font typeface="Wingdings 3" pitchFamily="18" charset="2"/>
                <a:buChar char=""/>
                <a:defRPr sz="1200">
                  <a:solidFill>
                    <a:srgbClr val="404040"/>
                  </a:solidFill>
                  <a:latin typeface="Century Gothic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ru-RU" altLang="ru-RU" dirty="0">
                  <a:solidFill>
                    <a:srgbClr val="7030A0"/>
                  </a:solidFill>
                  <a:latin typeface="Arial" pitchFamily="34" charset="0"/>
                </a:rPr>
                <a:t>Гибридные инструменты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ru-RU" altLang="ru-RU" sz="1600" dirty="0">
                  <a:solidFill>
                    <a:srgbClr val="7030A0"/>
                  </a:solidFill>
                  <a:latin typeface="Arial" pitchFamily="34" charset="0"/>
                </a:rPr>
                <a:t>(семинар)</a:t>
              </a:r>
            </a:p>
          </p:txBody>
        </p:sp>
        <p:grpSp>
          <p:nvGrpSpPr>
            <p:cNvPr id="55308" name="Группа 33"/>
            <p:cNvGrpSpPr>
              <a:grpSpLocks/>
            </p:cNvGrpSpPr>
            <p:nvPr/>
          </p:nvGrpSpPr>
          <p:grpSpPr bwMode="auto">
            <a:xfrm>
              <a:off x="900113" y="722657"/>
              <a:ext cx="7704137" cy="4469105"/>
              <a:chOff x="900113" y="722657"/>
              <a:chExt cx="7704137" cy="4469105"/>
            </a:xfrm>
          </p:grpSpPr>
          <p:cxnSp>
            <p:nvCxnSpPr>
              <p:cNvPr id="47" name="Прямая со стрелкой 46"/>
              <p:cNvCxnSpPr/>
              <p:nvPr/>
            </p:nvCxnSpPr>
            <p:spPr>
              <a:xfrm flipH="1" flipV="1">
                <a:off x="2791546" y="1183707"/>
                <a:ext cx="1780454" cy="590691"/>
              </a:xfrm>
              <a:prstGeom prst="straightConnector1">
                <a:avLst/>
              </a:prstGeom>
              <a:ln w="28575">
                <a:prstDash val="lg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310" name="TextBox 5"/>
              <p:cNvSpPr txBox="1">
                <a:spLocks noChangeArrowheads="1"/>
              </p:cNvSpPr>
              <p:nvPr/>
            </p:nvSpPr>
            <p:spPr bwMode="auto">
              <a:xfrm>
                <a:off x="900113" y="2205038"/>
                <a:ext cx="2232025" cy="369887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Кредиты</a:t>
                </a:r>
              </a:p>
            </p:txBody>
          </p:sp>
          <p:sp>
            <p:nvSpPr>
              <p:cNvPr id="55311" name="TextBox 6"/>
              <p:cNvSpPr txBox="1">
                <a:spLocks noChangeArrowheads="1"/>
              </p:cNvSpPr>
              <p:nvPr/>
            </p:nvSpPr>
            <p:spPr bwMode="auto">
              <a:xfrm>
                <a:off x="1331913" y="2924175"/>
                <a:ext cx="1800225" cy="369888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банковские</a:t>
                </a:r>
              </a:p>
            </p:txBody>
          </p:sp>
          <p:sp>
            <p:nvSpPr>
              <p:cNvPr id="55312" name="TextBox 7"/>
              <p:cNvSpPr txBox="1">
                <a:spLocks noChangeArrowheads="1"/>
              </p:cNvSpPr>
              <p:nvPr/>
            </p:nvSpPr>
            <p:spPr bwMode="auto">
              <a:xfrm>
                <a:off x="1331913" y="3573463"/>
                <a:ext cx="1800225" cy="3683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коммерческие</a:t>
                </a:r>
              </a:p>
            </p:txBody>
          </p:sp>
          <p:sp>
            <p:nvSpPr>
              <p:cNvPr id="55313" name="TextBox 8"/>
              <p:cNvSpPr txBox="1">
                <a:spLocks noChangeArrowheads="1"/>
              </p:cNvSpPr>
              <p:nvPr/>
            </p:nvSpPr>
            <p:spPr bwMode="auto">
              <a:xfrm>
                <a:off x="1331913" y="4365625"/>
                <a:ext cx="1800225" cy="3683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 dirty="0">
                    <a:solidFill>
                      <a:srgbClr val="0070C0"/>
                    </a:solidFill>
                    <a:latin typeface="Arial" pitchFamily="34" charset="0"/>
                  </a:rPr>
                  <a:t>лизинговые</a:t>
                </a:r>
              </a:p>
            </p:txBody>
          </p:sp>
          <p:sp>
            <p:nvSpPr>
              <p:cNvPr id="55314" name="TextBox 9"/>
              <p:cNvSpPr txBox="1">
                <a:spLocks noChangeArrowheads="1"/>
              </p:cNvSpPr>
              <p:nvPr/>
            </p:nvSpPr>
            <p:spPr bwMode="auto">
              <a:xfrm>
                <a:off x="3851275" y="2205038"/>
                <a:ext cx="1944688" cy="369887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Ценные бумаги</a:t>
                </a:r>
              </a:p>
            </p:txBody>
          </p:sp>
          <p:sp>
            <p:nvSpPr>
              <p:cNvPr id="55315" name="TextBox 10"/>
              <p:cNvSpPr txBox="1">
                <a:spLocks noChangeArrowheads="1"/>
              </p:cNvSpPr>
              <p:nvPr/>
            </p:nvSpPr>
            <p:spPr bwMode="auto">
              <a:xfrm>
                <a:off x="3995738" y="2997200"/>
                <a:ext cx="1871662" cy="3683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облигации</a:t>
                </a:r>
              </a:p>
            </p:txBody>
          </p:sp>
          <p:sp>
            <p:nvSpPr>
              <p:cNvPr id="55316" name="TextBox 11"/>
              <p:cNvSpPr txBox="1">
                <a:spLocks noChangeArrowheads="1"/>
              </p:cNvSpPr>
              <p:nvPr/>
            </p:nvSpPr>
            <p:spPr bwMode="auto">
              <a:xfrm>
                <a:off x="3995738" y="3573463"/>
                <a:ext cx="1871662" cy="3683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векселя</a:t>
                </a:r>
              </a:p>
            </p:txBody>
          </p:sp>
          <p:sp>
            <p:nvSpPr>
              <p:cNvPr id="55317" name="TextBox 12"/>
              <p:cNvSpPr txBox="1">
                <a:spLocks noChangeArrowheads="1"/>
              </p:cNvSpPr>
              <p:nvPr/>
            </p:nvSpPr>
            <p:spPr bwMode="auto">
              <a:xfrm>
                <a:off x="4067175" y="4292600"/>
                <a:ext cx="1800225" cy="646113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rgbClr val="FF0000"/>
                    </a:solidFill>
                    <a:latin typeface="Arial" pitchFamily="34" charset="0"/>
                  </a:rPr>
                  <a:t>складские свидетельства</a:t>
                </a:r>
              </a:p>
            </p:txBody>
          </p:sp>
          <p:sp>
            <p:nvSpPr>
              <p:cNvPr id="55318" name="TextBox 13"/>
              <p:cNvSpPr txBox="1">
                <a:spLocks noChangeArrowheads="1"/>
              </p:cNvSpPr>
              <p:nvPr/>
            </p:nvSpPr>
            <p:spPr bwMode="auto">
              <a:xfrm>
                <a:off x="6443663" y="2205038"/>
                <a:ext cx="2160587" cy="646331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itchFamily="34" charset="0"/>
                  </a:rPr>
                  <a:t>Коммерческие заемные средства</a:t>
                </a:r>
              </a:p>
            </p:txBody>
          </p:sp>
          <p:sp>
            <p:nvSpPr>
              <p:cNvPr id="55319" name="TextBox 14"/>
              <p:cNvSpPr txBox="1">
                <a:spLocks noChangeArrowheads="1"/>
              </p:cNvSpPr>
              <p:nvPr/>
            </p:nvSpPr>
            <p:spPr bwMode="auto">
              <a:xfrm>
                <a:off x="6732588" y="3141663"/>
                <a:ext cx="1871662" cy="92330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 dirty="0">
                    <a:solidFill>
                      <a:srgbClr val="00B0F0"/>
                    </a:solidFill>
                    <a:latin typeface="Arial" pitchFamily="34" charset="0"/>
                  </a:rPr>
                  <a:t>спонтанная кредиторская задолженность</a:t>
                </a:r>
              </a:p>
            </p:txBody>
          </p:sp>
          <p:sp>
            <p:nvSpPr>
              <p:cNvPr id="55320" name="TextBox 15"/>
              <p:cNvSpPr txBox="1">
                <a:spLocks noChangeArrowheads="1"/>
              </p:cNvSpPr>
              <p:nvPr/>
            </p:nvSpPr>
            <p:spPr bwMode="auto">
              <a:xfrm>
                <a:off x="6732588" y="4545650"/>
                <a:ext cx="1800225" cy="646112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>
                    <a:solidFill>
                      <a:srgbClr val="404040"/>
                    </a:solidFill>
                    <a:latin typeface="Century Gothic" pitchFamily="34" charset="0"/>
                  </a:defRPr>
                </a:lvl1pPr>
                <a:lvl2pPr marL="742950" indent="-28575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600">
                    <a:solidFill>
                      <a:srgbClr val="404040"/>
                    </a:solidFill>
                    <a:latin typeface="Century Gothic" pitchFamily="34" charset="0"/>
                  </a:defRPr>
                </a:lvl2pPr>
                <a:lvl3pPr marL="11430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400">
                    <a:solidFill>
                      <a:srgbClr val="404040"/>
                    </a:solidFill>
                    <a:latin typeface="Century Gothic" pitchFamily="34" charset="0"/>
                  </a:defRPr>
                </a:lvl3pPr>
                <a:lvl4pPr marL="16002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4pPr>
                <a:lvl5pPr marL="2057400" indent="-228600">
                  <a:spcBef>
                    <a:spcPts val="1000"/>
                  </a:spcBef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 3" pitchFamily="18" charset="2"/>
                  <a:buChar char=""/>
                  <a:defRPr sz="1200">
                    <a:solidFill>
                      <a:srgbClr val="404040"/>
                    </a:solidFill>
                    <a:latin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ru-RU" altLang="ru-RU" dirty="0">
                    <a:solidFill>
                      <a:srgbClr val="00B0F0"/>
                    </a:solidFill>
                    <a:latin typeface="Arial" pitchFamily="34" charset="0"/>
                  </a:rPr>
                  <a:t>устойчивые пассивы (КЗ)</a:t>
                </a:r>
              </a:p>
            </p:txBody>
          </p:sp>
          <p:cxnSp>
            <p:nvCxnSpPr>
              <p:cNvPr id="19" name="Прямая соединительная линия 18"/>
              <p:cNvCxnSpPr/>
              <p:nvPr/>
            </p:nvCxnSpPr>
            <p:spPr>
              <a:xfrm rot="5400000">
                <a:off x="35164" y="3574195"/>
                <a:ext cx="201564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/>
              <p:cNvCxnSpPr>
                <a:endCxn id="55311" idx="1"/>
              </p:cNvCxnSpPr>
              <p:nvPr/>
            </p:nvCxnSpPr>
            <p:spPr>
              <a:xfrm flipV="1">
                <a:off x="1042988" y="3110755"/>
                <a:ext cx="288925" cy="317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/>
              <p:cNvCxnSpPr>
                <a:endCxn id="55312" idx="1"/>
              </p:cNvCxnSpPr>
              <p:nvPr/>
            </p:nvCxnSpPr>
            <p:spPr>
              <a:xfrm>
                <a:off x="1042988" y="3717036"/>
                <a:ext cx="288925" cy="412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/>
              <p:cNvCxnSpPr/>
              <p:nvPr/>
            </p:nvCxnSpPr>
            <p:spPr>
              <a:xfrm rot="5400000">
                <a:off x="2807741" y="3609906"/>
                <a:ext cx="208706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/>
              <p:cNvCxnSpPr/>
              <p:nvPr/>
            </p:nvCxnSpPr>
            <p:spPr>
              <a:xfrm>
                <a:off x="6588125" y="2853642"/>
                <a:ext cx="0" cy="20521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Прямая соединительная линия 38"/>
              <p:cNvCxnSpPr>
                <a:endCxn id="55319" idx="1"/>
              </p:cNvCxnSpPr>
              <p:nvPr/>
            </p:nvCxnSpPr>
            <p:spPr>
              <a:xfrm>
                <a:off x="6588125" y="3358347"/>
                <a:ext cx="144463" cy="2460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 стрелкой 40"/>
              <p:cNvCxnSpPr/>
              <p:nvPr/>
            </p:nvCxnSpPr>
            <p:spPr>
              <a:xfrm flipH="1">
                <a:off x="2195513" y="1774398"/>
                <a:ext cx="2376487" cy="43169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Прямая со стрелкой 42"/>
              <p:cNvCxnSpPr/>
              <p:nvPr/>
            </p:nvCxnSpPr>
            <p:spPr>
              <a:xfrm flipH="1">
                <a:off x="4572000" y="722657"/>
                <a:ext cx="504974" cy="105174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 стрелкой 44"/>
              <p:cNvCxnSpPr/>
              <p:nvPr/>
            </p:nvCxnSpPr>
            <p:spPr>
              <a:xfrm>
                <a:off x="4572000" y="1774398"/>
                <a:ext cx="2519363" cy="43169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53720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altLang="ru-RU" b="1" dirty="0">
                <a:solidFill>
                  <a:schemeClr val="accent2">
                    <a:lumMod val="50000"/>
                  </a:schemeClr>
                </a:solidFill>
              </a:rPr>
              <a:t>Плюсы и минусы заемных источников финансирования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505410"/>
              </p:ext>
            </p:extLst>
          </p:nvPr>
        </p:nvGraphicFramePr>
        <p:xfrm>
          <a:off x="1403648" y="1700808"/>
          <a:ext cx="727280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Критерии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 dirty="0"/>
                        <a:t>Денежные потоки (</a:t>
                      </a:r>
                      <a:r>
                        <a:rPr lang="en-US" sz="2000" b="1" dirty="0"/>
                        <a:t>CF</a:t>
                      </a:r>
                      <a:r>
                        <a:rPr lang="ru-RU" sz="20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относительная дешевизна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нестабильность для компании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 dirty="0"/>
                        <a:t>Риски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проблемы</a:t>
                      </a:r>
                      <a:r>
                        <a:rPr lang="ru-RU" sz="2000" baseline="0" dirty="0"/>
                        <a:t> кредитора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добавочный</a:t>
                      </a:r>
                      <a:r>
                        <a:rPr lang="ru-RU" sz="2000" baseline="0" dirty="0"/>
                        <a:t> риск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 dirty="0"/>
                        <a:t>Долг</a:t>
                      </a:r>
                      <a:r>
                        <a:rPr lang="ru-RU" sz="2000" b="1" baseline="0" dirty="0"/>
                        <a:t> и проценты</a:t>
                      </a:r>
                      <a:endParaRPr lang="ru-R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фиксированность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возможность невозврата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 dirty="0"/>
                        <a:t>Налоги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эффект</a:t>
                      </a:r>
                      <a:r>
                        <a:rPr lang="ru-RU" sz="2000" baseline="0" dirty="0"/>
                        <a:t> «</a:t>
                      </a:r>
                      <a:r>
                        <a:rPr lang="ru-RU" sz="2000" baseline="0" dirty="0">
                          <a:solidFill>
                            <a:srgbClr val="7030A0"/>
                          </a:solidFill>
                        </a:rPr>
                        <a:t>налогового щита</a:t>
                      </a:r>
                      <a:r>
                        <a:rPr lang="ru-RU" sz="2000" baseline="0" dirty="0"/>
                        <a:t>»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 России не применяется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1" dirty="0"/>
                        <a:t>Издержки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минимальные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финансовой неустойчивости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99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Обязательства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1447800"/>
            <a:ext cx="6952816" cy="4800600"/>
          </a:xfrm>
        </p:spPr>
        <p:txBody>
          <a:bodyPr/>
          <a:lstStyle/>
          <a:p>
            <a:pPr marL="457200" lvl="1" indent="-457200">
              <a:spcBef>
                <a:spcPts val="600"/>
              </a:spcBef>
            </a:pPr>
            <a:r>
              <a:rPr lang="ru-RU" dirty="0"/>
              <a:t>Краткосрочные</a:t>
            </a:r>
          </a:p>
          <a:p>
            <a:pPr marL="704088" lvl="2" indent="-457200">
              <a:spcBef>
                <a:spcPts val="600"/>
              </a:spcBef>
            </a:pPr>
            <a:r>
              <a:rPr lang="ru-RU" dirty="0"/>
              <a:t>Кредиторская задолженность</a:t>
            </a:r>
          </a:p>
          <a:p>
            <a:pPr marL="914400" lvl="3" indent="-457200">
              <a:spcBef>
                <a:spcPts val="600"/>
              </a:spcBef>
            </a:pPr>
            <a:r>
              <a:rPr lang="en-US" dirty="0"/>
              <a:t>Current liabilities (CL)</a:t>
            </a:r>
          </a:p>
          <a:p>
            <a:pPr marL="914400" lvl="3" indent="-457200">
              <a:spcBef>
                <a:spcPts val="600"/>
              </a:spcBef>
            </a:pPr>
            <a:r>
              <a:rPr lang="en-US" dirty="0"/>
              <a:t>NWC = OA - CL</a:t>
            </a:r>
            <a:endParaRPr lang="ru-RU" dirty="0"/>
          </a:p>
          <a:p>
            <a:pPr marL="457200" lvl="1" indent="-457200">
              <a:spcBef>
                <a:spcPts val="600"/>
              </a:spcBef>
            </a:pPr>
            <a:r>
              <a:rPr lang="ru-RU" dirty="0"/>
              <a:t>Долгосрочные </a:t>
            </a:r>
            <a:r>
              <a:rPr lang="en-US" dirty="0"/>
              <a:t>(D – Debt)</a:t>
            </a:r>
            <a:endParaRPr lang="ru-RU" dirty="0"/>
          </a:p>
          <a:p>
            <a:pPr marL="704088" lvl="2" indent="-457200">
              <a:spcBef>
                <a:spcPts val="600"/>
              </a:spcBef>
            </a:pPr>
            <a:r>
              <a:rPr lang="ru-RU" dirty="0"/>
              <a:t>Кредиты</a:t>
            </a:r>
          </a:p>
          <a:p>
            <a:pPr marL="704088" lvl="2" indent="-457200">
              <a:spcBef>
                <a:spcPts val="600"/>
              </a:spcBef>
            </a:pPr>
            <a:r>
              <a:rPr lang="ru-RU" dirty="0"/>
              <a:t>Облигации</a:t>
            </a:r>
          </a:p>
          <a:p>
            <a:pPr marL="914400" lvl="3" indent="-457200">
              <a:spcBef>
                <a:spcPts val="600"/>
              </a:spcBef>
            </a:pPr>
            <a:r>
              <a:rPr lang="ru-RU" dirty="0"/>
              <a:t>Корпоративные</a:t>
            </a:r>
            <a:endParaRPr lang="en-US" dirty="0"/>
          </a:p>
          <a:p>
            <a:pPr marL="1115568" lvl="4" indent="-457200">
              <a:spcBef>
                <a:spcPts val="600"/>
              </a:spcBef>
            </a:pPr>
            <a:r>
              <a:rPr lang="ru-RU" dirty="0"/>
              <a:t>крупный источник ЗК</a:t>
            </a:r>
          </a:p>
          <a:p>
            <a:pPr marL="1115568" lvl="4" indent="-457200">
              <a:spcBef>
                <a:spcPts val="600"/>
              </a:spcBef>
            </a:pPr>
            <a:r>
              <a:rPr lang="ru-RU" dirty="0"/>
              <a:t>купон – аналог процентов</a:t>
            </a:r>
          </a:p>
          <a:p>
            <a:pPr marL="1115568" lvl="4" indent="-457200">
              <a:spcBef>
                <a:spcPts val="600"/>
              </a:spcBef>
            </a:pPr>
            <a:r>
              <a:rPr lang="ru-RU" dirty="0"/>
              <a:t>меньше расходов </a:t>
            </a:r>
            <a:r>
              <a:rPr lang="ru-RU"/>
              <a:t>на эмиссию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006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3113" y="508000"/>
            <a:ext cx="8229600" cy="923925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ru-RU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Корпоративные облигации</a:t>
            </a:r>
          </a:p>
        </p:txBody>
      </p:sp>
      <p:sp>
        <p:nvSpPr>
          <p:cNvPr id="47107" name="Содержимое 2"/>
          <p:cNvSpPr>
            <a:spLocks noGrp="1"/>
          </p:cNvSpPr>
          <p:nvPr>
            <p:ph idx="1"/>
          </p:nvPr>
        </p:nvSpPr>
        <p:spPr>
          <a:xfrm>
            <a:off x="971550" y="1628775"/>
            <a:ext cx="7726363" cy="47529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u-RU" altLang="ru-RU" sz="2800" dirty="0">
                <a:solidFill>
                  <a:srgbClr val="002060"/>
                </a:solidFill>
              </a:rPr>
              <a:t>обладают особой инвестиционной стоимостью:</a:t>
            </a:r>
          </a:p>
          <a:p>
            <a:pPr lvl="1" eaLnBrk="1" hangingPunct="1"/>
            <a:r>
              <a:rPr lang="ru-RU" altLang="ru-RU" sz="2400" dirty="0">
                <a:solidFill>
                  <a:srgbClr val="002060"/>
                </a:solidFill>
              </a:rPr>
              <a:t>выражает заемные (долговые) отношения между инвестором и эмитентом</a:t>
            </a:r>
          </a:p>
          <a:p>
            <a:pPr lvl="1" eaLnBrk="1" hangingPunct="1"/>
            <a:r>
              <a:rPr lang="ru-RU" altLang="ru-RU" sz="2400" dirty="0">
                <a:solidFill>
                  <a:srgbClr val="002060"/>
                </a:solidFill>
              </a:rPr>
              <a:t>самостоятельно обращается на фондовом рынке вплоть до ее погашения</a:t>
            </a:r>
          </a:p>
          <a:p>
            <a:pPr lvl="1" eaLnBrk="1" hangingPunct="1"/>
            <a:r>
              <a:rPr lang="ru-RU" altLang="ru-RU" sz="2400" dirty="0">
                <a:solidFill>
                  <a:srgbClr val="002060"/>
                </a:solidFill>
              </a:rPr>
              <a:t>имеет собственную котировку</a:t>
            </a:r>
          </a:p>
          <a:p>
            <a:pPr lvl="1" eaLnBrk="1" hangingPunct="1"/>
            <a:r>
              <a:rPr lang="ru-RU" altLang="ru-RU" sz="2400" dirty="0">
                <a:solidFill>
                  <a:srgbClr val="002060"/>
                </a:solidFill>
              </a:rPr>
              <a:t>обладает основными инвестиционными свойствами: ликвидностью, надежностью и доходностью</a:t>
            </a:r>
          </a:p>
          <a:p>
            <a:r>
              <a:rPr lang="ru-RU" sz="2800" dirty="0">
                <a:solidFill>
                  <a:srgbClr val="002060"/>
                </a:solidFill>
              </a:rPr>
              <a:t>не увеличивается риск потери управления компанией</a:t>
            </a:r>
          </a:p>
        </p:txBody>
      </p:sp>
    </p:spTree>
    <p:extLst>
      <p:ext uri="{BB962C8B-B14F-4D97-AF65-F5344CB8AC3E}">
        <p14:creationId xmlns:p14="http://schemas.microsoft.com/office/powerpoint/2010/main" val="2442208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498080" cy="72008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 другие заемные источники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908720"/>
            <a:ext cx="7416824" cy="5688632"/>
          </a:xfrm>
        </p:spPr>
        <p:txBody>
          <a:bodyPr>
            <a:noAutofit/>
          </a:bodyPr>
          <a:lstStyle/>
          <a:p>
            <a:r>
              <a:rPr lang="ru-RU" sz="2200" dirty="0"/>
              <a:t>Овердрафт — это краткосрочный заем, который позволяет быстро получить недостающую сумму без предварительного согласования с банком</a:t>
            </a:r>
          </a:p>
          <a:p>
            <a:pPr lvl="1"/>
            <a:r>
              <a:rPr lang="en-US" sz="2000" dirty="0">
                <a:hlinkClick r:id="rId3"/>
              </a:rPr>
              <a:t>https://www.raiffeisen.ru/wiki/overdraft/</a:t>
            </a:r>
            <a:endParaRPr lang="ru-RU" sz="2000" dirty="0"/>
          </a:p>
          <a:p>
            <a:r>
              <a:rPr lang="ru-RU" sz="2200" dirty="0"/>
              <a:t>Лизинг – долгосрочная аренда или вид финансовых услуг, форма кредитования для приобретения </a:t>
            </a:r>
            <a:r>
              <a:rPr lang="ru-RU" sz="2200" u="sng" dirty="0"/>
              <a:t>основных средств</a:t>
            </a:r>
            <a:r>
              <a:rPr lang="ru-RU" sz="2200" dirty="0"/>
              <a:t> предприятиями и других товаров физическими и юридическими лицами</a:t>
            </a:r>
          </a:p>
          <a:p>
            <a:r>
              <a:rPr lang="ru-RU" sz="2200" dirty="0"/>
              <a:t>Факторинг - это финансовая услуга для компаний, работающих на условиях отсрочки платежа; с её помощью продавец получает деньги за товар сразу после отгрузки, может устранить кассовые разрывы и пополнить </a:t>
            </a:r>
            <a:r>
              <a:rPr lang="ru-RU" sz="2200" u="sng" dirty="0"/>
              <a:t>оборотный капитал</a:t>
            </a:r>
          </a:p>
        </p:txBody>
      </p:sp>
    </p:spTree>
    <p:extLst>
      <p:ext uri="{BB962C8B-B14F-4D97-AF65-F5344CB8AC3E}">
        <p14:creationId xmlns:p14="http://schemas.microsoft.com/office/powerpoint/2010/main" val="3188611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274638"/>
            <a:ext cx="7602048" cy="1066130"/>
          </a:xfrm>
        </p:spPr>
        <p:txBody>
          <a:bodyPr>
            <a:noAutofit/>
          </a:bodyPr>
          <a:lstStyle/>
          <a:p>
            <a:pPr algn="r"/>
            <a:r>
              <a:rPr lang="ru-RU" sz="3700" i="1" dirty="0"/>
              <a:t>3. Общая характеристика активов и внеоборотных активов </a:t>
            </a:r>
            <a:endParaRPr lang="ru-RU" sz="37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07605" y="1781286"/>
            <a:ext cx="7456872" cy="482453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Активы предприятия — важный показатель, который отображает уровень развития компании</a:t>
            </a:r>
          </a:p>
          <a:p>
            <a:r>
              <a:rPr lang="ru-RU" dirty="0"/>
              <a:t>Классификация</a:t>
            </a:r>
          </a:p>
          <a:p>
            <a:pPr lvl="1"/>
            <a:r>
              <a:rPr lang="ru-RU" dirty="0"/>
              <a:t>по форме функционирования</a:t>
            </a:r>
          </a:p>
          <a:p>
            <a:pPr lvl="2"/>
            <a:r>
              <a:rPr lang="ru-RU" dirty="0"/>
              <a:t>материальные, нематериальные и финансовые</a:t>
            </a:r>
          </a:p>
          <a:p>
            <a:pPr lvl="1"/>
            <a:r>
              <a:rPr lang="ru-RU" dirty="0"/>
              <a:t>по скорости оборота (участие в хозяйственном процессе)</a:t>
            </a:r>
          </a:p>
          <a:p>
            <a:pPr lvl="2"/>
            <a:r>
              <a:rPr lang="ru-RU" dirty="0"/>
              <a:t>оборотные и внеоборотные</a:t>
            </a:r>
          </a:p>
          <a:p>
            <a:pPr lvl="1"/>
            <a:r>
              <a:rPr lang="ru-RU" dirty="0"/>
              <a:t>по характеру владения</a:t>
            </a:r>
          </a:p>
          <a:p>
            <a:pPr lvl="2"/>
            <a:r>
              <a:rPr lang="ru-RU" dirty="0"/>
              <a:t>собственные и арендуемые</a:t>
            </a:r>
          </a:p>
          <a:p>
            <a:pPr lvl="1"/>
            <a:r>
              <a:rPr lang="ru-RU" dirty="0"/>
              <a:t>по степени ликвидности</a:t>
            </a:r>
          </a:p>
          <a:p>
            <a:pPr lvl="2"/>
            <a:r>
              <a:rPr lang="ru-RU" dirty="0"/>
              <a:t>абсолютно, высоко-, средне-, слабо, неликвидные</a:t>
            </a:r>
          </a:p>
        </p:txBody>
      </p:sp>
    </p:spTree>
    <p:extLst>
      <p:ext uri="{BB962C8B-B14F-4D97-AF65-F5344CB8AC3E}">
        <p14:creationId xmlns:p14="http://schemas.microsoft.com/office/powerpoint/2010/main" val="3002505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4082"/>
          </a:xfrm>
        </p:spPr>
        <p:txBody>
          <a:bodyPr>
            <a:normAutofit fontScale="90000"/>
          </a:bodyPr>
          <a:lstStyle/>
          <a:p>
            <a:pPr algn="r"/>
            <a:r>
              <a:rPr lang="ru-RU" i="1" dirty="0"/>
              <a:t>Анализ активов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980728"/>
            <a:ext cx="7602048" cy="5472608"/>
          </a:xfrm>
        </p:spPr>
        <p:txBody>
          <a:bodyPr>
            <a:normAutofit fontScale="70000" lnSpcReduction="20000"/>
          </a:bodyPr>
          <a:lstStyle/>
          <a:p>
            <a:pPr marL="82296" indent="0" algn="ctr">
              <a:buNone/>
            </a:pPr>
            <a:r>
              <a:rPr lang="ru-RU" b="1" dirty="0"/>
              <a:t>Структура, динамика и коэффициенты</a:t>
            </a:r>
          </a:p>
          <a:p>
            <a:r>
              <a:rPr lang="ru-RU" u="sng" dirty="0"/>
              <a:t>Структура</a:t>
            </a:r>
            <a:r>
              <a:rPr lang="ru-RU" dirty="0"/>
              <a:t> - большой удельный вес</a:t>
            </a:r>
          </a:p>
          <a:p>
            <a:pPr lvl="1"/>
            <a:r>
              <a:rPr lang="en-US" dirty="0"/>
              <a:t>FA</a:t>
            </a:r>
            <a:r>
              <a:rPr lang="ru-RU" dirty="0"/>
              <a:t> – для производственных предприятий</a:t>
            </a:r>
          </a:p>
          <a:p>
            <a:pPr lvl="1"/>
            <a:r>
              <a:rPr lang="ru-RU" dirty="0"/>
              <a:t>инвестиции и д/</a:t>
            </a:r>
            <a:r>
              <a:rPr lang="ru-RU" dirty="0" err="1"/>
              <a:t>ср.вложения</a:t>
            </a:r>
            <a:r>
              <a:rPr lang="ru-RU" dirty="0"/>
              <a:t> – для компаний финансового сектора</a:t>
            </a:r>
          </a:p>
          <a:p>
            <a:r>
              <a:rPr lang="ru-RU" u="sng" dirty="0"/>
              <a:t>Динамика</a:t>
            </a:r>
            <a:r>
              <a:rPr lang="ru-RU" dirty="0"/>
              <a:t> – в абсолютном и относительном значении</a:t>
            </a:r>
          </a:p>
          <a:p>
            <a:pPr lvl="1"/>
            <a:r>
              <a:rPr lang="ru-RU" dirty="0"/>
              <a:t>наращивание или снижение собственных производственных мощностей</a:t>
            </a:r>
          </a:p>
          <a:p>
            <a:pPr lvl="1"/>
            <a:r>
              <a:rPr lang="ru-RU" dirty="0"/>
              <a:t>обновление </a:t>
            </a:r>
            <a:r>
              <a:rPr lang="en-US" dirty="0"/>
              <a:t>FA</a:t>
            </a:r>
          </a:p>
          <a:p>
            <a:pPr lvl="1"/>
            <a:r>
              <a:rPr lang="ru-RU" dirty="0"/>
              <a:t>степень ликвидности баланса</a:t>
            </a:r>
          </a:p>
          <a:p>
            <a:r>
              <a:rPr lang="ru-RU" dirty="0"/>
              <a:t>Коэффициенты</a:t>
            </a:r>
          </a:p>
          <a:p>
            <a:pPr lvl="1"/>
            <a:r>
              <a:rPr lang="ru-RU" dirty="0"/>
              <a:t>Фондоотдача, ФО = отношение </a:t>
            </a:r>
            <a:r>
              <a:rPr lang="en-US" dirty="0"/>
              <a:t>S</a:t>
            </a:r>
            <a:r>
              <a:rPr lang="ru-RU" dirty="0"/>
              <a:t> к </a:t>
            </a:r>
            <a:r>
              <a:rPr lang="en-US" dirty="0"/>
              <a:t>FA</a:t>
            </a:r>
            <a:endParaRPr lang="ru-RU" dirty="0"/>
          </a:p>
          <a:p>
            <a:pPr lvl="1"/>
            <a:r>
              <a:rPr lang="ru-RU" dirty="0"/>
              <a:t>Фондоемкость, ФЕ, отражает сумму внеоборотных средств </a:t>
            </a:r>
            <a:r>
              <a:rPr lang="en-US" dirty="0"/>
              <a:t>(FA)</a:t>
            </a:r>
            <a:r>
              <a:rPr lang="ru-RU" dirty="0"/>
              <a:t>, затраченную на получение 1 рубля выручки</a:t>
            </a:r>
            <a:r>
              <a:rPr lang="en-US" dirty="0"/>
              <a:t> (S)</a:t>
            </a:r>
          </a:p>
          <a:p>
            <a:pPr lvl="1"/>
            <a:r>
              <a:rPr lang="ru-RU" dirty="0"/>
              <a:t>Рентабельность ВА = отношение прибыли компании к совокупной стоимости ВА</a:t>
            </a:r>
          </a:p>
          <a:p>
            <a:pPr lvl="2"/>
            <a:r>
              <a:rPr lang="ru-RU" dirty="0"/>
              <a:t>показывает экономическую эффективность ВА, т.е. сколько копеек прибыли получается с каждого рубля, вложенного во ВА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406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78098"/>
          </a:xfrm>
        </p:spPr>
        <p:txBody>
          <a:bodyPr/>
          <a:lstStyle/>
          <a:p>
            <a:r>
              <a:rPr lang="ru-RU" i="1" dirty="0"/>
              <a:t>Сравнение ОА и ВА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437705"/>
              </p:ext>
            </p:extLst>
          </p:nvPr>
        </p:nvGraphicFramePr>
        <p:xfrm>
          <a:off x="1435100" y="1447800"/>
          <a:ext cx="7169348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Балансовый отчёт (форма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09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</a:t>
                      </a:r>
                      <a:r>
                        <a:rPr lang="ru-RU" baseline="0" dirty="0"/>
                        <a:t> использования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более 12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менее 12 месяцев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Участие в производстве / производственном цикле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многократно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однократно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 на протяжении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постоянная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переменная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93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Перенос стоимости активов на себестоимость продукции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частями через амортизацию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полностью, в пределах одного цикла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Ликвидность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Принадлежность компании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собственные</a:t>
                      </a:r>
                      <a:r>
                        <a:rPr lang="ru-RU" baseline="0" dirty="0"/>
                        <a:t> / арендованные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собственные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3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116632"/>
            <a:ext cx="7498080" cy="864096"/>
          </a:xfrm>
        </p:spPr>
        <p:txBody>
          <a:bodyPr/>
          <a:lstStyle/>
          <a:p>
            <a:r>
              <a:rPr lang="ru-RU" dirty="0"/>
              <a:t>Другие виды активов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1052736"/>
            <a:ext cx="7168840" cy="5195664"/>
          </a:xfrm>
        </p:spPr>
        <p:txBody>
          <a:bodyPr>
            <a:normAutofit/>
          </a:bodyPr>
          <a:lstStyle/>
          <a:p>
            <a:r>
              <a:rPr lang="ru-RU" sz="2800" dirty="0"/>
              <a:t>Проблемные активы – с обременением, сложно реализовать</a:t>
            </a:r>
          </a:p>
          <a:p>
            <a:pPr lvl="1"/>
            <a:r>
              <a:rPr lang="ru-RU" sz="2400" dirty="0"/>
              <a:t>имущество в залоге или под арестом</a:t>
            </a:r>
          </a:p>
          <a:p>
            <a:r>
              <a:rPr lang="ru-RU" sz="2800" dirty="0"/>
              <a:t>Информационные активы</a:t>
            </a:r>
          </a:p>
          <a:p>
            <a:pPr lvl="1"/>
            <a:r>
              <a:rPr lang="ru-RU" sz="2400" dirty="0"/>
              <a:t>база данных клиентов</a:t>
            </a:r>
          </a:p>
          <a:p>
            <a:r>
              <a:rPr lang="ru-RU" sz="2800" dirty="0"/>
              <a:t>Резервные активы</a:t>
            </a:r>
          </a:p>
          <a:p>
            <a:pPr lvl="1"/>
            <a:r>
              <a:rPr lang="ru-RU" sz="2400" dirty="0"/>
              <a:t>госсобственность (монетарное золото, международные банковские счета…)</a:t>
            </a:r>
          </a:p>
          <a:p>
            <a:r>
              <a:rPr lang="ru-RU" sz="2800" dirty="0" err="1"/>
              <a:t>Отношенческие</a:t>
            </a:r>
            <a:r>
              <a:rPr lang="ru-RU" sz="2800" dirty="0"/>
              <a:t> активы (капитал)</a:t>
            </a:r>
          </a:p>
          <a:p>
            <a:pPr lvl="1"/>
            <a:r>
              <a:rPr lang="ru-RU" sz="2400" dirty="0"/>
              <a:t>Обучение персонала</a:t>
            </a:r>
          </a:p>
          <a:p>
            <a:pPr lvl="1"/>
            <a:r>
              <a:rPr lang="ru-RU" sz="2400" dirty="0"/>
              <a:t>Лояльное отношение власти</a:t>
            </a:r>
          </a:p>
        </p:txBody>
      </p:sp>
    </p:spTree>
    <p:extLst>
      <p:ext uri="{BB962C8B-B14F-4D97-AF65-F5344CB8AC3E}">
        <p14:creationId xmlns:p14="http://schemas.microsoft.com/office/powerpoint/2010/main" val="107104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23728" y="188640"/>
            <a:ext cx="6304744" cy="576064"/>
          </a:xfrm>
        </p:spPr>
        <p:txBody>
          <a:bodyPr>
            <a:normAutofit fontScale="90000"/>
          </a:bodyPr>
          <a:lstStyle/>
          <a:p>
            <a:pPr algn="r"/>
            <a:r>
              <a:rPr lang="ru-RU" sz="3600" i="1" dirty="0"/>
              <a:t>Классификация 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908720"/>
            <a:ext cx="7498080" cy="5688632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группы ВА</a:t>
            </a:r>
          </a:p>
          <a:p>
            <a:pPr lvl="1"/>
            <a:r>
              <a:rPr lang="ru-RU" dirty="0"/>
              <a:t>материальные (машины, оборудование, здания сооружения)</a:t>
            </a:r>
          </a:p>
          <a:p>
            <a:pPr lvl="1"/>
            <a:r>
              <a:rPr lang="ru-RU" dirty="0"/>
              <a:t>нематериальные (ПО, деловая репутация, патенты, разработки)</a:t>
            </a:r>
          </a:p>
          <a:p>
            <a:pPr lvl="1"/>
            <a:r>
              <a:rPr lang="ru-RU" dirty="0"/>
              <a:t>финансовые (д/</a:t>
            </a:r>
            <a:r>
              <a:rPr lang="ru-RU" dirty="0" err="1"/>
              <a:t>ср.инвестиции</a:t>
            </a:r>
            <a:r>
              <a:rPr lang="ru-RU" dirty="0"/>
              <a:t> </a:t>
            </a:r>
            <a:r>
              <a:rPr lang="en-US" dirty="0"/>
              <a:t>[</a:t>
            </a:r>
            <a:r>
              <a:rPr lang="ru-RU" dirty="0"/>
              <a:t>в дочерние фирмы</a:t>
            </a:r>
            <a:r>
              <a:rPr lang="en-US" dirty="0"/>
              <a:t>]</a:t>
            </a:r>
            <a:r>
              <a:rPr lang="ru-RU" dirty="0"/>
              <a:t>, отложенные налоговые активы, выданные займы с длительным сроком погашения, ц/б)</a:t>
            </a:r>
          </a:p>
          <a:p>
            <a:r>
              <a:rPr lang="ru-RU" dirty="0"/>
              <a:t>по финансовому отчету</a:t>
            </a:r>
          </a:p>
          <a:p>
            <a:pPr lvl="1"/>
            <a:r>
              <a:rPr lang="ru-RU" dirty="0"/>
              <a:t>основные средства (здания, транспортные средства)</a:t>
            </a:r>
          </a:p>
          <a:p>
            <a:pPr lvl="1"/>
            <a:r>
              <a:rPr lang="ru-RU" dirty="0"/>
              <a:t>НМА (патенты, изобретения)…</a:t>
            </a:r>
          </a:p>
          <a:p>
            <a:pPr lvl="1"/>
            <a:r>
              <a:rPr lang="ru-RU" dirty="0"/>
              <a:t>инвестиции</a:t>
            </a:r>
          </a:p>
          <a:p>
            <a:pPr lvl="1"/>
            <a:r>
              <a:rPr lang="ru-RU" dirty="0"/>
              <a:t>отложенные налоговые активы</a:t>
            </a:r>
          </a:p>
          <a:p>
            <a:pPr lvl="1"/>
            <a:r>
              <a:rPr lang="ru-RU" dirty="0"/>
              <a:t>ц/б</a:t>
            </a:r>
          </a:p>
          <a:p>
            <a:pPr lvl="1"/>
            <a:r>
              <a:rPr lang="ru-RU" dirty="0"/>
              <a:t>прочие активы</a:t>
            </a:r>
          </a:p>
          <a:p>
            <a:pPr lvl="2"/>
            <a:r>
              <a:rPr lang="ru-RU" dirty="0"/>
              <a:t>финансовые затраты на приобретение или изготовление ВА, которые нельзя учитывать как самостоятельный объект</a:t>
            </a:r>
          </a:p>
          <a:p>
            <a:pPr lvl="3"/>
            <a:r>
              <a:rPr lang="ru-RU" dirty="0"/>
              <a:t>например, стоимость многолетних насаждений (плодовые деревья, которые еще не плодоносят не могут быть </a:t>
            </a:r>
            <a:r>
              <a:rPr lang="en-US" dirty="0"/>
              <a:t>FA</a:t>
            </a:r>
            <a:r>
              <a:rPr lang="ru-RU" dirty="0"/>
              <a:t>)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359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22114"/>
          </a:xfrm>
        </p:spPr>
        <p:txBody>
          <a:bodyPr>
            <a:normAutofit fontScale="90000"/>
          </a:bodyPr>
          <a:lstStyle/>
          <a:p>
            <a:r>
              <a:rPr lang="ru-RU" dirty="0"/>
              <a:t>Важно при анализе предприятия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1447800"/>
            <a:ext cx="7312856" cy="4800600"/>
          </a:xfrm>
        </p:spPr>
        <p:txBody>
          <a:bodyPr>
            <a:normAutofit/>
          </a:bodyPr>
          <a:lstStyle/>
          <a:p>
            <a:r>
              <a:rPr lang="ru-RU" dirty="0"/>
              <a:t>ВА уделяется внимание</a:t>
            </a:r>
          </a:p>
          <a:p>
            <a:pPr lvl="1"/>
            <a:r>
              <a:rPr lang="ru-RU" dirty="0"/>
              <a:t>возможность долгосрочного функционирования компании</a:t>
            </a:r>
          </a:p>
          <a:p>
            <a:pPr lvl="1"/>
            <a:r>
              <a:rPr lang="ru-RU" dirty="0"/>
              <a:t>Недостаток ВА</a:t>
            </a:r>
          </a:p>
          <a:p>
            <a:pPr lvl="2"/>
            <a:r>
              <a:rPr lang="ru-RU" dirty="0"/>
              <a:t>неконкурентоспособное предприятие</a:t>
            </a:r>
          </a:p>
          <a:p>
            <a:pPr lvl="1"/>
            <a:r>
              <a:rPr lang="ru-RU" dirty="0"/>
              <a:t>Переизбыток</a:t>
            </a:r>
          </a:p>
          <a:p>
            <a:pPr lvl="2"/>
            <a:r>
              <a:rPr lang="ru-RU" dirty="0"/>
              <a:t>неэффективное использование ВА</a:t>
            </a:r>
          </a:p>
          <a:p>
            <a:pPr lvl="2"/>
            <a:r>
              <a:rPr lang="ru-RU" dirty="0"/>
              <a:t>ухудшение финансового положения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2340299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6850" y="188640"/>
            <a:ext cx="7498080" cy="1008112"/>
          </a:xfrm>
        </p:spPr>
        <p:txBody>
          <a:bodyPr>
            <a:noAutofit/>
          </a:bodyPr>
          <a:lstStyle/>
          <a:p>
            <a:pPr algn="r"/>
            <a:r>
              <a:rPr lang="ru-RU" sz="3600" b="1" dirty="0"/>
              <a:t>4. Оборотные активы:</a:t>
            </a:r>
            <a:br>
              <a:rPr lang="en-US" sz="3600" b="1" dirty="0"/>
            </a:br>
            <a:r>
              <a:rPr lang="ru-RU" sz="3600" b="1" dirty="0"/>
              <a:t>особенности управления</a:t>
            </a:r>
            <a:endParaRPr lang="ru-RU" sz="3600" b="1" dirty="0">
              <a:effectLst/>
            </a:endParaRP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1435608" y="1340768"/>
            <a:ext cx="7498080" cy="5184576"/>
          </a:xfrm>
        </p:spPr>
        <p:txBody>
          <a:bodyPr>
            <a:normAutofit lnSpcReduction="10000"/>
          </a:bodyPr>
          <a:lstStyle/>
          <a:p>
            <a:r>
              <a:rPr lang="ru-RU" sz="2100" dirty="0"/>
              <a:t>ОА - мобильные активы в денежной форме или в виде материальных запасов, которые могут быть обращены в денежные средства </a:t>
            </a:r>
            <a:r>
              <a:rPr lang="ru-RU" sz="2100" dirty="0">
                <a:solidFill>
                  <a:srgbClr val="00B0F0"/>
                </a:solidFill>
              </a:rPr>
              <a:t>в течение одного производственного цикла или списываются в течение года</a:t>
            </a:r>
          </a:p>
          <a:p>
            <a:pPr lvl="1"/>
            <a:r>
              <a:rPr lang="ru-RU" sz="1700" dirty="0"/>
              <a:t>неоднократно участвуют в процессе производстве (в отличие от </a:t>
            </a:r>
            <a:r>
              <a:rPr lang="en-US" sz="1700" dirty="0"/>
              <a:t>FA</a:t>
            </a:r>
            <a:r>
              <a:rPr lang="ru-RU" sz="1700" dirty="0"/>
              <a:t>)</a:t>
            </a:r>
            <a:endParaRPr lang="en-US" sz="1700" dirty="0"/>
          </a:p>
          <a:p>
            <a:pPr lvl="1"/>
            <a:r>
              <a:rPr lang="ru-RU" sz="1700" dirty="0"/>
              <a:t>обеспечивают воспроизводственный процесс</a:t>
            </a:r>
            <a:endParaRPr lang="en-US" sz="1700" dirty="0"/>
          </a:p>
          <a:p>
            <a:pPr lvl="1"/>
            <a:r>
              <a:rPr lang="ru-RU" sz="1700" dirty="0"/>
              <a:t>переносят свою стоимость на готовую продукцию</a:t>
            </a:r>
          </a:p>
          <a:p>
            <a:r>
              <a:rPr lang="ru-RU" sz="2100" dirty="0"/>
              <a:t>Источники</a:t>
            </a:r>
            <a:r>
              <a:rPr lang="en-US" sz="2100" dirty="0"/>
              <a:t> </a:t>
            </a:r>
            <a:r>
              <a:rPr lang="ru-RU" sz="2100" dirty="0"/>
              <a:t>формирования ОА</a:t>
            </a:r>
          </a:p>
          <a:p>
            <a:pPr lvl="2"/>
            <a:r>
              <a:rPr lang="ru-RU" sz="1700" dirty="0"/>
              <a:t>собственные или приравненные к таковым ресурсы компании</a:t>
            </a:r>
          </a:p>
          <a:p>
            <a:pPr lvl="2"/>
            <a:r>
              <a:rPr lang="ru-RU" sz="1700" dirty="0"/>
              <a:t>заемные средства </a:t>
            </a:r>
            <a:r>
              <a:rPr lang="en-US" sz="1700" dirty="0"/>
              <a:t>(D &amp; </a:t>
            </a:r>
            <a:r>
              <a:rPr lang="en-US" sz="1700" b="1" dirty="0">
                <a:solidFill>
                  <a:srgbClr val="7030A0"/>
                </a:solidFill>
              </a:rPr>
              <a:t>CL</a:t>
            </a:r>
            <a:r>
              <a:rPr lang="en-US" sz="1700" dirty="0"/>
              <a:t>)</a:t>
            </a:r>
            <a:endParaRPr lang="ru-RU" sz="1700" dirty="0"/>
          </a:p>
          <a:p>
            <a:pPr lvl="2"/>
            <a:r>
              <a:rPr lang="ru-RU" sz="1700" u="sng" dirty="0"/>
              <a:t>привлеченные средства!</a:t>
            </a:r>
          </a:p>
          <a:p>
            <a:pPr lvl="3"/>
            <a:r>
              <a:rPr lang="ru-RU" sz="1800" dirty="0"/>
              <a:t>временные задолженности перед государством, персоналом</a:t>
            </a:r>
          </a:p>
          <a:p>
            <a:pPr marL="594360" indent="-457200"/>
            <a:r>
              <a:rPr lang="ru-RU" sz="2100" dirty="0"/>
              <a:t>ОА - </a:t>
            </a:r>
            <a:r>
              <a:rPr lang="ru-RU" sz="2100" b="1" dirty="0">
                <a:solidFill>
                  <a:srgbClr val="7030A0"/>
                </a:solidFill>
              </a:rPr>
              <a:t>КЗ </a:t>
            </a:r>
            <a:r>
              <a:rPr lang="en-US" sz="2100" b="1" dirty="0">
                <a:solidFill>
                  <a:srgbClr val="7030A0"/>
                </a:solidFill>
              </a:rPr>
              <a:t>(CL)</a:t>
            </a:r>
            <a:r>
              <a:rPr lang="ru-RU" sz="2100" b="1" dirty="0">
                <a:solidFill>
                  <a:srgbClr val="7030A0"/>
                </a:solidFill>
              </a:rPr>
              <a:t> </a:t>
            </a:r>
            <a:r>
              <a:rPr lang="ru-RU" sz="2100" dirty="0"/>
              <a:t>=</a:t>
            </a:r>
            <a:r>
              <a:rPr lang="ru-RU" sz="2100" b="1" dirty="0">
                <a:solidFill>
                  <a:srgbClr val="7030A0"/>
                </a:solidFill>
              </a:rPr>
              <a:t> </a:t>
            </a:r>
            <a:r>
              <a:rPr lang="ru-RU" sz="2100" dirty="0"/>
              <a:t>ОК = </a:t>
            </a:r>
            <a:r>
              <a:rPr lang="en-US" sz="2100" dirty="0"/>
              <a:t>NWC</a:t>
            </a:r>
            <a:endParaRPr lang="ru-RU" sz="2100" dirty="0"/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ru-RU" sz="1700" dirty="0"/>
              <a:t>ОА - </a:t>
            </a:r>
            <a:r>
              <a:rPr lang="ru-RU" sz="1700" b="1" dirty="0">
                <a:solidFill>
                  <a:srgbClr val="7030A0"/>
                </a:solidFill>
              </a:rPr>
              <a:t>финансовые обязательства</a:t>
            </a:r>
            <a:r>
              <a:rPr lang="ru-RU" sz="1700" dirty="0"/>
              <a:t> = инвестиционный потенциал компании, то есть </a:t>
            </a:r>
            <a:r>
              <a:rPr lang="ru-RU" sz="1700" u="sng" dirty="0"/>
              <a:t>рабочий (оборотный) капитал</a:t>
            </a:r>
            <a:r>
              <a:rPr lang="ru-RU" sz="1700" dirty="0"/>
              <a:t> или чистый оборотный капитал</a:t>
            </a:r>
            <a:endParaRPr lang="ru-RU" sz="1700" u="sng" dirty="0"/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ru-RU" sz="1700" dirty="0"/>
              <a:t>индикатор устойчивости финансового положения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15712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672" y="116632"/>
            <a:ext cx="7314016" cy="648072"/>
          </a:xfrm>
        </p:spPr>
        <p:txBody>
          <a:bodyPr>
            <a:normAutofit/>
          </a:bodyPr>
          <a:lstStyle/>
          <a:p>
            <a:pPr algn="r"/>
            <a:r>
              <a:rPr lang="ru-RU" sz="3200" dirty="0"/>
              <a:t>Оборотные активы (по балансу)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908720"/>
            <a:ext cx="7488832" cy="57606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400" u="sng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запасы</a:t>
            </a:r>
          </a:p>
          <a:p>
            <a:pPr lvl="1">
              <a:spcBef>
                <a:spcPts val="0"/>
              </a:spcBef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сырьё и материалы, незавершенное производство</a:t>
            </a:r>
          </a:p>
          <a:p>
            <a:pPr lvl="1">
              <a:spcBef>
                <a:spcPts val="0"/>
              </a:spcBef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готовая продукция и товары для перепродажи, товары отгруженные; расходы будущих периодов</a:t>
            </a:r>
          </a:p>
          <a:p>
            <a:pPr>
              <a:spcBef>
                <a:spcPts val="0"/>
              </a:spcBef>
            </a:pPr>
            <a:r>
              <a:rPr lang="ru-RU" sz="2400" u="sng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ДЗ</a:t>
            </a: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 (краткосрочные долги к получению)</a:t>
            </a:r>
          </a:p>
          <a:p>
            <a:pPr>
              <a:spcBef>
                <a:spcPts val="0"/>
              </a:spcBef>
            </a:pPr>
            <a:r>
              <a:rPr lang="ru-RU" sz="2400" u="sng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денежные средства и денежные эквиваленты</a:t>
            </a:r>
          </a:p>
          <a:p>
            <a:pPr marL="82296" indent="0" algn="ctr">
              <a:spcBef>
                <a:spcPts val="0"/>
              </a:spcBef>
              <a:buNone/>
            </a:pPr>
            <a:r>
              <a:rPr lang="ru-RU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ОА = запасы (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inventories – inv) + </a:t>
            </a:r>
            <a:r>
              <a:rPr lang="ru-RU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ДЗ +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cash</a:t>
            </a:r>
            <a:endParaRPr lang="ru-RU" sz="2400" i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2296" indent="0">
              <a:spcBef>
                <a:spcPts val="0"/>
              </a:spcBef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краткосрочные финансовые вложения</a:t>
            </a:r>
          </a:p>
          <a:p>
            <a:pPr lvl="1">
              <a:spcBef>
                <a:spcPts val="0"/>
              </a:spcBef>
            </a:pP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это активы, которые приносят организации доход в форме процентов, дивидендов…</a:t>
            </a:r>
          </a:p>
          <a:p>
            <a:pPr lvl="2">
              <a:spcBef>
                <a:spcPts val="0"/>
              </a:spcBef>
            </a:pP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например: ценные бумаги; вклады в уставные (складочные) капиталы других организаций; займы, предоставленные другим организациям; 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  <a:hlinkClick r:id="rId2" tooltip="дебиторская задолженность (определение, описание, подробности)"/>
              </a:rPr>
              <a:t>дебиторская задолженность</a:t>
            </a:r>
            <a:r>
              <a:rPr lang="ru-RU" sz="1600" dirty="0">
                <a:latin typeface="Calibri" panose="020F0502020204030204" pitchFamily="34" charset="0"/>
                <a:cs typeface="Calibri" panose="020F0502020204030204" pitchFamily="34" charset="0"/>
              </a:rPr>
              <a:t>, приобретенная по договору цессии на основании уступки права требования; вклады организации-товарища по договору простого товарищества</a:t>
            </a:r>
          </a:p>
          <a:p>
            <a:pPr>
              <a:spcBef>
                <a:spcPts val="0"/>
              </a:spcBef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НДС по приобретенным ценностям</a:t>
            </a:r>
          </a:p>
          <a:p>
            <a:pPr>
              <a:spcBef>
                <a:spcPts val="0"/>
              </a:spcBef>
            </a:pPr>
            <a:r>
              <a:rPr lang="ru-RU" sz="2400" dirty="0">
                <a:latin typeface="Calibri" panose="020F0502020204030204" pitchFamily="34" charset="0"/>
                <a:cs typeface="Calibri" panose="020F0502020204030204" pitchFamily="34" charset="0"/>
              </a:rPr>
              <a:t>прочие активы, удовлетворяющие признакам ОА</a:t>
            </a:r>
          </a:p>
        </p:txBody>
      </p:sp>
    </p:spTree>
    <p:extLst>
      <p:ext uri="{BB962C8B-B14F-4D97-AF65-F5344CB8AC3E}">
        <p14:creationId xmlns:p14="http://schemas.microsoft.com/office/powerpoint/2010/main" val="389412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Группа 42"/>
          <p:cNvGrpSpPr/>
          <p:nvPr/>
        </p:nvGrpSpPr>
        <p:grpSpPr>
          <a:xfrm>
            <a:off x="1403648" y="781840"/>
            <a:ext cx="7344816" cy="5258433"/>
            <a:chOff x="0" y="0"/>
            <a:chExt cx="6922563" cy="5258465"/>
          </a:xfrm>
        </p:grpSpPr>
        <p:sp>
          <p:nvSpPr>
            <p:cNvPr id="44" name="Надпись 3"/>
            <p:cNvSpPr txBox="1"/>
            <p:nvPr/>
          </p:nvSpPr>
          <p:spPr>
            <a:xfrm>
              <a:off x="2030818" y="0"/>
              <a:ext cx="2600325" cy="31432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Оборотный капитал предприятия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45" name="Надпись 4"/>
            <p:cNvSpPr txBox="1"/>
            <p:nvPr/>
          </p:nvSpPr>
          <p:spPr>
            <a:xfrm>
              <a:off x="308344" y="637954"/>
              <a:ext cx="2038350" cy="48577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 dirty="0">
                  <a:effectLst/>
                  <a:latin typeface="Calibri"/>
                  <a:ea typeface="Calibri"/>
                  <a:cs typeface="Times New Roman"/>
                </a:rPr>
                <a:t>Оборотные производственные фонды</a:t>
              </a:r>
              <a:endParaRPr lang="ru-RU" sz="11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46" name="Надпись 5"/>
            <p:cNvSpPr txBox="1"/>
            <p:nvPr/>
          </p:nvSpPr>
          <p:spPr>
            <a:xfrm>
              <a:off x="2828260" y="669851"/>
              <a:ext cx="1733550" cy="46672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Краткосрочные финансовые вложения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47" name="Надпись 7"/>
            <p:cNvSpPr txBox="1"/>
            <p:nvPr/>
          </p:nvSpPr>
          <p:spPr>
            <a:xfrm>
              <a:off x="5050465" y="637954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Фонды обращения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 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48" name="Прямая со стрелкой 47"/>
            <p:cNvCxnSpPr/>
            <p:nvPr/>
          </p:nvCxnSpPr>
          <p:spPr>
            <a:xfrm>
              <a:off x="3572539" y="361507"/>
              <a:ext cx="0" cy="2952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Прямая со стрелкой 48"/>
            <p:cNvCxnSpPr/>
            <p:nvPr/>
          </p:nvCxnSpPr>
          <p:spPr>
            <a:xfrm>
              <a:off x="4603897" y="361507"/>
              <a:ext cx="49530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Прямая со стрелкой 49"/>
            <p:cNvCxnSpPr/>
            <p:nvPr/>
          </p:nvCxnSpPr>
          <p:spPr>
            <a:xfrm flipH="1">
              <a:off x="1658679" y="361507"/>
              <a:ext cx="333375" cy="276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Надпись 11"/>
            <p:cNvSpPr txBox="1"/>
            <p:nvPr/>
          </p:nvSpPr>
          <p:spPr>
            <a:xfrm>
              <a:off x="318976" y="1318437"/>
              <a:ext cx="2038350" cy="4953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 dirty="0">
                  <a:effectLst/>
                  <a:latin typeface="Calibri"/>
                  <a:ea typeface="Calibri"/>
                  <a:cs typeface="Times New Roman"/>
                </a:rPr>
                <a:t>Производственные запасы</a:t>
              </a:r>
              <a:endParaRPr lang="ru-RU" sz="1100" dirty="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2" name="Надпись 12"/>
            <p:cNvSpPr txBox="1"/>
            <p:nvPr/>
          </p:nvSpPr>
          <p:spPr>
            <a:xfrm>
              <a:off x="2828260" y="1307805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Незавершенное производство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3" name="Надпись 13"/>
            <p:cNvSpPr txBox="1"/>
            <p:nvPr/>
          </p:nvSpPr>
          <p:spPr>
            <a:xfrm>
              <a:off x="329609" y="2020186"/>
              <a:ext cx="2038350" cy="48577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Вспомогательные материалы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4" name="Надпись 14"/>
            <p:cNvSpPr txBox="1"/>
            <p:nvPr/>
          </p:nvSpPr>
          <p:spPr>
            <a:xfrm>
              <a:off x="2711302" y="2030819"/>
              <a:ext cx="1714500" cy="48577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Расходы будущих периодов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5" name="Надпись 15"/>
            <p:cNvSpPr txBox="1"/>
            <p:nvPr/>
          </p:nvSpPr>
          <p:spPr>
            <a:xfrm>
              <a:off x="329609" y="2700670"/>
              <a:ext cx="2038350" cy="48577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Топливо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6" name="Надпись 16"/>
            <p:cNvSpPr txBox="1"/>
            <p:nvPr/>
          </p:nvSpPr>
          <p:spPr>
            <a:xfrm>
              <a:off x="606055" y="4167963"/>
              <a:ext cx="2038350" cy="304800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Запасы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7" name="Надпись 17"/>
            <p:cNvSpPr txBox="1"/>
            <p:nvPr/>
          </p:nvSpPr>
          <p:spPr>
            <a:xfrm>
              <a:off x="5050465" y="1318437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Готовая продукция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8" name="Надпись 18"/>
            <p:cNvSpPr txBox="1"/>
            <p:nvPr/>
          </p:nvSpPr>
          <p:spPr>
            <a:xfrm>
              <a:off x="5050465" y="2030819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Товары отгруженные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59" name="Надпись 19"/>
            <p:cNvSpPr txBox="1"/>
            <p:nvPr/>
          </p:nvSpPr>
          <p:spPr>
            <a:xfrm>
              <a:off x="5050465" y="2700670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Денежные средства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60" name="Надпись 20"/>
            <p:cNvSpPr txBox="1"/>
            <p:nvPr/>
          </p:nvSpPr>
          <p:spPr>
            <a:xfrm>
              <a:off x="5050465" y="3381154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Средства в прочих расчетах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61" name="Надпись 21"/>
            <p:cNvSpPr txBox="1"/>
            <p:nvPr/>
          </p:nvSpPr>
          <p:spPr>
            <a:xfrm>
              <a:off x="2955851" y="4944140"/>
              <a:ext cx="3162300" cy="3143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Денежные средства и средства в расчетах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sp>
          <p:nvSpPr>
            <p:cNvPr id="62" name="Надпись 22"/>
            <p:cNvSpPr txBox="1"/>
            <p:nvPr/>
          </p:nvSpPr>
          <p:spPr>
            <a:xfrm>
              <a:off x="5050465" y="4051005"/>
              <a:ext cx="1733550" cy="466725"/>
            </a:xfrm>
            <a:prstGeom prst="rect">
              <a:avLst/>
            </a:prstGeom>
            <a:solidFill>
              <a:sysClr val="window" lastClr="FFFFFF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ru-RU" sz="1200">
                  <a:effectLst/>
                  <a:latin typeface="Calibri"/>
                  <a:ea typeface="Calibri"/>
                  <a:cs typeface="Times New Roman"/>
                </a:rPr>
                <a:t>Дебиторская задолженность</a:t>
              </a:r>
              <a:endParaRPr lang="ru-RU" sz="1100">
                <a:effectLst/>
                <a:latin typeface="Calibri"/>
                <a:ea typeface="Calibri"/>
                <a:cs typeface="Times New Roman"/>
              </a:endParaRPr>
            </a:p>
          </p:txBody>
        </p:sp>
        <p:cxnSp>
          <p:nvCxnSpPr>
            <p:cNvPr id="63" name="Соединительная линия уступом 62"/>
            <p:cNvCxnSpPr/>
            <p:nvPr/>
          </p:nvCxnSpPr>
          <p:spPr>
            <a:xfrm>
              <a:off x="308344" y="882502"/>
              <a:ext cx="276225" cy="3457575"/>
            </a:xfrm>
            <a:prstGeom prst="bentConnector3">
              <a:avLst>
                <a:gd name="adj1" fmla="val -115445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Прямая со стрелкой 63"/>
            <p:cNvCxnSpPr/>
            <p:nvPr/>
          </p:nvCxnSpPr>
          <p:spPr>
            <a:xfrm>
              <a:off x="0" y="2934586"/>
              <a:ext cx="36195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 стрелкой 64"/>
            <p:cNvCxnSpPr/>
            <p:nvPr/>
          </p:nvCxnSpPr>
          <p:spPr>
            <a:xfrm>
              <a:off x="0" y="2286000"/>
              <a:ext cx="3333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Прямая со стрелкой 65"/>
            <p:cNvCxnSpPr/>
            <p:nvPr/>
          </p:nvCxnSpPr>
          <p:spPr>
            <a:xfrm>
              <a:off x="0" y="1584251"/>
              <a:ext cx="33337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Соединительная линия уступом 66"/>
            <p:cNvCxnSpPr>
              <a:endCxn id="56" idx="3"/>
            </p:cNvCxnSpPr>
            <p:nvPr/>
          </p:nvCxnSpPr>
          <p:spPr>
            <a:xfrm rot="5400000">
              <a:off x="2320335" y="1844084"/>
              <a:ext cx="2800350" cy="215220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 стрелкой 67"/>
            <p:cNvCxnSpPr/>
            <p:nvPr/>
          </p:nvCxnSpPr>
          <p:spPr>
            <a:xfrm>
              <a:off x="4423144" y="2286000"/>
              <a:ext cx="1714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Соединительная линия уступом 68"/>
            <p:cNvCxnSpPr/>
            <p:nvPr/>
          </p:nvCxnSpPr>
          <p:spPr>
            <a:xfrm>
              <a:off x="2349795" y="882502"/>
              <a:ext cx="361950" cy="14192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Прямая со стрелкой 69"/>
            <p:cNvCxnSpPr/>
            <p:nvPr/>
          </p:nvCxnSpPr>
          <p:spPr>
            <a:xfrm>
              <a:off x="2530548" y="1594884"/>
              <a:ext cx="1619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Соединительная линия уступом 70"/>
            <p:cNvCxnSpPr/>
            <p:nvPr/>
          </p:nvCxnSpPr>
          <p:spPr>
            <a:xfrm flipH="1">
              <a:off x="6485860" y="861237"/>
              <a:ext cx="45719" cy="3457575"/>
            </a:xfrm>
            <a:prstGeom prst="bentConnector3">
              <a:avLst>
                <a:gd name="adj1" fmla="val -837951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 стрелкой 71"/>
            <p:cNvCxnSpPr/>
            <p:nvPr/>
          </p:nvCxnSpPr>
          <p:spPr>
            <a:xfrm flipH="1">
              <a:off x="6528390" y="1552354"/>
              <a:ext cx="390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Прямая со стрелкой 72"/>
            <p:cNvCxnSpPr/>
            <p:nvPr/>
          </p:nvCxnSpPr>
          <p:spPr>
            <a:xfrm flipH="1">
              <a:off x="6507125" y="2243470"/>
              <a:ext cx="40957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 стрелкой 73"/>
            <p:cNvCxnSpPr/>
            <p:nvPr/>
          </p:nvCxnSpPr>
          <p:spPr>
            <a:xfrm flipH="1">
              <a:off x="6539023" y="2902688"/>
              <a:ext cx="3835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Прямая со стрелкой 74"/>
            <p:cNvCxnSpPr/>
            <p:nvPr/>
          </p:nvCxnSpPr>
          <p:spPr>
            <a:xfrm flipH="1">
              <a:off x="6528390" y="3540642"/>
              <a:ext cx="3905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 стрелкой 75"/>
            <p:cNvCxnSpPr/>
            <p:nvPr/>
          </p:nvCxnSpPr>
          <p:spPr>
            <a:xfrm>
              <a:off x="5677786" y="4518837"/>
              <a:ext cx="0" cy="447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 стрелкой 76"/>
            <p:cNvCxnSpPr>
              <a:endCxn id="52" idx="3"/>
            </p:cNvCxnSpPr>
            <p:nvPr/>
          </p:nvCxnSpPr>
          <p:spPr>
            <a:xfrm flipH="1">
              <a:off x="4561810" y="1531088"/>
              <a:ext cx="234802" cy="100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Прямая со стрелкой 77"/>
            <p:cNvCxnSpPr/>
            <p:nvPr/>
          </p:nvCxnSpPr>
          <p:spPr>
            <a:xfrm>
              <a:off x="4688958" y="2275368"/>
              <a:ext cx="19050" cy="2667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endCxn id="58" idx="1"/>
            </p:cNvCxnSpPr>
            <p:nvPr/>
          </p:nvCxnSpPr>
          <p:spPr>
            <a:xfrm flipV="1">
              <a:off x="4699590" y="2264182"/>
              <a:ext cx="350875" cy="111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 стрелкой 79"/>
            <p:cNvCxnSpPr/>
            <p:nvPr/>
          </p:nvCxnSpPr>
          <p:spPr>
            <a:xfrm flipH="1">
              <a:off x="4710223" y="2945219"/>
              <a:ext cx="904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 стрелкой 80"/>
            <p:cNvCxnSpPr/>
            <p:nvPr/>
          </p:nvCxnSpPr>
          <p:spPr>
            <a:xfrm flipH="1">
              <a:off x="4720855" y="3615070"/>
              <a:ext cx="806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6549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0016" y="116632"/>
            <a:ext cx="7673671" cy="576064"/>
          </a:xfrm>
        </p:spPr>
        <p:txBody>
          <a:bodyPr>
            <a:noAutofit/>
          </a:bodyPr>
          <a:lstStyle/>
          <a:p>
            <a:pPr algn="r"/>
            <a:r>
              <a:rPr lang="ru-RU" sz="3200" b="1" i="1" dirty="0"/>
              <a:t>Управление запасами</a:t>
            </a:r>
            <a:endParaRPr lang="ru-RU" sz="32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59632" y="836712"/>
            <a:ext cx="7632848" cy="5904656"/>
          </a:xfrm>
        </p:spPr>
        <p:txBody>
          <a:bodyPr>
            <a:normAutofit fontScale="62500" lnSpcReduction="20000"/>
          </a:bodyPr>
          <a:lstStyle/>
          <a:p>
            <a:r>
              <a:rPr lang="ru-RU" sz="3000" dirty="0"/>
              <a:t>Что такое запасы</a:t>
            </a:r>
            <a:endParaRPr lang="ru-RU" dirty="0"/>
          </a:p>
          <a:p>
            <a:pPr lvl="1"/>
            <a:r>
              <a:rPr lang="ru-RU" sz="2600" dirty="0"/>
              <a:t>промежуточные относительно </a:t>
            </a:r>
            <a:r>
              <a:rPr lang="ru-RU" sz="2600" b="1" dirty="0"/>
              <a:t>статичные</a:t>
            </a:r>
            <a:r>
              <a:rPr lang="ru-RU" sz="2600" dirty="0"/>
              <a:t> активы</a:t>
            </a:r>
          </a:p>
          <a:p>
            <a:pPr lvl="1"/>
            <a:r>
              <a:rPr lang="ru-RU" sz="2600" dirty="0"/>
              <a:t>важнейший элемент ОА</a:t>
            </a:r>
          </a:p>
          <a:p>
            <a:pPr lvl="1"/>
            <a:r>
              <a:rPr lang="ru-RU" dirty="0"/>
              <a:t>включают</a:t>
            </a:r>
          </a:p>
          <a:p>
            <a:pPr lvl="2"/>
            <a:r>
              <a:rPr lang="ru-RU" dirty="0"/>
              <a:t>запасы материальных ресурсов (сырье, материалы, комплектующие)</a:t>
            </a:r>
          </a:p>
          <a:p>
            <a:pPr lvl="2"/>
            <a:r>
              <a:rPr lang="ru-RU" dirty="0"/>
              <a:t>запасы товарных остатков (запасы готовой продукции на складе)</a:t>
            </a:r>
            <a:endParaRPr lang="ru-RU" sz="2600" dirty="0"/>
          </a:p>
          <a:p>
            <a:r>
              <a:rPr lang="ru-RU" sz="3000" dirty="0"/>
              <a:t>Типичные проблемы</a:t>
            </a:r>
          </a:p>
          <a:p>
            <a:pPr lvl="1"/>
            <a:r>
              <a:rPr lang="ru-RU" sz="2600" dirty="0"/>
              <a:t>Избыточный уровень запасов</a:t>
            </a:r>
          </a:p>
          <a:p>
            <a:pPr lvl="2"/>
            <a:r>
              <a:rPr lang="ru-RU" u="sng" dirty="0"/>
              <a:t>РОСТ</a:t>
            </a:r>
            <a:r>
              <a:rPr lang="ru-RU" dirty="0"/>
              <a:t> издержек на хранение, риск порчи или хищения, неликвид</a:t>
            </a:r>
          </a:p>
          <a:p>
            <a:pPr lvl="1"/>
            <a:r>
              <a:rPr lang="ru-RU" sz="2600" dirty="0"/>
              <a:t>Недостаточный уровень запасов</a:t>
            </a:r>
          </a:p>
          <a:p>
            <a:pPr lvl="2"/>
            <a:r>
              <a:rPr lang="ru-RU" dirty="0"/>
              <a:t>остановка производства, нарушение ритмичности</a:t>
            </a:r>
          </a:p>
          <a:p>
            <a:pPr lvl="2"/>
            <a:r>
              <a:rPr lang="ru-RU" dirty="0"/>
              <a:t>убытки из-за простоя оборудования, выплат повременной оплаты труда</a:t>
            </a:r>
          </a:p>
          <a:p>
            <a:r>
              <a:rPr lang="ru-RU" sz="3000" dirty="0"/>
              <a:t>Управление запасами</a:t>
            </a:r>
          </a:p>
          <a:p>
            <a:pPr lvl="1"/>
            <a:r>
              <a:rPr lang="ru-RU" sz="2600" dirty="0"/>
              <a:t>две стадии (два звена) непрерывного процесса кругооборота ОК</a:t>
            </a:r>
          </a:p>
          <a:p>
            <a:pPr lvl="1"/>
            <a:r>
              <a:rPr lang="ru-RU" sz="2600" dirty="0"/>
              <a:t>поддержание оптимальной величины текущего остатка через критерии - производственной логистики (эффективности) и  финансовой устойчивости</a:t>
            </a:r>
            <a:endParaRPr lang="ru-RU" dirty="0"/>
          </a:p>
          <a:p>
            <a:r>
              <a:rPr lang="ru-RU" sz="3000" dirty="0"/>
              <a:t>Прикладные модели управления</a:t>
            </a:r>
          </a:p>
          <a:p>
            <a:pPr lvl="1"/>
            <a:r>
              <a:rPr lang="ru-RU" sz="2600" dirty="0"/>
              <a:t>Модель </a:t>
            </a:r>
            <a:r>
              <a:rPr lang="en-US" sz="2600" dirty="0"/>
              <a:t>EOQ</a:t>
            </a:r>
            <a:r>
              <a:rPr lang="ru-RU" sz="2600" dirty="0"/>
              <a:t> </a:t>
            </a:r>
            <a:r>
              <a:rPr lang="en-US" sz="2600" dirty="0"/>
              <a:t>(Economic Order Quantity</a:t>
            </a:r>
            <a:r>
              <a:rPr lang="ru-RU" sz="2600" dirty="0"/>
              <a:t>) - </a:t>
            </a:r>
            <a:r>
              <a:rPr lang="ru-RU" dirty="0"/>
              <a:t>оптимальная величина запаса; </a:t>
            </a:r>
            <a:r>
              <a:rPr lang="ru-RU" sz="2600" dirty="0"/>
              <a:t>Модель </a:t>
            </a:r>
            <a:r>
              <a:rPr lang="en-US" sz="2600" dirty="0"/>
              <a:t>EPR (Economic Production Run</a:t>
            </a:r>
            <a:r>
              <a:rPr lang="ru-RU" sz="2600" dirty="0"/>
              <a:t>) - </a:t>
            </a:r>
            <a:r>
              <a:rPr lang="ru-RU" dirty="0"/>
              <a:t>оптимальная партия выпуска</a:t>
            </a:r>
          </a:p>
        </p:txBody>
      </p:sp>
    </p:spTree>
    <p:extLst>
      <p:ext uri="{BB962C8B-B14F-4D97-AF65-F5344CB8AC3E}">
        <p14:creationId xmlns:p14="http://schemas.microsoft.com/office/powerpoint/2010/main" val="413885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0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0"/>
                            </p:stCondLst>
                            <p:childTnLst>
                              <p:par>
                                <p:cTn id="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000"/>
                            </p:stCondLst>
                            <p:childTnLst>
                              <p:par>
                                <p:cTn id="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6000"/>
                            </p:stCondLst>
                            <p:childTnLst>
                              <p:par>
                                <p:cTn id="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800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2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2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22114"/>
          </a:xfrm>
        </p:spPr>
        <p:txBody>
          <a:bodyPr>
            <a:noAutofit/>
          </a:bodyPr>
          <a:lstStyle/>
          <a:p>
            <a:pPr algn="r"/>
            <a:r>
              <a:rPr lang="ru-RU" sz="3600" i="1" dirty="0"/>
              <a:t>Дебиторская задолженность: основные моменты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1340768"/>
            <a:ext cx="7498080" cy="5184576"/>
          </a:xfrm>
        </p:spPr>
        <p:txBody>
          <a:bodyPr>
            <a:noAutofit/>
          </a:bodyPr>
          <a:lstStyle/>
          <a:p>
            <a:pPr marL="457200" lvl="0" indent="-457200" eaLnBrk="0" fontAlgn="base" hangingPunct="0"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rgbClr val="000000"/>
                </a:solidFill>
                <a:cs typeface="Arial" panose="020B0604020202020204" pitchFamily="34" charset="0"/>
              </a:rPr>
              <a:t>ДЗ - задолженность перед организацией (</a:t>
            </a:r>
            <a:r>
              <a:rPr lang="ru-RU" sz="2000" b="1" dirty="0">
                <a:solidFill>
                  <a:srgbClr val="FF0000"/>
                </a:solidFill>
                <a:cs typeface="Arial" panose="020B0604020202020204" pitchFamily="34" charset="0"/>
              </a:rPr>
              <a:t>нами</a:t>
            </a:r>
            <a:r>
              <a:rPr lang="ru-RU" sz="20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</a:p>
          <a:p>
            <a:pPr marL="731520" lvl="1" indent="-457200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иначе, </a:t>
            </a:r>
            <a:r>
              <a:rPr lang="ru-RU" sz="1800" u="sng" dirty="0">
                <a:solidFill>
                  <a:srgbClr val="000000"/>
                </a:solidFill>
                <a:cs typeface="Arial" panose="020B0604020202020204" pitchFamily="34" charset="0"/>
              </a:rPr>
              <a:t>долги к получению</a:t>
            </a:r>
          </a:p>
          <a:p>
            <a:pPr marL="731520" lvl="1" indent="-457200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существенное влияние на обеспеченность ОА</a:t>
            </a:r>
          </a:p>
          <a:p>
            <a:pPr marL="731520" lvl="1" indent="-457200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динамичный и вариабельный элемент (перед запасами)</a:t>
            </a:r>
          </a:p>
          <a:p>
            <a:pPr marL="457200" indent="-457200" eaLnBrk="0" fontAlgn="base" hangingPunct="0"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2000" dirty="0">
                <a:solidFill>
                  <a:srgbClr val="000000"/>
                </a:solidFill>
                <a:cs typeface="Arial" panose="020B0604020202020204" pitchFamily="34" charset="0"/>
              </a:rPr>
              <a:t>ДЗ возникает</a:t>
            </a:r>
          </a:p>
          <a:p>
            <a:pPr marL="731520" lvl="1" indent="-457200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когда товары (работы, услуги) реализованы, а денежные средства за них еще не получены</a:t>
            </a:r>
          </a:p>
          <a:p>
            <a:pPr marL="731520" lvl="1" indent="-457200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когда поставщику выплачен аванс, а авансированные товары (работы, услуги) еще не поступили</a:t>
            </a:r>
          </a:p>
          <a:p>
            <a:pPr marL="457200" indent="-457200" eaLnBrk="0" fontAlgn="base" hangingPunct="0"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2000" dirty="0"/>
              <a:t>Быстрореализуемый актив с так называемой «убывающей полезностью»</a:t>
            </a:r>
          </a:p>
          <a:p>
            <a:pPr marL="457200" indent="-457200" eaLnBrk="0" fontAlgn="base" hangingPunct="0"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2000" dirty="0"/>
              <a:t>Общий срок исковой давности по её взысканию составляет 36 месяцев</a:t>
            </a:r>
          </a:p>
          <a:p>
            <a:pPr marL="731520" lvl="1" indent="-457200" eaLnBrk="0" fontAlgn="base" hangingPunct="0"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/>
              <a:t>до истечения срока – либо взыскана, либо продана</a:t>
            </a:r>
          </a:p>
          <a:p>
            <a:pPr marL="731520" lvl="1" indent="-457200" eaLnBrk="0" fontAlgn="base" hangingPunct="0"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ru-RU" sz="1800" dirty="0"/>
              <a:t>после - списание на убыток</a:t>
            </a:r>
          </a:p>
        </p:txBody>
      </p:sp>
    </p:spTree>
    <p:extLst>
      <p:ext uri="{BB962C8B-B14F-4D97-AF65-F5344CB8AC3E}">
        <p14:creationId xmlns:p14="http://schemas.microsoft.com/office/powerpoint/2010/main" val="3018613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B6837-15E8-0FE7-E6A1-A56BDED2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94122"/>
          </a:xfrm>
        </p:spPr>
        <p:txBody>
          <a:bodyPr>
            <a:noAutofit/>
          </a:bodyPr>
          <a:lstStyle/>
          <a:p>
            <a:r>
              <a:rPr lang="ru-RU" sz="3200" dirty="0"/>
              <a:t>Основные причины продажи дебиторской задолженности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36DB4-8DAF-B990-55EE-578C07CF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340768"/>
            <a:ext cx="7250096" cy="5242594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Продажа ДЗ - решение об уступке права требования долга или цессия долга</a:t>
            </a:r>
          </a:p>
          <a:p>
            <a:r>
              <a:rPr lang="ru-RU" dirty="0"/>
              <a:t>Две основные причины</a:t>
            </a:r>
          </a:p>
          <a:p>
            <a:pPr lvl="1"/>
            <a:r>
              <a:rPr lang="ru-RU" dirty="0"/>
              <a:t>свободные денежные средства / срочно нужны деньги</a:t>
            </a:r>
          </a:p>
          <a:p>
            <a:pPr lvl="2"/>
            <a:r>
              <a:rPr lang="ru-RU" dirty="0"/>
              <a:t>необходимо провести срочные платежи (</a:t>
            </a:r>
            <a:r>
              <a:rPr lang="ru-RU" i="1" dirty="0"/>
              <a:t>например, оплату за поставки сырья, налоговые сборы или задолженность по заработной плате)</a:t>
            </a:r>
          </a:p>
          <a:p>
            <a:pPr lvl="2"/>
            <a:r>
              <a:rPr lang="ru-RU" dirty="0"/>
              <a:t>инвестиции в развитие </a:t>
            </a:r>
            <a:r>
              <a:rPr lang="ru-RU" i="1" dirty="0"/>
              <a:t>(например, для обновления оборудования и перехода на новый уровень производства)</a:t>
            </a:r>
          </a:p>
          <a:p>
            <a:pPr lvl="1"/>
            <a:r>
              <a:rPr lang="ru-RU" dirty="0"/>
              <a:t>нет желания вступать с должником в судебные споры</a:t>
            </a:r>
          </a:p>
          <a:p>
            <a:pPr lvl="2"/>
            <a:r>
              <a:rPr lang="ru-RU" dirty="0"/>
              <a:t>с контрагентом налажено длительное плодотворное взаимодействие</a:t>
            </a:r>
          </a:p>
          <a:p>
            <a:r>
              <a:rPr lang="ru-RU" dirty="0"/>
              <a:t>Продажа ДЗ</a:t>
            </a:r>
          </a:p>
          <a:p>
            <a:pPr lvl="1"/>
            <a:r>
              <a:rPr lang="ru-RU" dirty="0"/>
              <a:t>электронно-торговые площадки (ЭТП) — это онлайн-платформы для проведения электронных торгов, работающие по принципу аукциона: заинтересованные покупатели выставляют цену, за которую готовы выкупить долг, и при необходимости повышают ее</a:t>
            </a:r>
          </a:p>
          <a:p>
            <a:pPr lvl="1"/>
            <a:r>
              <a:rPr lang="ru-RU" dirty="0"/>
              <a:t>специализированные инвестиционные компании</a:t>
            </a:r>
          </a:p>
          <a:p>
            <a:pPr lvl="1"/>
            <a:r>
              <a:rPr lang="ru-RU" dirty="0"/>
              <a:t>маркетплейсы</a:t>
            </a:r>
          </a:p>
          <a:p>
            <a:pPr lvl="1"/>
            <a:r>
              <a:rPr lang="ru-RU" dirty="0"/>
              <a:t>факторинговые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247865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BC77D-8FC4-FDC8-AE9A-0431E80C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продажи ДЗ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5CA5DA-3F53-1F72-A4CF-72FDF0C04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3556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Клиент расплачивается в розничном магазине кредитной картой</a:t>
            </a:r>
          </a:p>
          <a:p>
            <a:r>
              <a:rPr lang="ru-RU" dirty="0"/>
              <a:t>Поставщик электроэнергии поставляет электроэнергию на месяц, но получает оплату в начале следующего месяца</a:t>
            </a:r>
          </a:p>
          <a:p>
            <a:r>
              <a:rPr lang="ru-RU" dirty="0"/>
              <a:t>Арендодатель разрешает компании A платить за аренду офиса в конце каждого месяца</a:t>
            </a:r>
          </a:p>
          <a:p>
            <a:r>
              <a:rPr lang="ru-RU" dirty="0"/>
              <a:t>Арбитражный управляющий </a:t>
            </a:r>
            <a:r>
              <a:rPr lang="ru-RU" u="sng" dirty="0"/>
              <a:t>не стал дожидаться</a:t>
            </a:r>
            <a:r>
              <a:rPr lang="ru-RU" dirty="0"/>
              <a:t> получения квартир от застройщика и продал их как ДЗ на торгах. Верховный Суд РФ отменил судебные акты и направил дело на новое рассмотрение. Оказалось, что под видом ДЗ на торгах были проданы практически готовые квартиры (жилой дом был введен в эксплуатацию спустя полгода).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6227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60648"/>
            <a:ext cx="7498080" cy="720080"/>
          </a:xfrm>
        </p:spPr>
        <p:txBody>
          <a:bodyPr>
            <a:noAutofit/>
          </a:bodyPr>
          <a:lstStyle/>
          <a:p>
            <a:pPr algn="r"/>
            <a:r>
              <a:rPr lang="ru-RU" sz="3200" b="1" dirty="0"/>
              <a:t>Кредиторская задолженность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7664" y="1124744"/>
            <a:ext cx="7386024" cy="5544616"/>
          </a:xfrm>
        </p:spPr>
        <p:txBody>
          <a:bodyPr>
            <a:no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ru-RU" sz="1800" dirty="0"/>
              <a:t>краткосрочное </a:t>
            </a:r>
            <a:r>
              <a:rPr lang="ru-RU" sz="1800" dirty="0">
                <a:solidFill>
                  <a:srgbClr val="7030A0"/>
                </a:solidFill>
              </a:rPr>
              <a:t>спонтанное</a:t>
            </a:r>
            <a:r>
              <a:rPr lang="ru-RU" sz="1800" dirty="0"/>
              <a:t> финансирование предприятия</a:t>
            </a:r>
          </a:p>
          <a:p>
            <a:pPr marL="697230" lvl="1" indent="-285750"/>
            <a:r>
              <a:rPr lang="ru-RU" sz="1600" dirty="0"/>
              <a:t>задолженность перед контрагентами (</a:t>
            </a:r>
            <a:r>
              <a:rPr lang="ru-RU" sz="1600" u="sng" dirty="0"/>
              <a:t>торговая</a:t>
            </a:r>
            <a:r>
              <a:rPr lang="ru-RU" sz="1600" dirty="0"/>
              <a:t> КЗ)  или </a:t>
            </a:r>
            <a:r>
              <a:rPr lang="ru-RU" sz="1600" u="sng" dirty="0"/>
              <a:t>кредит</a:t>
            </a:r>
            <a:r>
              <a:rPr lang="ru-RU" sz="1600" dirty="0"/>
              <a:t>, предоставляемый фирме её поставщиками</a:t>
            </a:r>
          </a:p>
          <a:p>
            <a:pPr marL="697230" lvl="1" indent="-285750"/>
            <a:r>
              <a:rPr lang="ru-RU" sz="1600" dirty="0"/>
              <a:t>гибкая форма финансирования - автоматически растет или сокращается в зависимости от объемов деятельности фирмы</a:t>
            </a:r>
          </a:p>
          <a:p>
            <a:pPr marL="697230" lvl="1" indent="-285750"/>
            <a:r>
              <a:rPr lang="ru-RU" sz="1600" dirty="0"/>
              <a:t>возникает из-за обычной операционной деятельности</a:t>
            </a:r>
            <a:endParaRPr lang="ru-RU" sz="2000" dirty="0"/>
          </a:p>
          <a:p>
            <a:pPr lvl="1"/>
            <a:r>
              <a:rPr lang="ru-RU" sz="1600" dirty="0"/>
              <a:t>доступна кредитоспособным  компаниям и организациям</a:t>
            </a:r>
          </a:p>
          <a:p>
            <a:pPr marL="1099566" lvl="3" indent="-285750"/>
            <a:r>
              <a:rPr lang="ru-RU" sz="1400" dirty="0"/>
              <a:t>достаточная и стабильная выручка, удовлетворительная ликвидность, хорошая кредитная история, надежные взаимоотношения с поставщиками</a:t>
            </a:r>
          </a:p>
          <a:p>
            <a:pPr marL="539496" indent="-457200">
              <a:buFont typeface="+mj-lt"/>
              <a:buAutoNum type="arabicPeriod"/>
            </a:pPr>
            <a:r>
              <a:rPr lang="ru-RU" sz="1800" dirty="0">
                <a:solidFill>
                  <a:srgbClr val="7030A0"/>
                </a:solidFill>
              </a:rPr>
              <a:t>устойчивые</a:t>
            </a:r>
            <a:r>
              <a:rPr lang="ru-RU" sz="1800" dirty="0"/>
              <a:t> пассивы</a:t>
            </a:r>
          </a:p>
          <a:p>
            <a:pPr marL="889254" lvl="2" indent="-285750"/>
            <a:r>
              <a:rPr lang="ru-RU" sz="1600" dirty="0"/>
              <a:t>периодически возникает</a:t>
            </a:r>
          </a:p>
          <a:p>
            <a:pPr marL="889254" lvl="2" indent="-285750"/>
            <a:r>
              <a:rPr lang="ru-RU" sz="1600" dirty="0"/>
              <a:t>обладает постоянным объёмом</a:t>
            </a:r>
          </a:p>
          <a:p>
            <a:pPr marL="889254" lvl="2" indent="-285750"/>
            <a:r>
              <a:rPr lang="ru-RU" sz="1600" dirty="0"/>
              <a:t>стоимость отказа от скидки и </a:t>
            </a:r>
            <a:r>
              <a:rPr lang="en-US" sz="1600" dirty="0" err="1"/>
              <a:t>r</a:t>
            </a:r>
            <a:r>
              <a:rPr lang="en-US" sz="1600" baseline="-25000" dirty="0" err="1"/>
              <a:t>D</a:t>
            </a:r>
            <a:endParaRPr lang="ru-RU" sz="2000" baseline="-25000" dirty="0"/>
          </a:p>
          <a:p>
            <a:pPr marL="539496" indent="-457200">
              <a:buFont typeface="+mj-lt"/>
              <a:buAutoNum type="arabicPeriod"/>
            </a:pPr>
            <a:r>
              <a:rPr lang="ru-RU" sz="1800" dirty="0"/>
              <a:t>краткосрочные средства на денежных рынках</a:t>
            </a:r>
          </a:p>
          <a:p>
            <a:pPr lvl="1"/>
            <a:r>
              <a:rPr lang="ru-RU" sz="1600" dirty="0"/>
              <a:t>коммерческие банки</a:t>
            </a:r>
          </a:p>
          <a:p>
            <a:pPr lvl="1"/>
            <a:r>
              <a:rPr lang="ru-RU" sz="1600" dirty="0"/>
              <a:t>прямо пропорциональна объему деятельности предприятия</a:t>
            </a:r>
          </a:p>
          <a:p>
            <a:pPr marL="402336" lvl="1" indent="0" algn="ctr">
              <a:buNone/>
            </a:pPr>
            <a:r>
              <a:rPr lang="ru-RU" sz="1600" b="1" dirty="0">
                <a:solidFill>
                  <a:srgbClr val="7030A0"/>
                </a:solidFill>
              </a:rPr>
              <a:t>Бесплатный источник или нет</a:t>
            </a:r>
            <a:r>
              <a:rPr lang="ru-RU" sz="1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57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274638"/>
            <a:ext cx="7498080" cy="634082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Установление контроля через КЗ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35608" y="1196752"/>
            <a:ext cx="7498080" cy="547260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Покупатель – третье лицо – КЗ продавца</a:t>
            </a:r>
          </a:p>
          <a:p>
            <a:pPr lvl="1"/>
            <a:r>
              <a:rPr lang="ru-RU" dirty="0"/>
              <a:t>Покупатель – быстрое и искусственное создание КЗ продавца (договор займа или выдача векселя или уступка права требования КЗ других кредиторов) – исполнительное производство (суд или мировое соглашение – арест через ССП) – торги</a:t>
            </a:r>
          </a:p>
          <a:p>
            <a:r>
              <a:rPr lang="ru-RU" dirty="0"/>
              <a:t>Установление контроля через процедуру банкротства</a:t>
            </a:r>
          </a:p>
          <a:p>
            <a:r>
              <a:rPr lang="ru-RU" dirty="0"/>
              <a:t>Используется через</a:t>
            </a:r>
          </a:p>
          <a:p>
            <a:pPr lvl="1"/>
            <a:r>
              <a:rPr lang="ru-RU" dirty="0"/>
              <a:t>захват (корпоративные агрессоры)</a:t>
            </a:r>
          </a:p>
          <a:p>
            <a:pPr lvl="1"/>
            <a:r>
              <a:rPr lang="ru-RU" dirty="0"/>
              <a:t>дружественное поглощение (в интересах покупателя и продавца)</a:t>
            </a:r>
          </a:p>
          <a:p>
            <a:r>
              <a:rPr lang="ru-RU" dirty="0"/>
              <a:t>Преимущества:</a:t>
            </a:r>
          </a:p>
          <a:p>
            <a:pPr lvl="1"/>
            <a:r>
              <a:rPr lang="ru-RU" dirty="0"/>
              <a:t>конкретное имущество</a:t>
            </a:r>
          </a:p>
          <a:p>
            <a:pPr lvl="1"/>
            <a:r>
              <a:rPr lang="ru-RU" dirty="0"/>
              <a:t>игнорирование определенных процедур</a:t>
            </a:r>
          </a:p>
          <a:p>
            <a:pPr lvl="1"/>
            <a:r>
              <a:rPr lang="ru-RU" dirty="0"/>
              <a:t>минимизация налогового бремени</a:t>
            </a:r>
          </a:p>
          <a:p>
            <a:pPr lvl="1"/>
            <a:r>
              <a:rPr lang="ru-RU" dirty="0"/>
              <a:t>установление нужной стоимости</a:t>
            </a:r>
          </a:p>
          <a:p>
            <a:pPr lvl="1"/>
            <a:r>
              <a:rPr lang="ru-RU" dirty="0"/>
              <a:t>сложно оспариваемое право собственности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3453805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32" y="274638"/>
            <a:ext cx="7632848" cy="99412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ДЗ </a:t>
            </a:r>
            <a:r>
              <a:rPr lang="en-US" b="1" dirty="0"/>
              <a:t>vs</a:t>
            </a:r>
            <a:r>
              <a:rPr lang="ru-RU" b="1" dirty="0"/>
              <a:t> КЗ (</a:t>
            </a:r>
            <a:r>
              <a:rPr lang="en-US" b="1" dirty="0"/>
              <a:t>CL</a:t>
            </a:r>
            <a:r>
              <a:rPr lang="ru-RU" b="1" dirty="0"/>
              <a:t>)</a:t>
            </a:r>
            <a:br>
              <a:rPr lang="ru-RU" b="1" dirty="0"/>
            </a:br>
            <a:r>
              <a:rPr lang="en-US" sz="3600" b="1" dirty="0"/>
              <a:t>account receivable vs account payable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31640" y="1628800"/>
            <a:ext cx="7498080" cy="4968552"/>
          </a:xfrm>
        </p:spPr>
        <p:txBody>
          <a:bodyPr>
            <a:normAutofit fontScale="85000" lnSpcReduction="20000"/>
          </a:bodyPr>
          <a:lstStyle/>
          <a:p>
            <a:r>
              <a:rPr lang="ru-RU" sz="2800" dirty="0"/>
              <a:t>характеризующий соотношение между КЗ и ДЗ - соблюдение баланса</a:t>
            </a:r>
          </a:p>
          <a:p>
            <a:pPr lvl="1"/>
            <a:r>
              <a:rPr lang="ru-RU" sz="2400" dirty="0"/>
              <a:t>ОА – КЗ = ОК</a:t>
            </a:r>
          </a:p>
          <a:p>
            <a:pPr lvl="1"/>
            <a:r>
              <a:rPr lang="en-US" sz="2400" dirty="0"/>
              <a:t>(</a:t>
            </a:r>
            <a:r>
              <a:rPr lang="en-US" sz="2400" dirty="0" err="1"/>
              <a:t>Inv+cash</a:t>
            </a:r>
            <a:r>
              <a:rPr lang="en-US" sz="2400" dirty="0"/>
              <a:t>) + </a:t>
            </a:r>
            <a:r>
              <a:rPr lang="ru-RU" sz="2400" dirty="0"/>
              <a:t>(ДЗ – КЗ)</a:t>
            </a:r>
          </a:p>
          <a:p>
            <a:r>
              <a:rPr lang="ru-RU" sz="2800" dirty="0"/>
              <a:t>оценивают ликвидность баланса</a:t>
            </a:r>
          </a:p>
          <a:p>
            <a:r>
              <a:rPr lang="ru-RU" sz="2800" dirty="0"/>
              <a:t>оба краткосрочных показателя</a:t>
            </a:r>
          </a:p>
          <a:p>
            <a:r>
              <a:rPr lang="ru-RU" sz="2800" dirty="0"/>
              <a:t>зависимости предприятия от КЗ</a:t>
            </a:r>
          </a:p>
          <a:p>
            <a:pPr lvl="1"/>
            <a:r>
              <a:rPr lang="ru-RU" sz="2400" dirty="0"/>
              <a:t>какая часть активов финансируется за счет КЗ</a:t>
            </a:r>
          </a:p>
          <a:p>
            <a:pPr lvl="1"/>
            <a:r>
              <a:rPr lang="ru-RU" sz="2400" dirty="0"/>
              <a:t>если снизить КЗ, получим средства на инвестиции</a:t>
            </a:r>
          </a:p>
          <a:p>
            <a:r>
              <a:rPr lang="ru-RU" sz="2400" dirty="0"/>
              <a:t>коэффициент оборачиваемости ДЗ</a:t>
            </a:r>
          </a:p>
          <a:p>
            <a:pPr marL="82296" indent="0" algn="ctr">
              <a:buNone/>
            </a:pPr>
            <a:r>
              <a:rPr lang="en-US" sz="2600" dirty="0"/>
              <a:t>TR</a:t>
            </a:r>
            <a:r>
              <a:rPr lang="ru-RU" sz="2600" baseline="-25000" dirty="0"/>
              <a:t>ДЗ</a:t>
            </a:r>
            <a:r>
              <a:rPr lang="en-US" sz="2600" dirty="0"/>
              <a:t> </a:t>
            </a:r>
            <a:r>
              <a:rPr lang="ru-RU" sz="2600" dirty="0"/>
              <a:t>=</a:t>
            </a:r>
            <a:r>
              <a:rPr lang="en-US" sz="2600" dirty="0"/>
              <a:t> </a:t>
            </a:r>
            <a:r>
              <a:rPr lang="ru-RU" sz="2600" dirty="0"/>
              <a:t>(Средняя ДЗ*365)/(Выручка) </a:t>
            </a:r>
          </a:p>
          <a:p>
            <a:pPr lvl="1"/>
            <a:r>
              <a:rPr lang="ru-RU" sz="2400" dirty="0"/>
              <a:t>показывает период времени, в течение которого поступают денежные средства от покупателей</a:t>
            </a:r>
          </a:p>
          <a:p>
            <a:pPr lvl="1"/>
            <a:r>
              <a:rPr lang="ru-RU" sz="2400" dirty="0"/>
              <a:t>чем меньше величина этого показателя, тем лучше организована работа по управлению ДЗ</a:t>
            </a:r>
          </a:p>
        </p:txBody>
      </p:sp>
    </p:spTree>
    <p:extLst>
      <p:ext uri="{BB962C8B-B14F-4D97-AF65-F5344CB8AC3E}">
        <p14:creationId xmlns:p14="http://schemas.microsoft.com/office/powerpoint/2010/main" val="4137034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116632"/>
            <a:ext cx="7704856" cy="648072"/>
          </a:xfrm>
        </p:spPr>
        <p:txBody>
          <a:bodyPr>
            <a:noAutofit/>
          </a:bodyPr>
          <a:lstStyle/>
          <a:p>
            <a:pPr algn="ctr"/>
            <a:r>
              <a:rPr lang="ru-RU" sz="2400" b="1" i="1" dirty="0">
                <a:effectLst/>
              </a:rPr>
              <a:t>Дебиторская задолженность </a:t>
            </a:r>
            <a:r>
              <a:rPr lang="en-US" sz="2400" i="1" dirty="0"/>
              <a:t>vs</a:t>
            </a:r>
            <a:r>
              <a:rPr lang="ru-RU" sz="2400" b="1" i="1" dirty="0">
                <a:effectLst/>
              </a:rPr>
              <a:t> кредиторской задолженностью: управление</a:t>
            </a:r>
            <a:endParaRPr lang="ru-RU" sz="2400" b="1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671869"/>
              </p:ext>
            </p:extLst>
          </p:nvPr>
        </p:nvGraphicFramePr>
        <p:xfrm>
          <a:off x="1187624" y="836712"/>
          <a:ext cx="7776864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Критерии</a:t>
                      </a:r>
                      <a:r>
                        <a:rPr lang="ru-RU" sz="1700" baseline="0" dirty="0">
                          <a:latin typeface="+mn-lt"/>
                        </a:rPr>
                        <a:t> сравнения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ДЗ </a:t>
                      </a:r>
                      <a:r>
                        <a:rPr lang="en-US" sz="1700" dirty="0">
                          <a:latin typeface="+mn-lt"/>
                        </a:rPr>
                        <a:t>(</a:t>
                      </a:r>
                      <a:r>
                        <a:rPr lang="ru-RU" sz="1700" dirty="0">
                          <a:solidFill>
                            <a:srgbClr val="7030A0"/>
                          </a:solidFill>
                          <a:latin typeface="+mn-lt"/>
                        </a:rPr>
                        <a:t>должны нам</a:t>
                      </a:r>
                      <a:r>
                        <a:rPr lang="en-US" sz="1700" dirty="0">
                          <a:latin typeface="+mn-lt"/>
                        </a:rPr>
                        <a:t>)</a:t>
                      </a:r>
                      <a:endParaRPr lang="ru-RU" sz="1700" dirty="0">
                        <a:latin typeface="+mn-lt"/>
                      </a:endParaRPr>
                    </a:p>
                    <a:p>
                      <a:pPr algn="ctr"/>
                      <a:r>
                        <a:rPr lang="en-US" sz="1700" dirty="0">
                          <a:latin typeface="+mn-lt"/>
                        </a:rPr>
                        <a:t>account receivable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КЗ </a:t>
                      </a:r>
                      <a:r>
                        <a:rPr lang="en-US" sz="1700" dirty="0">
                          <a:latin typeface="+mn-lt"/>
                        </a:rPr>
                        <a:t>(</a:t>
                      </a:r>
                      <a:r>
                        <a:rPr lang="ru-RU" sz="1700" dirty="0">
                          <a:solidFill>
                            <a:srgbClr val="7030A0"/>
                          </a:solidFill>
                          <a:latin typeface="+mn-lt"/>
                        </a:rPr>
                        <a:t>должны мы</a:t>
                      </a:r>
                      <a:r>
                        <a:rPr lang="en-US" sz="1700" dirty="0">
                          <a:latin typeface="+mn-lt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+mn-lt"/>
                        </a:rPr>
                        <a:t>account payable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Суть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1" dirty="0">
                          <a:solidFill>
                            <a:srgbClr val="7030A0"/>
                          </a:solidFill>
                          <a:latin typeface="+mn-lt"/>
                          <a:cs typeface="Arial" panose="020B0604020202020204" pitchFamily="34" charset="0"/>
                        </a:rPr>
                        <a:t>к/ср</a:t>
                      </a:r>
                      <a:r>
                        <a:rPr lang="ru-RU" sz="1700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</a:rPr>
                        <a:t> долги к получению фирмой </a:t>
                      </a:r>
                      <a:r>
                        <a:rPr lang="ru-RU" sz="170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</a:rPr>
                        <a:t>от контрагентов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1" dirty="0">
                          <a:solidFill>
                            <a:srgbClr val="7030A0"/>
                          </a:solidFill>
                          <a:latin typeface="+mn-lt"/>
                        </a:rPr>
                        <a:t>к/ср</a:t>
                      </a:r>
                      <a:r>
                        <a:rPr lang="ru-RU" sz="1700" dirty="0">
                          <a:latin typeface="+mn-lt"/>
                        </a:rPr>
                        <a:t> задолженность фирмы перед контрагентами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700" baseline="0" dirty="0">
                          <a:latin typeface="+mn-lt"/>
                        </a:rPr>
                        <a:t>В структуре баланса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Активная</a:t>
                      </a:r>
                      <a:r>
                        <a:rPr lang="ru-RU" sz="1700" baseline="0" dirty="0">
                          <a:latin typeface="+mn-lt"/>
                        </a:rPr>
                        <a:t> часть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Устойчивые пассивы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Оценка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коэффициенты</a:t>
                      </a:r>
                      <a:r>
                        <a:rPr lang="ru-RU" sz="1700" baseline="0" dirty="0">
                          <a:latin typeface="+mn-lt"/>
                        </a:rPr>
                        <a:t> оборачиваемости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Условия возникновения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отгрузка</a:t>
                      </a:r>
                      <a:r>
                        <a:rPr lang="ru-RU" sz="1700" baseline="0" dirty="0">
                          <a:latin typeface="+mn-lt"/>
                        </a:rPr>
                        <a:t> товаров без оплаты, аванс под будущие поставки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торговое (контрагенты),</a:t>
                      </a:r>
                    </a:p>
                    <a:p>
                      <a:pPr algn="l"/>
                      <a:r>
                        <a:rPr lang="ru-RU" sz="1700" dirty="0">
                          <a:latin typeface="+mn-lt"/>
                        </a:rPr>
                        <a:t>кредитное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Управление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за счет ОА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за счет общих активов / ОА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700">
                        <a:latin typeface="+mn-l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за счет сокращения сроков (период погашения), соотношение</a:t>
                      </a:r>
                      <a:r>
                        <a:rPr lang="ru-RU" sz="1700" baseline="0" dirty="0">
                          <a:latin typeface="+mn-lt"/>
                        </a:rPr>
                        <a:t> между ними (в идеале «=»)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800"/>
                        <a:t>Финансовый цикл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запасы готовой продукции преобразуются в ДЗ, которая затем трансформируется снова в денежные средства, направляемые на погашение КЗ за сырье, материалы и услуги поставщиков</a:t>
                      </a:r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700" dirty="0">
                          <a:latin typeface="+mn-lt"/>
                        </a:rPr>
                        <a:t>Инструменты финансирования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традиционные и нетрадиционные</a:t>
                      </a:r>
                    </a:p>
                    <a:p>
                      <a:pPr algn="ctr"/>
                      <a:r>
                        <a:rPr lang="ru-RU" sz="1700" dirty="0">
                          <a:latin typeface="+mn-lt"/>
                        </a:rPr>
                        <a:t>(факторинг)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ru-RU" sz="17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923928" y="6381328"/>
            <a:ext cx="51845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sz="1200" dirty="0">
                <a:hlinkClick r:id="rId2"/>
              </a:rPr>
              <a:t>https://www.profiz.ru/se/8_2020/upravlenie_aktivami/</a:t>
            </a:r>
            <a:r>
              <a:rPr lang="ru-RU" sz="1200" dirty="0"/>
              <a:t>;</a:t>
            </a:r>
          </a:p>
          <a:p>
            <a:pPr algn="r"/>
            <a:r>
              <a:rPr lang="it-IT" sz="1200" dirty="0">
                <a:hlinkClick r:id="rId3"/>
              </a:rPr>
              <a:t>https://fin-accounting.ru/articles/2018/ifrs-9-financial-instrument</a:t>
            </a:r>
            <a:r>
              <a:rPr lang="ru-RU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3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2489</TotalTime>
  <Words>2765</Words>
  <Application>Microsoft Office PowerPoint</Application>
  <PresentationFormat>Экран (4:3)</PresentationFormat>
  <Paragraphs>462</Paragraphs>
  <Slides>32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3" baseType="lpstr">
      <vt:lpstr>Arial</vt:lpstr>
      <vt:lpstr>Calibri</vt:lpstr>
      <vt:lpstr>Century Gothic</vt:lpstr>
      <vt:lpstr>Corbel</vt:lpstr>
      <vt:lpstr>Gill Sans MT</vt:lpstr>
      <vt:lpstr>Times New Roman</vt:lpstr>
      <vt:lpstr>Verdana</vt:lpstr>
      <vt:lpstr>Wingdings</vt:lpstr>
      <vt:lpstr>Wingdings 2</vt:lpstr>
      <vt:lpstr>Солнцестояние</vt:lpstr>
      <vt:lpstr>Picture</vt:lpstr>
      <vt:lpstr>Тема 4. Управление источниками финансирования и ОА</vt:lpstr>
      <vt:lpstr>1. Классификация и виды источников финансирования</vt:lpstr>
      <vt:lpstr>Привлеченные или внешние источники</vt:lpstr>
      <vt:lpstr>Обыкновенные акции</vt:lpstr>
      <vt:lpstr>Финансирование компании с помощью обыкновенных акций</vt:lpstr>
      <vt:lpstr>Привилегированные акции</vt:lpstr>
      <vt:lpstr>Ключевые аспекты привилегированных акций</vt:lpstr>
      <vt:lpstr>Отличия и схожие черты между видами акций</vt:lpstr>
      <vt:lpstr>2. Управление собственным и заемным капиталом</vt:lpstr>
      <vt:lpstr>Нераспределённая прибыль (Capitalized Profit - CP)</vt:lpstr>
      <vt:lpstr>Виды заемных источников финансирования</vt:lpstr>
      <vt:lpstr>Плюсы и минусы заемных источников финансирования</vt:lpstr>
      <vt:lpstr>Обязательства</vt:lpstr>
      <vt:lpstr>Корпоративные облигации</vt:lpstr>
      <vt:lpstr>Про другие заемные источники</vt:lpstr>
      <vt:lpstr>3. Общая характеристика активов и внеоборотных активов </vt:lpstr>
      <vt:lpstr>Анализ активов</vt:lpstr>
      <vt:lpstr>Сравнение ОА и ВА</vt:lpstr>
      <vt:lpstr>Другие виды активов</vt:lpstr>
      <vt:lpstr>Классификация ВА</vt:lpstr>
      <vt:lpstr>Важно при анализе предприятия</vt:lpstr>
      <vt:lpstr>4. Оборотные активы: особенности управления</vt:lpstr>
      <vt:lpstr>Оборотные активы (по балансу)</vt:lpstr>
      <vt:lpstr>Презентация PowerPoint</vt:lpstr>
      <vt:lpstr>Управление запасами</vt:lpstr>
      <vt:lpstr>Дебиторская задолженность: основные моменты</vt:lpstr>
      <vt:lpstr>Основные причины продажи дебиторской задолженности</vt:lpstr>
      <vt:lpstr>Примеры продажи ДЗ</vt:lpstr>
      <vt:lpstr>Кредиторская задолженность</vt:lpstr>
      <vt:lpstr>Установление контроля через КЗ</vt:lpstr>
      <vt:lpstr>ДЗ vs КЗ (CL) account receivable vs account payable</vt:lpstr>
      <vt:lpstr>Дебиторская задолженность vs кредиторской задолженностью: управление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ФИНАНСОВЫЙ МЕНЕДЖМЕНТ</dc:title>
  <dc:creator>admin</dc:creator>
  <cp:lastModifiedBy>Пользователь Windows</cp:lastModifiedBy>
  <cp:revision>253</cp:revision>
  <cp:lastPrinted>2024-09-22T17:51:17Z</cp:lastPrinted>
  <dcterms:created xsi:type="dcterms:W3CDTF">2019-09-01T07:02:50Z</dcterms:created>
  <dcterms:modified xsi:type="dcterms:W3CDTF">2025-10-07T17:26:46Z</dcterms:modified>
</cp:coreProperties>
</file>