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7" r:id="rId2"/>
    <p:sldId id="278" r:id="rId3"/>
    <p:sldId id="258" r:id="rId4"/>
    <p:sldId id="259" r:id="rId5"/>
    <p:sldId id="353" r:id="rId6"/>
    <p:sldId id="260" r:id="rId7"/>
    <p:sldId id="366" r:id="rId8"/>
    <p:sldId id="291" r:id="rId9"/>
    <p:sldId id="365" r:id="rId10"/>
  </p:sldIdLst>
  <p:sldSz cx="12192000" cy="6858000"/>
  <p:notesSz cx="9926638" cy="67976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8" d="100"/>
          <a:sy n="108" d="100"/>
        </p:scale>
        <p:origin x="65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1"/>
            <a:ext cx="4301543" cy="341064"/>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5622798" y="1"/>
            <a:ext cx="4301543" cy="341064"/>
          </a:xfrm>
          <a:prstGeom prst="rect">
            <a:avLst/>
          </a:prstGeom>
        </p:spPr>
        <p:txBody>
          <a:bodyPr vert="horz" lIns="91440" tIns="45720" rIns="91440" bIns="45720" rtlCol="0"/>
          <a:lstStyle>
            <a:lvl1pPr algn="r">
              <a:defRPr sz="1200"/>
            </a:lvl1pPr>
          </a:lstStyle>
          <a:p>
            <a:fld id="{20439EB3-DF27-4529-8636-F26966877593}" type="datetimeFigureOut">
              <a:rPr lang="ru-RU" smtClean="0"/>
              <a:t>07.10.2025</a:t>
            </a:fld>
            <a:endParaRPr lang="ru-RU"/>
          </a:p>
        </p:txBody>
      </p:sp>
      <p:sp>
        <p:nvSpPr>
          <p:cNvPr id="4" name="Образ слайда 3"/>
          <p:cNvSpPr>
            <a:spLocks noGrp="1" noRot="1" noChangeAspect="1"/>
          </p:cNvSpPr>
          <p:nvPr>
            <p:ph type="sldImg" idx="2"/>
          </p:nvPr>
        </p:nvSpPr>
        <p:spPr>
          <a:xfrm>
            <a:off x="2924175" y="849313"/>
            <a:ext cx="4078288" cy="2293937"/>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992664" y="3271381"/>
            <a:ext cx="7941310" cy="2676585"/>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6456612"/>
            <a:ext cx="4301543" cy="341063"/>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5622798" y="6456612"/>
            <a:ext cx="4301543" cy="341063"/>
          </a:xfrm>
          <a:prstGeom prst="rect">
            <a:avLst/>
          </a:prstGeom>
        </p:spPr>
        <p:txBody>
          <a:bodyPr vert="horz" lIns="91440" tIns="45720" rIns="91440" bIns="45720" rtlCol="0" anchor="b"/>
          <a:lstStyle>
            <a:lvl1pPr algn="r">
              <a:defRPr sz="1200"/>
            </a:lvl1pPr>
          </a:lstStyle>
          <a:p>
            <a:fld id="{BB538B98-DA74-42B2-9770-420DEF092BC7}" type="slidenum">
              <a:rPr lang="ru-RU" smtClean="0"/>
              <a:t>‹#›</a:t>
            </a:fld>
            <a:endParaRPr lang="ru-RU"/>
          </a:p>
        </p:txBody>
      </p:sp>
    </p:spTree>
    <p:extLst>
      <p:ext uri="{BB962C8B-B14F-4D97-AF65-F5344CB8AC3E}">
        <p14:creationId xmlns:p14="http://schemas.microsoft.com/office/powerpoint/2010/main" val="3918708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BB538B98-DA74-42B2-9770-420DEF092BC7}" type="slidenum">
              <a:rPr lang="ru-RU" smtClean="0"/>
              <a:t>2</a:t>
            </a:fld>
            <a:endParaRPr lang="ru-RU"/>
          </a:p>
        </p:txBody>
      </p:sp>
    </p:spTree>
    <p:extLst>
      <p:ext uri="{BB962C8B-B14F-4D97-AF65-F5344CB8AC3E}">
        <p14:creationId xmlns:p14="http://schemas.microsoft.com/office/powerpoint/2010/main" val="3741174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ltLang="ru-RU" sz="1200" b="0" dirty="0"/>
              <a:t>Илья Ильф и Евгений Петров</a:t>
            </a:r>
            <a:endParaRPr lang="ru-RU" dirty="0"/>
          </a:p>
        </p:txBody>
      </p:sp>
      <p:sp>
        <p:nvSpPr>
          <p:cNvPr id="4" name="Номер слайда 3"/>
          <p:cNvSpPr>
            <a:spLocks noGrp="1"/>
          </p:cNvSpPr>
          <p:nvPr>
            <p:ph type="sldNum" sz="quarter" idx="10"/>
          </p:nvPr>
        </p:nvSpPr>
        <p:spPr/>
        <p:txBody>
          <a:bodyPr/>
          <a:lstStyle/>
          <a:p>
            <a:pPr>
              <a:defRPr/>
            </a:pPr>
            <a:fld id="{071BC734-C247-4CCC-9F07-506B65159936}" type="slidenum">
              <a:rPr lang="ru-RU" altLang="ru-RU" smtClean="0"/>
              <a:pPr>
                <a:defRPr/>
              </a:pPr>
              <a:t>5</a:t>
            </a:fld>
            <a:endParaRPr lang="ru-RU" altLang="ru-RU"/>
          </a:p>
        </p:txBody>
      </p:sp>
    </p:spTree>
    <p:extLst>
      <p:ext uri="{BB962C8B-B14F-4D97-AF65-F5344CB8AC3E}">
        <p14:creationId xmlns:p14="http://schemas.microsoft.com/office/powerpoint/2010/main" val="6844046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ru-RU"/>
              <a:t>Образец заголовка</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1C42EB2C-8C1E-4553-8AF4-12ED18BC73C7}" type="datetimeFigureOut">
              <a:rPr lang="ru-RU" smtClean="0"/>
              <a:t>07.10.2025</a:t>
            </a:fld>
            <a:endParaRPr lang="ru-RU"/>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ru-RU"/>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AFB978C3-EAAD-4C70-BC98-668011875CF4}" type="slidenum">
              <a:rPr lang="ru-RU" smtClean="0"/>
              <a:t>‹#›</a:t>
            </a:fld>
            <a:endParaRPr lang="ru-RU"/>
          </a:p>
        </p:txBody>
      </p:sp>
    </p:spTree>
    <p:extLst>
      <p:ext uri="{BB962C8B-B14F-4D97-AF65-F5344CB8AC3E}">
        <p14:creationId xmlns:p14="http://schemas.microsoft.com/office/powerpoint/2010/main" val="24352027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1C42EB2C-8C1E-4553-8AF4-12ED18BC73C7}" type="datetimeFigureOut">
              <a:rPr lang="ru-RU" smtClean="0"/>
              <a:t>07.10.2025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FB978C3-EAAD-4C70-BC98-668011875CF4}" type="slidenum">
              <a:rPr lang="ru-RU" smtClean="0"/>
              <a:t>‹#›</a:t>
            </a:fld>
            <a:endParaRPr lang="ru-RU"/>
          </a:p>
        </p:txBody>
      </p:sp>
    </p:spTree>
    <p:extLst>
      <p:ext uri="{BB962C8B-B14F-4D97-AF65-F5344CB8AC3E}">
        <p14:creationId xmlns:p14="http://schemas.microsoft.com/office/powerpoint/2010/main" val="2197666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ru-RU"/>
              <a:t>Образец заголовка</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1C42EB2C-8C1E-4553-8AF4-12ED18BC73C7}" type="datetimeFigureOut">
              <a:rPr lang="ru-RU" smtClean="0"/>
              <a:t>07.10.2025</a:t>
            </a:fld>
            <a:endParaRPr lang="ru-RU"/>
          </a:p>
        </p:txBody>
      </p:sp>
      <p:sp>
        <p:nvSpPr>
          <p:cNvPr id="5" name="Footer Placeholder 4"/>
          <p:cNvSpPr>
            <a:spLocks noGrp="1"/>
          </p:cNvSpPr>
          <p:nvPr>
            <p:ph type="ftr" sz="quarter" idx="11"/>
          </p:nvPr>
        </p:nvSpPr>
        <p:spPr/>
        <p:txBody>
          <a:bodyPr/>
          <a:lstStyle/>
          <a:p>
            <a:endParaRPr lang="ru-RU"/>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FB978C3-EAAD-4C70-BC98-668011875CF4}" type="slidenum">
              <a:rPr lang="ru-RU" smtClean="0"/>
              <a:t>‹#›</a:t>
            </a:fld>
            <a:endParaRPr lang="ru-RU"/>
          </a:p>
        </p:txBody>
      </p:sp>
    </p:spTree>
    <p:extLst>
      <p:ext uri="{BB962C8B-B14F-4D97-AF65-F5344CB8AC3E}">
        <p14:creationId xmlns:p14="http://schemas.microsoft.com/office/powerpoint/2010/main" val="30351213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1C42EB2C-8C1E-4553-8AF4-12ED18BC73C7}" type="datetimeFigureOut">
              <a:rPr lang="ru-RU" smtClean="0"/>
              <a:t>07.10.2025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AFB978C3-EAAD-4C70-BC98-668011875CF4}" type="slidenum">
              <a:rPr lang="ru-RU" smtClean="0"/>
              <a:t>‹#›</a:t>
            </a:fld>
            <a:endParaRPr lang="ru-RU"/>
          </a:p>
        </p:txBody>
      </p:sp>
    </p:spTree>
    <p:extLst>
      <p:ext uri="{BB962C8B-B14F-4D97-AF65-F5344CB8AC3E}">
        <p14:creationId xmlns:p14="http://schemas.microsoft.com/office/powerpoint/2010/main" val="729926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a:t>Образец заголовка</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1C42EB2C-8C1E-4553-8AF4-12ED18BC73C7}" type="datetimeFigureOut">
              <a:rPr lang="ru-RU" smtClean="0"/>
              <a:t>07.10.2025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AFB978C3-EAAD-4C70-BC98-668011875CF4}" type="slidenum">
              <a:rPr lang="ru-RU" smtClean="0"/>
              <a:t>‹#›</a:t>
            </a:fld>
            <a:endParaRPr lang="ru-RU"/>
          </a:p>
        </p:txBody>
      </p:sp>
    </p:spTree>
    <p:extLst>
      <p:ext uri="{BB962C8B-B14F-4D97-AF65-F5344CB8AC3E}">
        <p14:creationId xmlns:p14="http://schemas.microsoft.com/office/powerpoint/2010/main" val="16889720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1C42EB2C-8C1E-4553-8AF4-12ED18BC73C7}" type="datetimeFigureOut">
              <a:rPr lang="ru-RU" smtClean="0"/>
              <a:t>07.10.2025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AFB978C3-EAAD-4C70-BC98-668011875CF4}" type="slidenum">
              <a:rPr lang="ru-RU" smtClean="0"/>
              <a:t>‹#›</a:t>
            </a:fld>
            <a:endParaRPr lang="ru-RU"/>
          </a:p>
        </p:txBody>
      </p:sp>
    </p:spTree>
    <p:extLst>
      <p:ext uri="{BB962C8B-B14F-4D97-AF65-F5344CB8AC3E}">
        <p14:creationId xmlns:p14="http://schemas.microsoft.com/office/powerpoint/2010/main" val="3476183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42EB2C-8C1E-4553-8AF4-12ED18BC73C7}" type="datetimeFigureOut">
              <a:rPr lang="ru-RU" smtClean="0"/>
              <a:t>07.10.2025</a:t>
            </a:fld>
            <a:endParaRPr lang="ru-RU"/>
          </a:p>
        </p:txBody>
      </p:sp>
      <p:sp>
        <p:nvSpPr>
          <p:cNvPr id="3" name="Footer Placeholder 2"/>
          <p:cNvSpPr>
            <a:spLocks noGrp="1"/>
          </p:cNvSpPr>
          <p:nvPr>
            <p:ph type="ftr" sz="quarter" idx="11"/>
          </p:nvPr>
        </p:nvSpPr>
        <p:spPr/>
        <p:txBody>
          <a:bodyPr/>
          <a:lstStyle/>
          <a:p>
            <a:endParaRPr lang="ru-RU"/>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AFB978C3-EAAD-4C70-BC98-668011875CF4}" type="slidenum">
              <a:rPr lang="ru-RU" smtClean="0"/>
              <a:t>‹#›</a:t>
            </a:fld>
            <a:endParaRPr lang="ru-RU"/>
          </a:p>
        </p:txBody>
      </p:sp>
    </p:spTree>
    <p:extLst>
      <p:ext uri="{BB962C8B-B14F-4D97-AF65-F5344CB8AC3E}">
        <p14:creationId xmlns:p14="http://schemas.microsoft.com/office/powerpoint/2010/main" val="444592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ru-RU"/>
              <a:t>Образец заголовка</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1C42EB2C-8C1E-4553-8AF4-12ED18BC73C7}" type="datetimeFigureOut">
              <a:rPr lang="ru-RU" smtClean="0"/>
              <a:t>07.10.2025</a:t>
            </a:fld>
            <a:endParaRPr lang="ru-RU"/>
          </a:p>
        </p:txBody>
      </p:sp>
      <p:sp>
        <p:nvSpPr>
          <p:cNvPr id="6" name="Footer Placeholder 5"/>
          <p:cNvSpPr>
            <a:spLocks noGrp="1"/>
          </p:cNvSpPr>
          <p:nvPr>
            <p:ph type="ftr" sz="quarter" idx="11"/>
          </p:nvPr>
        </p:nvSpPr>
        <p:spPr/>
        <p:txBody>
          <a:bodyPr/>
          <a:lstStyle/>
          <a:p>
            <a:endParaRPr lang="ru-RU"/>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FB978C3-EAAD-4C70-BC98-668011875CF4}" type="slidenum">
              <a:rPr lang="ru-RU" smtClean="0"/>
              <a:t>‹#›</a:t>
            </a:fld>
            <a:endParaRPr lang="ru-RU"/>
          </a:p>
        </p:txBody>
      </p:sp>
    </p:spTree>
    <p:extLst>
      <p:ext uri="{BB962C8B-B14F-4D97-AF65-F5344CB8AC3E}">
        <p14:creationId xmlns:p14="http://schemas.microsoft.com/office/powerpoint/2010/main" val="626986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ru-RU"/>
              <a:t>Вставка рисунка</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1C42EB2C-8C1E-4553-8AF4-12ED18BC73C7}" type="datetimeFigureOut">
              <a:rPr lang="ru-RU" smtClean="0"/>
              <a:t>07.10.2025</a:t>
            </a:fld>
            <a:endParaRPr lang="ru-RU"/>
          </a:p>
        </p:txBody>
      </p:sp>
      <p:sp>
        <p:nvSpPr>
          <p:cNvPr id="6" name="Footer Placeholder 5"/>
          <p:cNvSpPr>
            <a:spLocks noGrp="1"/>
          </p:cNvSpPr>
          <p:nvPr>
            <p:ph type="ftr" sz="quarter" idx="11"/>
          </p:nvPr>
        </p:nvSpPr>
        <p:spPr/>
        <p:txBody>
          <a:bodyPr/>
          <a:lstStyle/>
          <a:p>
            <a:endParaRPr lang="ru-RU"/>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FB978C3-EAAD-4C70-BC98-668011875CF4}" type="slidenum">
              <a:rPr lang="ru-RU" smtClean="0"/>
              <a:t>‹#›</a:t>
            </a:fld>
            <a:endParaRPr lang="ru-RU"/>
          </a:p>
        </p:txBody>
      </p:sp>
    </p:spTree>
    <p:extLst>
      <p:ext uri="{BB962C8B-B14F-4D97-AF65-F5344CB8AC3E}">
        <p14:creationId xmlns:p14="http://schemas.microsoft.com/office/powerpoint/2010/main" val="3700906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1C42EB2C-8C1E-4553-8AF4-12ED18BC73C7}" type="datetimeFigureOut">
              <a:rPr lang="ru-RU" smtClean="0"/>
              <a:t>07.10.2025</a:t>
            </a:fld>
            <a:endParaRPr lang="ru-RU"/>
          </a:p>
        </p:txBody>
      </p:sp>
      <p:sp>
        <p:nvSpPr>
          <p:cNvPr id="6" name="Footer Placeholder 5"/>
          <p:cNvSpPr>
            <a:spLocks noGrp="1"/>
          </p:cNvSpPr>
          <p:nvPr>
            <p:ph type="ftr" sz="quarter" idx="11"/>
          </p:nvPr>
        </p:nvSpPr>
        <p:spPr/>
        <p:txBody>
          <a:bodyPr/>
          <a:lstStyle/>
          <a:p>
            <a:endParaRPr lang="ru-RU"/>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FB978C3-EAAD-4C70-BC98-668011875CF4}" type="slidenum">
              <a:rPr lang="ru-RU" smtClean="0"/>
              <a:t>‹#›</a:t>
            </a:fld>
            <a:endParaRPr lang="ru-RU"/>
          </a:p>
        </p:txBody>
      </p:sp>
    </p:spTree>
    <p:extLst>
      <p:ext uri="{BB962C8B-B14F-4D97-AF65-F5344CB8AC3E}">
        <p14:creationId xmlns:p14="http://schemas.microsoft.com/office/powerpoint/2010/main" val="1739211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Заголовок и подпись">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ru-RU"/>
              <a:t>Образец заголовка</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4" name="Date Placeholder 3"/>
          <p:cNvSpPr>
            <a:spLocks noGrp="1"/>
          </p:cNvSpPr>
          <p:nvPr>
            <p:ph type="dt" sz="half" idx="10"/>
          </p:nvPr>
        </p:nvSpPr>
        <p:spPr/>
        <p:txBody>
          <a:bodyPr/>
          <a:lstStyle/>
          <a:p>
            <a:fld id="{1C42EB2C-8C1E-4553-8AF4-12ED18BC73C7}" type="datetimeFigureOut">
              <a:rPr lang="ru-RU" smtClean="0"/>
              <a:t>07.10.2025</a:t>
            </a:fld>
            <a:endParaRPr lang="ru-RU"/>
          </a:p>
        </p:txBody>
      </p:sp>
      <p:sp>
        <p:nvSpPr>
          <p:cNvPr id="5" name="Footer Placeholder 4"/>
          <p:cNvSpPr>
            <a:spLocks noGrp="1"/>
          </p:cNvSpPr>
          <p:nvPr>
            <p:ph type="ftr" sz="quarter" idx="11"/>
          </p:nvPr>
        </p:nvSpPr>
        <p:spPr/>
        <p:txBody>
          <a:bodyPr/>
          <a:lstStyle/>
          <a:p>
            <a:endParaRPr lang="ru-RU"/>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FB978C3-EAAD-4C70-BC98-668011875CF4}" type="slidenum">
              <a:rPr lang="ru-RU" smtClean="0"/>
              <a:t>‹#›</a:t>
            </a:fld>
            <a:endParaRPr lang="ru-RU"/>
          </a:p>
        </p:txBody>
      </p:sp>
    </p:spTree>
    <p:extLst>
      <p:ext uri="{BB962C8B-B14F-4D97-AF65-F5344CB8AC3E}">
        <p14:creationId xmlns:p14="http://schemas.microsoft.com/office/powerpoint/2010/main" val="30692115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Цитата с подписью">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ru-RU"/>
              <a:t>Образец заголовка</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4" name="Date Placeholder 3"/>
          <p:cNvSpPr>
            <a:spLocks noGrp="1"/>
          </p:cNvSpPr>
          <p:nvPr>
            <p:ph type="dt" sz="half" idx="10"/>
          </p:nvPr>
        </p:nvSpPr>
        <p:spPr/>
        <p:txBody>
          <a:bodyPr/>
          <a:lstStyle/>
          <a:p>
            <a:fld id="{1C42EB2C-8C1E-4553-8AF4-12ED18BC73C7}" type="datetimeFigureOut">
              <a:rPr lang="ru-RU" smtClean="0"/>
              <a:t>07.10.2025</a:t>
            </a:fld>
            <a:endParaRPr lang="ru-RU"/>
          </a:p>
        </p:txBody>
      </p:sp>
      <p:sp>
        <p:nvSpPr>
          <p:cNvPr id="5" name="Footer Placeholder 4"/>
          <p:cNvSpPr>
            <a:spLocks noGrp="1"/>
          </p:cNvSpPr>
          <p:nvPr>
            <p:ph type="ftr" sz="quarter" idx="11"/>
          </p:nvPr>
        </p:nvSpPr>
        <p:spPr/>
        <p:txBody>
          <a:bodyPr/>
          <a:lstStyle/>
          <a:p>
            <a:endParaRPr lang="ru-RU"/>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FB978C3-EAAD-4C70-BC98-668011875CF4}" type="slidenum">
              <a:rPr lang="ru-RU" smtClean="0"/>
              <a:t>‹#›</a:t>
            </a:fld>
            <a:endParaRPr lang="ru-RU"/>
          </a:p>
        </p:txBody>
      </p:sp>
    </p:spTree>
    <p:extLst>
      <p:ext uri="{BB962C8B-B14F-4D97-AF65-F5344CB8AC3E}">
        <p14:creationId xmlns:p14="http://schemas.microsoft.com/office/powerpoint/2010/main" val="3169883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Карточка имени">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ru-RU"/>
              <a:t>Образец заголовка</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1C42EB2C-8C1E-4553-8AF4-12ED18BC73C7}" type="datetimeFigureOut">
              <a:rPr lang="ru-RU" smtClean="0"/>
              <a:t>07.10.2025</a:t>
            </a:fld>
            <a:endParaRPr lang="ru-RU"/>
          </a:p>
        </p:txBody>
      </p:sp>
      <p:sp>
        <p:nvSpPr>
          <p:cNvPr id="5" name="Footer Placeholder 4"/>
          <p:cNvSpPr>
            <a:spLocks noGrp="1"/>
          </p:cNvSpPr>
          <p:nvPr>
            <p:ph type="ftr" sz="quarter" idx="11"/>
          </p:nvPr>
        </p:nvSpPr>
        <p:spPr/>
        <p:txBody>
          <a:bodyPr/>
          <a:lstStyle/>
          <a:p>
            <a:endParaRPr lang="ru-RU"/>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FB978C3-EAAD-4C70-BC98-668011875CF4}" type="slidenum">
              <a:rPr lang="ru-RU" smtClean="0"/>
              <a:t>‹#›</a:t>
            </a:fld>
            <a:endParaRPr lang="ru-RU"/>
          </a:p>
        </p:txBody>
      </p:sp>
    </p:spTree>
    <p:extLst>
      <p:ext uri="{BB962C8B-B14F-4D97-AF65-F5344CB8AC3E}">
        <p14:creationId xmlns:p14="http://schemas.microsoft.com/office/powerpoint/2010/main" val="17742949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Три колонки">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ru-RU"/>
              <a:t>Образец заголовка</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C42EB2C-8C1E-4553-8AF4-12ED18BC73C7}" type="datetimeFigureOut">
              <a:rPr lang="ru-RU" smtClean="0"/>
              <a:t>07.10.2025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AFB978C3-EAAD-4C70-BC98-668011875CF4}" type="slidenum">
              <a:rPr lang="ru-RU" smtClean="0"/>
              <a:t>‹#›</a:t>
            </a:fld>
            <a:endParaRPr lang="ru-RU"/>
          </a:p>
        </p:txBody>
      </p:sp>
    </p:spTree>
    <p:extLst>
      <p:ext uri="{BB962C8B-B14F-4D97-AF65-F5344CB8AC3E}">
        <p14:creationId xmlns:p14="http://schemas.microsoft.com/office/powerpoint/2010/main" val="30076789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ru-RU"/>
              <a:t>Образец заголовка</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C42EB2C-8C1E-4553-8AF4-12ED18BC73C7}" type="datetimeFigureOut">
              <a:rPr lang="ru-RU" smtClean="0"/>
              <a:t>07.10.2025</a:t>
            </a:fld>
            <a:endParaRPr lang="ru-RU"/>
          </a:p>
        </p:txBody>
      </p:sp>
      <p:sp>
        <p:nvSpPr>
          <p:cNvPr id="8" name="Footer Placeholder 7"/>
          <p:cNvSpPr>
            <a:spLocks noGrp="1"/>
          </p:cNvSpPr>
          <p:nvPr>
            <p:ph type="ftr" sz="quarter" idx="11"/>
          </p:nvPr>
        </p:nvSpPr>
        <p:spPr>
          <a:xfrm>
            <a:off x="561111" y="6391838"/>
            <a:ext cx="3644282" cy="304801"/>
          </a:xfrm>
        </p:spPr>
        <p:txBody>
          <a:bodyPr/>
          <a:lstStyle/>
          <a:p>
            <a:endParaRPr lang="ru-RU"/>
          </a:p>
        </p:txBody>
      </p:sp>
      <p:sp>
        <p:nvSpPr>
          <p:cNvPr id="9" name="Slide Number Placeholder 8"/>
          <p:cNvSpPr>
            <a:spLocks noGrp="1"/>
          </p:cNvSpPr>
          <p:nvPr>
            <p:ph type="sldNum" sz="quarter" idx="12"/>
          </p:nvPr>
        </p:nvSpPr>
        <p:spPr/>
        <p:txBody>
          <a:bodyPr/>
          <a:lstStyle/>
          <a:p>
            <a:fld id="{AFB978C3-EAAD-4C70-BC98-668011875CF4}" type="slidenum">
              <a:rPr lang="ru-RU" smtClean="0"/>
              <a:t>‹#›</a:t>
            </a:fld>
            <a:endParaRPr lang="ru-RU"/>
          </a:p>
        </p:txBody>
      </p:sp>
    </p:spTree>
    <p:extLst>
      <p:ext uri="{BB962C8B-B14F-4D97-AF65-F5344CB8AC3E}">
        <p14:creationId xmlns:p14="http://schemas.microsoft.com/office/powerpoint/2010/main" val="42788403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1C42EB2C-8C1E-4553-8AF4-12ED18BC73C7}" type="datetimeFigureOut">
              <a:rPr lang="ru-RU" smtClean="0"/>
              <a:t>07.10.2025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AFB978C3-EAAD-4C70-BC98-668011875CF4}" type="slidenum">
              <a:rPr lang="ru-RU" smtClean="0"/>
              <a:t>‹#›</a:t>
            </a:fld>
            <a:endParaRPr lang="ru-RU"/>
          </a:p>
        </p:txBody>
      </p:sp>
    </p:spTree>
    <p:extLst>
      <p:ext uri="{BB962C8B-B14F-4D97-AF65-F5344CB8AC3E}">
        <p14:creationId xmlns:p14="http://schemas.microsoft.com/office/powerpoint/2010/main" val="38121576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ru-RU"/>
              <a:t>Образец заголовка</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1C42EB2C-8C1E-4553-8AF4-12ED18BC73C7}" type="datetimeFigureOut">
              <a:rPr lang="ru-RU" smtClean="0"/>
              <a:t>07.10.2025</a:t>
            </a:fld>
            <a:endParaRPr lang="ru-RU"/>
          </a:p>
        </p:txBody>
      </p:sp>
      <p:sp>
        <p:nvSpPr>
          <p:cNvPr id="5" name="Footer Placeholder 4"/>
          <p:cNvSpPr>
            <a:spLocks noGrp="1"/>
          </p:cNvSpPr>
          <p:nvPr>
            <p:ph type="ftr" sz="quarter" idx="11"/>
          </p:nvPr>
        </p:nvSpPr>
        <p:spPr/>
        <p:txBody>
          <a:bodyPr/>
          <a:lstStyle/>
          <a:p>
            <a:endParaRPr lang="ru-RU"/>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FB978C3-EAAD-4C70-BC98-668011875CF4}" type="slidenum">
              <a:rPr lang="ru-RU" smtClean="0"/>
              <a:t>‹#›</a:t>
            </a:fld>
            <a:endParaRPr lang="ru-RU"/>
          </a:p>
        </p:txBody>
      </p:sp>
    </p:spTree>
    <p:extLst>
      <p:ext uri="{BB962C8B-B14F-4D97-AF65-F5344CB8AC3E}">
        <p14:creationId xmlns:p14="http://schemas.microsoft.com/office/powerpoint/2010/main" val="23792037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Заголовок — по центру">
    <p:bg>
      <p:bgPr>
        <a:solidFill>
          <a:srgbClr val="FFFFFF"/>
        </a:solidFill>
        <a:effectLst/>
      </p:bgPr>
    </p:bg>
    <p:spTree>
      <p:nvGrpSpPr>
        <p:cNvPr id="1" name=""/>
        <p:cNvGrpSpPr/>
        <p:nvPr/>
      </p:nvGrpSpPr>
      <p:grpSpPr>
        <a:xfrm>
          <a:off x="0" y="0"/>
          <a:ext cx="0" cy="0"/>
          <a:chOff x="0" y="0"/>
          <a:chExt cx="0" cy="0"/>
        </a:xfrm>
      </p:grpSpPr>
      <p:sp>
        <p:nvSpPr>
          <p:cNvPr id="29" name="Номер слайда"/>
          <p:cNvSpPr txBox="1">
            <a:spLocks noGrp="1"/>
          </p:cNvSpPr>
          <p:nvPr>
            <p:ph type="sldNum" sz="quarter" idx="2"/>
          </p:nvPr>
        </p:nvSpPr>
        <p:spPr>
          <a:prstGeom prst="rect">
            <a:avLst/>
          </a:prstGeom>
        </p:spPr>
        <p:txBody>
          <a:bodyPr/>
          <a:lstStyle/>
          <a:p>
            <a:fld id="{86CB4B4D-7CA3-9044-876B-883B54F8677D}" type="slidenum">
              <a:rPr/>
              <a:pPr/>
              <a:t>‹#›</a:t>
            </a:fld>
            <a:endParaRPr/>
          </a:p>
        </p:txBody>
      </p:sp>
    </p:spTree>
    <p:extLst>
      <p:ext uri="{BB962C8B-B14F-4D97-AF65-F5344CB8AC3E}">
        <p14:creationId xmlns:p14="http://schemas.microsoft.com/office/powerpoint/2010/main" val="1476753174"/>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1_Заголовок и объект">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ru-RU"/>
              <a:t>Образец заголовка</a:t>
            </a:r>
            <a:endParaRPr lang="en-US"/>
          </a:p>
        </p:txBody>
      </p:sp>
      <p:sp>
        <p:nvSpPr>
          <p:cNvPr id="10" name="Content Placeholder 9"/>
          <p:cNvSpPr>
            <a:spLocks noGrp="1"/>
          </p:cNvSpPr>
          <p:nvPr>
            <p:ph sz="quarter" idx="13"/>
          </p:nvPr>
        </p:nvSpPr>
        <p:spPr>
          <a:xfrm>
            <a:off x="1524000" y="731520"/>
            <a:ext cx="8534400" cy="347472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4"/>
          </p:nvPr>
        </p:nvSpPr>
        <p:spPr/>
        <p:txBody>
          <a:bodyPr/>
          <a:lstStyle>
            <a:lvl1pPr>
              <a:defRPr/>
            </a:lvl1pPr>
          </a:lstStyle>
          <a:p>
            <a:pPr>
              <a:defRPr/>
            </a:pPr>
            <a:endParaRPr lang="ru-RU"/>
          </a:p>
        </p:txBody>
      </p:sp>
      <p:sp>
        <p:nvSpPr>
          <p:cNvPr id="5" name="Footer Placeholder 4"/>
          <p:cNvSpPr>
            <a:spLocks noGrp="1"/>
          </p:cNvSpPr>
          <p:nvPr>
            <p:ph type="ftr" sz="quarter" idx="15"/>
          </p:nvPr>
        </p:nvSpPr>
        <p:spPr/>
        <p:txBody>
          <a:bodyPr/>
          <a:lstStyle>
            <a:lvl1pPr>
              <a:defRPr/>
            </a:lvl1pPr>
          </a:lstStyle>
          <a:p>
            <a:pPr>
              <a:defRPr/>
            </a:pPr>
            <a:endParaRPr lang="ru-RU"/>
          </a:p>
        </p:txBody>
      </p:sp>
      <p:sp>
        <p:nvSpPr>
          <p:cNvPr id="6" name="Slide Number Placeholder 5"/>
          <p:cNvSpPr>
            <a:spLocks noGrp="1"/>
          </p:cNvSpPr>
          <p:nvPr>
            <p:ph type="sldNum" sz="quarter" idx="16"/>
          </p:nvPr>
        </p:nvSpPr>
        <p:spPr/>
        <p:txBody>
          <a:bodyPr/>
          <a:lstStyle>
            <a:lvl1pPr>
              <a:defRPr/>
            </a:lvl1pPr>
          </a:lstStyle>
          <a:p>
            <a:pPr>
              <a:defRPr/>
            </a:pPr>
            <a:fld id="{03BAFFD3-958D-4787-842D-66BD63568A14}" type="slidenum">
              <a:rPr lang="ru-RU" altLang="ru-RU"/>
              <a:pPr>
                <a:defRPr/>
              </a:pPr>
              <a:t>‹#›</a:t>
            </a:fld>
            <a:endParaRPr lang="ru-RU" altLang="ru-RU"/>
          </a:p>
        </p:txBody>
      </p:sp>
    </p:spTree>
    <p:extLst>
      <p:ext uri="{BB962C8B-B14F-4D97-AF65-F5344CB8AC3E}">
        <p14:creationId xmlns:p14="http://schemas.microsoft.com/office/powerpoint/2010/main" val="3403534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21">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ru-RU"/>
              <a:t>Образец заголовка</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C42EB2C-8C1E-4553-8AF4-12ED18BC73C7}" type="datetimeFigureOut">
              <a:rPr lang="ru-RU" smtClean="0"/>
              <a:t>07.10.2025</a:t>
            </a:fld>
            <a:endParaRPr lang="ru-RU"/>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ru-RU"/>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AFB978C3-EAAD-4C70-BC98-668011875CF4}" type="slidenum">
              <a:rPr lang="ru-RU" smtClean="0"/>
              <a:t>‹#›</a:t>
            </a:fld>
            <a:endParaRPr lang="ru-RU"/>
          </a:p>
        </p:txBody>
      </p:sp>
    </p:spTree>
    <p:extLst>
      <p:ext uri="{BB962C8B-B14F-4D97-AF65-F5344CB8AC3E}">
        <p14:creationId xmlns:p14="http://schemas.microsoft.com/office/powerpoint/2010/main" val="38006149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19.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DC89E45-DCA8-3888-6A9B-00A8B2B21A82}"/>
              </a:ext>
            </a:extLst>
          </p:cNvPr>
          <p:cNvSpPr>
            <a:spLocks noGrp="1"/>
          </p:cNvSpPr>
          <p:nvPr>
            <p:ph type="title"/>
          </p:nvPr>
        </p:nvSpPr>
        <p:spPr>
          <a:xfrm>
            <a:off x="1154954" y="559293"/>
            <a:ext cx="8761413" cy="1121339"/>
          </a:xfrm>
        </p:spPr>
        <p:txBody>
          <a:bodyPr/>
          <a:lstStyle/>
          <a:p>
            <a:r>
              <a:rPr lang="ru-RU" dirty="0"/>
              <a:t>Тема 5. Цифровые финансовые активы страховщика</a:t>
            </a:r>
          </a:p>
        </p:txBody>
      </p:sp>
      <p:sp>
        <p:nvSpPr>
          <p:cNvPr id="3" name="Объект 2">
            <a:extLst>
              <a:ext uri="{FF2B5EF4-FFF2-40B4-BE49-F238E27FC236}">
                <a16:creationId xmlns:a16="http://schemas.microsoft.com/office/drawing/2014/main" id="{DEF32E3A-6417-8224-491A-5484135F457B}"/>
              </a:ext>
            </a:extLst>
          </p:cNvPr>
          <p:cNvSpPr>
            <a:spLocks noGrp="1"/>
          </p:cNvSpPr>
          <p:nvPr>
            <p:ph idx="1"/>
          </p:nvPr>
        </p:nvSpPr>
        <p:spPr>
          <a:xfrm>
            <a:off x="870012" y="3020750"/>
            <a:ext cx="6347534" cy="2998310"/>
          </a:xfrm>
        </p:spPr>
        <p:txBody>
          <a:bodyPr>
            <a:normAutofit/>
          </a:bodyPr>
          <a:lstStyle/>
          <a:p>
            <a:pPr>
              <a:buFont typeface="+mj-lt"/>
              <a:buAutoNum type="arabicPeriod"/>
            </a:pPr>
            <a:r>
              <a:rPr lang="ru-RU" sz="2400" dirty="0"/>
              <a:t>Базовые характеристики страховой деятельности</a:t>
            </a:r>
          </a:p>
          <a:p>
            <a:pPr>
              <a:buFont typeface="+mj-lt"/>
              <a:buAutoNum type="arabicPeriod"/>
            </a:pPr>
            <a:r>
              <a:rPr lang="ru-RU" sz="2400" dirty="0"/>
              <a:t>Инвестиционная политика страховой организации</a:t>
            </a:r>
          </a:p>
          <a:p>
            <a:pPr>
              <a:buFont typeface="+mj-lt"/>
              <a:buAutoNum type="arabicPeriod"/>
            </a:pPr>
            <a:r>
              <a:rPr lang="ru-RU" sz="2400" dirty="0"/>
              <a:t>ЦФА страховщика – российская практика</a:t>
            </a:r>
          </a:p>
        </p:txBody>
      </p:sp>
      <p:pic>
        <p:nvPicPr>
          <p:cNvPr id="4" name="Picture 2" descr="Возможно, это изображение в мультипликационном стиле (текст «страховое агенство полис траховой ...вам надо только подписать здесь, здесь и здесь... днё- стра собщика!»)">
            <a:extLst>
              <a:ext uri="{FF2B5EF4-FFF2-40B4-BE49-F238E27FC236}">
                <a16:creationId xmlns:a16="http://schemas.microsoft.com/office/drawing/2014/main" id="{F7B502ED-8E5F-A892-4E8A-7B6C0AA430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6839" y="2375688"/>
            <a:ext cx="4415161" cy="4482312"/>
          </a:xfrm>
          <a:prstGeom prst="rect">
            <a:avLst/>
          </a:prstGeom>
          <a:noFill/>
          <a:extLst>
            <a:ext uri="{909E8E84-426E-40DD-AFC4-6F175D3DCCD1}">
              <a14:hiddenFill xmlns:a14="http://schemas.microsoft.com/office/drawing/2010/main">
                <a:solidFill>
                  <a:srgbClr val="FFFFFF"/>
                </a:solidFill>
              </a14:hiddenFill>
            </a:ext>
          </a:extLst>
        </p:spPr>
      </p:pic>
      <p:pic>
        <p:nvPicPr>
          <p:cNvPr id="128" name="Изображение" descr="Изображение"/>
          <p:cNvPicPr>
            <a:picLocks noChangeAspect="1"/>
          </p:cNvPicPr>
          <p:nvPr/>
        </p:nvPicPr>
        <p:blipFill>
          <a:blip r:embed="rId3" cstate="print"/>
          <a:stretch>
            <a:fillRect/>
          </a:stretch>
        </p:blipFill>
        <p:spPr>
          <a:xfrm>
            <a:off x="10515320" y="259398"/>
            <a:ext cx="599790" cy="599790"/>
          </a:xfrm>
          <a:prstGeom prst="rect">
            <a:avLst/>
          </a:prstGeom>
          <a:ln w="12700">
            <a:miter lim="400000"/>
          </a:ln>
        </p:spPr>
      </p:pic>
    </p:spTree>
    <p:extLst>
      <p:ext uri="{BB962C8B-B14F-4D97-AF65-F5344CB8AC3E}">
        <p14:creationId xmlns:p14="http://schemas.microsoft.com/office/powerpoint/2010/main" val="2395741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Линия"/>
          <p:cNvSpPr/>
          <p:nvPr/>
        </p:nvSpPr>
        <p:spPr>
          <a:xfrm>
            <a:off x="2077641" y="1107281"/>
            <a:ext cx="8036719" cy="0"/>
          </a:xfrm>
          <a:prstGeom prst="line">
            <a:avLst/>
          </a:prstGeom>
          <a:ln w="12700">
            <a:solidFill>
              <a:srgbClr val="253957"/>
            </a:solidFill>
            <a:miter lim="400000"/>
          </a:ln>
        </p:spPr>
        <p:txBody>
          <a:bodyPr lIns="35719" tIns="35719" rIns="35719" bIns="35719" anchor="ctr"/>
          <a:lstStyle/>
          <a:p>
            <a:pPr>
              <a:defRPr sz="2400"/>
            </a:pPr>
            <a:endParaRPr sz="1687"/>
          </a:p>
        </p:txBody>
      </p:sp>
      <p:sp>
        <p:nvSpPr>
          <p:cNvPr id="125"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p:cNvSpPr txBox="1"/>
          <p:nvPr/>
        </p:nvSpPr>
        <p:spPr>
          <a:xfrm>
            <a:off x="2801597" y="614469"/>
            <a:ext cx="6588806" cy="885718"/>
          </a:xfrm>
          <a:prstGeom prst="rect">
            <a:avLst/>
          </a:prstGeom>
          <a:ln w="12700">
            <a:miter lim="400000"/>
          </a:ln>
          <a:extLst>
            <a:ext uri="{C572A759-6A51-4108-AA02-DFA0A04FC94B}">
              <ma14:wrappingTextBoxFlag xmlns:ma14="http://schemas.microsoft.com/office/mac/drawingml/2011/main" xmlns="" val="1"/>
            </a:ext>
          </a:extLst>
        </p:spPr>
        <p:txBody>
          <a:bodyPr lIns="35719" tIns="35719" rIns="35719" bIns="35719"/>
          <a:lstStyle/>
          <a:p>
            <a:pPr>
              <a:spcAft>
                <a:spcPts val="422"/>
              </a:spcAft>
              <a:defRPr sz="2100">
                <a:solidFill>
                  <a:srgbClr val="253957"/>
                </a:solidFill>
                <a:latin typeface="+mn-lt"/>
                <a:ea typeface="+mn-ea"/>
                <a:cs typeface="+mn-cs"/>
                <a:sym typeface="Arial Narrow"/>
              </a:defRPr>
            </a:pPr>
            <a:r>
              <a:rPr lang="ru-RU" sz="2391" b="1" dirty="0">
                <a:solidFill>
                  <a:schemeClr val="bg1"/>
                </a:solidFill>
                <a:latin typeface="Arial Narrow" charset="0"/>
                <a:ea typeface="Arial Narrow" charset="0"/>
                <a:cs typeface="Arial Narrow" charset="0"/>
              </a:rPr>
              <a:t>Гипотеза:</a:t>
            </a:r>
            <a:r>
              <a:rPr lang="ru-RU" sz="2391" dirty="0">
                <a:solidFill>
                  <a:schemeClr val="bg1"/>
                </a:solidFill>
                <a:latin typeface="Arial Narrow" charset="0"/>
                <a:ea typeface="Arial Narrow" charset="0"/>
                <a:cs typeface="Arial Narrow" charset="0"/>
              </a:rPr>
              <a:t> Давай к нам. Страховка не обязательна</a:t>
            </a:r>
            <a:r>
              <a:rPr lang="ru-RU" sz="2391" dirty="0">
                <a:latin typeface="Arial Narrow" charset="0"/>
                <a:ea typeface="Arial Narrow" charset="0"/>
                <a:cs typeface="Arial Narrow" charset="0"/>
              </a:rPr>
              <a:t>.</a:t>
            </a:r>
          </a:p>
          <a:p>
            <a:pPr>
              <a:spcAft>
                <a:spcPts val="422"/>
              </a:spcAft>
              <a:defRPr sz="2100">
                <a:solidFill>
                  <a:srgbClr val="253957"/>
                </a:solidFill>
                <a:latin typeface="+mn-lt"/>
                <a:ea typeface="+mn-ea"/>
                <a:cs typeface="+mn-cs"/>
                <a:sym typeface="Arial Narrow"/>
              </a:defRPr>
            </a:pPr>
            <a:r>
              <a:rPr lang="ru-RU" sz="2391" b="1" dirty="0">
                <a:solidFill>
                  <a:srgbClr val="00B050"/>
                </a:solidFill>
                <a:latin typeface="Arial Narrow" charset="0"/>
                <a:ea typeface="Arial Narrow" charset="0"/>
                <a:cs typeface="Arial Narrow" charset="0"/>
              </a:rPr>
              <a:t>Так ли это?!</a:t>
            </a:r>
          </a:p>
        </p:txBody>
      </p:sp>
      <p:pic>
        <p:nvPicPr>
          <p:cNvPr id="3" name="Picture 2" descr="http://kissthemgoodbye.net/animation/albums/Shrek%202/S_2_088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90306" y="1861983"/>
            <a:ext cx="6318524" cy="3553730"/>
          </a:xfrm>
          <a:prstGeom prst="rect">
            <a:avLst/>
          </a:prstGeom>
          <a:noFill/>
          <a:extLst>
            <a:ext uri="{909E8E84-426E-40DD-AFC4-6F175D3DCCD1}">
              <a14:hiddenFill xmlns:a14="http://schemas.microsoft.com/office/drawing/2010/main">
                <a:solidFill>
                  <a:srgbClr val="FFFFFF"/>
                </a:solidFill>
              </a14:hiddenFill>
            </a:ext>
          </a:extLst>
        </p:spPr>
      </p:pic>
      <p:sp>
        <p:nvSpPr>
          <p:cNvPr id="6" name="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Text…"/>
          <p:cNvSpPr txBox="1"/>
          <p:nvPr/>
        </p:nvSpPr>
        <p:spPr>
          <a:xfrm>
            <a:off x="1898991" y="5741788"/>
            <a:ext cx="7813179" cy="857250"/>
          </a:xfrm>
          <a:prstGeom prst="rect">
            <a:avLst/>
          </a:prstGeom>
          <a:ln w="12700">
            <a:miter lim="400000"/>
          </a:ln>
          <a:extLst>
            <a:ext uri="{C572A759-6A51-4108-AA02-DFA0A04FC94B}">
              <ma14:wrappingTextBoxFlag xmlns:ma14="http://schemas.microsoft.com/office/mac/drawingml/2011/main" xmlns="" val="1"/>
            </a:ext>
          </a:extLst>
        </p:spPr>
        <p:txBody>
          <a:bodyPr lIns="35719" tIns="35719" rIns="35719" bIns="35719"/>
          <a:lstStyle/>
          <a:p>
            <a:pPr>
              <a:spcAft>
                <a:spcPts val="422"/>
              </a:spcAft>
              <a:defRPr sz="2100">
                <a:solidFill>
                  <a:srgbClr val="253957"/>
                </a:solidFill>
                <a:latin typeface="+mn-lt"/>
                <a:ea typeface="+mn-ea"/>
                <a:cs typeface="+mn-cs"/>
                <a:sym typeface="Arial Narrow"/>
              </a:defRPr>
            </a:pPr>
            <a:r>
              <a:rPr lang="ru-RU" sz="2391" b="1" dirty="0">
                <a:solidFill>
                  <a:srgbClr val="253957"/>
                </a:solidFill>
                <a:latin typeface="Arial Narrow" charset="0"/>
                <a:ea typeface="Arial Narrow" charset="0"/>
                <a:cs typeface="Arial Narrow" charset="0"/>
              </a:rPr>
              <a:t>ИЛИ</a:t>
            </a:r>
            <a:endParaRPr lang="ru-RU" sz="2391" b="1" dirty="0">
              <a:solidFill>
                <a:srgbClr val="00B050"/>
              </a:solidFill>
              <a:latin typeface="Arial Narrow" charset="0"/>
              <a:ea typeface="Arial Narrow" charset="0"/>
              <a:cs typeface="Arial Narrow" charset="0"/>
            </a:endParaRPr>
          </a:p>
          <a:p>
            <a:pPr>
              <a:defRPr sz="2100">
                <a:solidFill>
                  <a:srgbClr val="253957"/>
                </a:solidFill>
                <a:latin typeface="+mn-lt"/>
                <a:ea typeface="+mn-ea"/>
                <a:cs typeface="+mn-cs"/>
                <a:sym typeface="Arial Narrow"/>
              </a:defRPr>
            </a:pPr>
            <a:r>
              <a:rPr lang="ru-RU" altLang="ru-RU" sz="2250" dirty="0">
                <a:solidFill>
                  <a:srgbClr val="253957"/>
                </a:solidFill>
                <a:sym typeface="Arial Narrow"/>
              </a:rPr>
              <a:t>На Аллаха надейся - но верблюда привязывай?</a:t>
            </a:r>
            <a:endParaRPr lang="ru-RU" sz="2391" dirty="0">
              <a:latin typeface="Arial Narrow" charset="0"/>
              <a:ea typeface="Arial Narrow" charset="0"/>
              <a:cs typeface="Arial Narrow" charset="0"/>
            </a:endParaRPr>
          </a:p>
        </p:txBody>
      </p:sp>
      <p:pic>
        <p:nvPicPr>
          <p:cNvPr id="2" name="Изображение" descr="Изображение">
            <a:extLst>
              <a:ext uri="{FF2B5EF4-FFF2-40B4-BE49-F238E27FC236}">
                <a16:creationId xmlns:a16="http://schemas.microsoft.com/office/drawing/2014/main" id="{699384CD-A80A-BF4B-1A11-CCD7519A6A7E}"/>
              </a:ext>
            </a:extLst>
          </p:cNvPr>
          <p:cNvPicPr>
            <a:picLocks noChangeAspect="1"/>
          </p:cNvPicPr>
          <p:nvPr/>
        </p:nvPicPr>
        <p:blipFill>
          <a:blip r:embed="rId4" cstate="print"/>
          <a:stretch>
            <a:fillRect/>
          </a:stretch>
        </p:blipFill>
        <p:spPr>
          <a:xfrm>
            <a:off x="10515320" y="259398"/>
            <a:ext cx="599790" cy="599790"/>
          </a:xfrm>
          <a:prstGeom prst="rect">
            <a:avLst/>
          </a:prstGeom>
          <a:ln w="12700">
            <a:miter lim="400000"/>
          </a:ln>
        </p:spPr>
      </p:pic>
    </p:spTree>
    <p:extLst>
      <p:ext uri="{BB962C8B-B14F-4D97-AF65-F5344CB8AC3E}">
        <p14:creationId xmlns:p14="http://schemas.microsoft.com/office/powerpoint/2010/main" val="163671661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1000"/>
                                        <p:tgtEl>
                                          <p:spTgt spid="125"/>
                                        </p:tgtEl>
                                      </p:cBhvr>
                                    </p:animEffect>
                                    <p:anim calcmode="lin" valueType="num">
                                      <p:cBhvr>
                                        <p:cTn id="8" dur="1000" fill="hold"/>
                                        <p:tgtEl>
                                          <p:spTgt spid="125"/>
                                        </p:tgtEl>
                                        <p:attrNameLst>
                                          <p:attrName>ppt_x</p:attrName>
                                        </p:attrNameLst>
                                      </p:cBhvr>
                                      <p:tavLst>
                                        <p:tav tm="0">
                                          <p:val>
                                            <p:strVal val="#ppt_x"/>
                                          </p:val>
                                        </p:tav>
                                        <p:tav tm="100000">
                                          <p:val>
                                            <p:strVal val="#ppt_x"/>
                                          </p:val>
                                        </p:tav>
                                      </p:tavLst>
                                    </p:anim>
                                    <p:anim calcmode="lin" valueType="num">
                                      <p:cBhvr>
                                        <p:cTn id="9" dur="1000" fill="hold"/>
                                        <p:tgtEl>
                                          <p:spTgt spid="12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3DE632-B066-1235-FB73-02E841FA65BE}"/>
              </a:ext>
            </a:extLst>
          </p:cNvPr>
          <p:cNvSpPr>
            <a:spLocks noGrp="1"/>
          </p:cNvSpPr>
          <p:nvPr>
            <p:ph type="title"/>
          </p:nvPr>
        </p:nvSpPr>
        <p:spPr>
          <a:xfrm>
            <a:off x="1154954" y="683581"/>
            <a:ext cx="8761413" cy="997051"/>
          </a:xfrm>
        </p:spPr>
        <p:txBody>
          <a:bodyPr/>
          <a:lstStyle/>
          <a:p>
            <a:r>
              <a:rPr lang="ru-RU" dirty="0"/>
              <a:t>1. Базовые характеристики страховой деятельности</a:t>
            </a:r>
          </a:p>
        </p:txBody>
      </p:sp>
      <p:sp>
        <p:nvSpPr>
          <p:cNvPr id="3" name="Объект 2">
            <a:extLst>
              <a:ext uri="{FF2B5EF4-FFF2-40B4-BE49-F238E27FC236}">
                <a16:creationId xmlns:a16="http://schemas.microsoft.com/office/drawing/2014/main" id="{FFAB6504-AE13-F417-E240-854558DC75DA}"/>
              </a:ext>
            </a:extLst>
          </p:cNvPr>
          <p:cNvSpPr>
            <a:spLocks noGrp="1"/>
          </p:cNvSpPr>
          <p:nvPr>
            <p:ph idx="1"/>
          </p:nvPr>
        </p:nvSpPr>
        <p:spPr>
          <a:xfrm>
            <a:off x="196167" y="2612376"/>
            <a:ext cx="7625062" cy="4036999"/>
          </a:xfrm>
        </p:spPr>
        <p:txBody>
          <a:bodyPr>
            <a:normAutofit/>
          </a:bodyPr>
          <a:lstStyle/>
          <a:p>
            <a:r>
              <a:rPr lang="ru-RU" dirty="0"/>
              <a:t>Страхователь – Посредники страхового рынка – Страховщик</a:t>
            </a:r>
          </a:p>
          <a:p>
            <a:pPr lvl="1"/>
            <a:r>
              <a:rPr lang="ru-RU" dirty="0"/>
              <a:t>агенты, брокеры</a:t>
            </a:r>
          </a:p>
          <a:p>
            <a:pPr lvl="1"/>
            <a:r>
              <a:rPr lang="ru-RU" dirty="0" err="1"/>
              <a:t>аджастеры</a:t>
            </a:r>
            <a:r>
              <a:rPr lang="ru-RU" dirty="0"/>
              <a:t>, сюрвейеры, аварийные комиссары; диспашеры</a:t>
            </a:r>
          </a:p>
          <a:p>
            <a:pPr lvl="1"/>
            <a:r>
              <a:rPr lang="ru-RU" dirty="0"/>
              <a:t>другие каналы продаж (банки, почта, экосистема…)</a:t>
            </a:r>
          </a:p>
          <a:p>
            <a:r>
              <a:rPr lang="ru-RU" dirty="0"/>
              <a:t>Страховая премия – Страховой резерв - Страховая выплата</a:t>
            </a:r>
          </a:p>
          <a:p>
            <a:pPr lvl="1"/>
            <a:r>
              <a:rPr lang="ru-RU" dirty="0"/>
              <a:t>Резерв – под каждый вид страхования</a:t>
            </a:r>
          </a:p>
          <a:p>
            <a:pPr lvl="1"/>
            <a:r>
              <a:rPr lang="ru-RU" dirty="0"/>
              <a:t>Условно можно разделить – на краткосрочные и долгосрочные виды</a:t>
            </a:r>
          </a:p>
          <a:p>
            <a:r>
              <a:rPr lang="ru-RU" dirty="0"/>
              <a:t>Вопрос о достаточности размера созданного резерва</a:t>
            </a:r>
          </a:p>
          <a:p>
            <a:pPr lvl="1"/>
            <a:r>
              <a:rPr lang="ru-RU" dirty="0"/>
              <a:t>Финансовая устойчивость и платежеспособность</a:t>
            </a:r>
          </a:p>
        </p:txBody>
      </p:sp>
      <p:pic>
        <p:nvPicPr>
          <p:cNvPr id="4" name="Picture 5" descr="https://spbbuilding.ru/800/600/https/ob-ipoteke.info/wp-content/uploads/2017/11/uplata-strahovoy-premii-e1511907791289.jpg">
            <a:extLst>
              <a:ext uri="{FF2B5EF4-FFF2-40B4-BE49-F238E27FC236}">
                <a16:creationId xmlns:a16="http://schemas.microsoft.com/office/drawing/2014/main" id="{61582E2F-2575-BF84-5768-382DFECD76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73484" y="2228932"/>
            <a:ext cx="3420862" cy="2275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descr="https://img.getbg.net/upload/full/15/www.GetBg.net_Movies_Men_in_Black__3_055291_.jpg">
            <a:extLst>
              <a:ext uri="{FF2B5EF4-FFF2-40B4-BE49-F238E27FC236}">
                <a16:creationId xmlns:a16="http://schemas.microsoft.com/office/drawing/2014/main" id="{37DC3B96-C4D3-5BEF-CBCB-C465F788483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40250" y="4483227"/>
            <a:ext cx="3647812" cy="2361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Изображение" descr="Изображение">
            <a:extLst>
              <a:ext uri="{FF2B5EF4-FFF2-40B4-BE49-F238E27FC236}">
                <a16:creationId xmlns:a16="http://schemas.microsoft.com/office/drawing/2014/main" id="{13BABEC6-C1BC-C0A9-A822-F1420413BFA5}"/>
              </a:ext>
            </a:extLst>
          </p:cNvPr>
          <p:cNvPicPr>
            <a:picLocks noChangeAspect="1"/>
          </p:cNvPicPr>
          <p:nvPr/>
        </p:nvPicPr>
        <p:blipFill>
          <a:blip r:embed="rId4" cstate="print"/>
          <a:stretch>
            <a:fillRect/>
          </a:stretch>
        </p:blipFill>
        <p:spPr>
          <a:xfrm>
            <a:off x="10515320" y="259398"/>
            <a:ext cx="599790" cy="599790"/>
          </a:xfrm>
          <a:prstGeom prst="rect">
            <a:avLst/>
          </a:prstGeom>
          <a:ln w="12700">
            <a:miter lim="400000"/>
          </a:ln>
        </p:spPr>
      </p:pic>
    </p:spTree>
    <p:extLst>
      <p:ext uri="{BB962C8B-B14F-4D97-AF65-F5344CB8AC3E}">
        <p14:creationId xmlns:p14="http://schemas.microsoft.com/office/powerpoint/2010/main" val="1968577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1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wipe(down)">
                                      <p:cBhvr>
                                        <p:cTn id="22" dur="10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wipe(down)">
                                      <p:cBhvr>
                                        <p:cTn id="27" dur="10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wipe(down)">
                                      <p:cBhvr>
                                        <p:cTn id="32" dur="1000"/>
                                        <p:tgtEl>
                                          <p:spTgt spid="3">
                                            <p:txEl>
                                              <p:pRg st="2" end="2"/>
                                            </p:txEl>
                                          </p:spTgt>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wipe(down)">
                                      <p:cBhvr>
                                        <p:cTn id="35" dur="1000"/>
                                        <p:tgtEl>
                                          <p:spTgt spid="3">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wipe(down)">
                                      <p:cBhvr>
                                        <p:cTn id="40" dur="1000"/>
                                        <p:tgtEl>
                                          <p:spTgt spid="3">
                                            <p:txEl>
                                              <p:pRg st="4" end="4"/>
                                            </p:txEl>
                                          </p:spTgt>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Effect transition="in" filter="wipe(down)">
                                      <p:cBhvr>
                                        <p:cTn id="43" dur="1000"/>
                                        <p:tgtEl>
                                          <p:spTgt spid="3">
                                            <p:txEl>
                                              <p:pRg st="5" end="5"/>
                                            </p:txEl>
                                          </p:spTgt>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3">
                                            <p:txEl>
                                              <p:pRg st="6" end="6"/>
                                            </p:txEl>
                                          </p:spTgt>
                                        </p:tgtEl>
                                        <p:attrNameLst>
                                          <p:attrName>style.visibility</p:attrName>
                                        </p:attrNameLst>
                                      </p:cBhvr>
                                      <p:to>
                                        <p:strVal val="visible"/>
                                      </p:to>
                                    </p:set>
                                    <p:animEffect transition="in" filter="wipe(down)">
                                      <p:cBhvr>
                                        <p:cTn id="46" dur="1000"/>
                                        <p:tgtEl>
                                          <p:spTgt spid="3">
                                            <p:txEl>
                                              <p:pRg st="6" end="6"/>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3">
                                            <p:txEl>
                                              <p:pRg st="7" end="7"/>
                                            </p:txEl>
                                          </p:spTgt>
                                        </p:tgtEl>
                                        <p:attrNameLst>
                                          <p:attrName>style.visibility</p:attrName>
                                        </p:attrNameLst>
                                      </p:cBhvr>
                                      <p:to>
                                        <p:strVal val="visible"/>
                                      </p:to>
                                    </p:set>
                                    <p:animEffect transition="in" filter="wipe(down)">
                                      <p:cBhvr>
                                        <p:cTn id="51" dur="1000"/>
                                        <p:tgtEl>
                                          <p:spTgt spid="3">
                                            <p:txEl>
                                              <p:pRg st="7" end="7"/>
                                            </p:txEl>
                                          </p:spTgt>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3">
                                            <p:txEl>
                                              <p:pRg st="8" end="8"/>
                                            </p:txEl>
                                          </p:spTgt>
                                        </p:tgtEl>
                                        <p:attrNameLst>
                                          <p:attrName>style.visibility</p:attrName>
                                        </p:attrNameLst>
                                      </p:cBhvr>
                                      <p:to>
                                        <p:strVal val="visible"/>
                                      </p:to>
                                    </p:set>
                                    <p:animEffect transition="in" filter="wipe(down)">
                                      <p:cBhvr>
                                        <p:cTn id="54" dur="1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D96FCA-EF52-2E29-4FE2-857E5D311B25}"/>
              </a:ext>
            </a:extLst>
          </p:cNvPr>
          <p:cNvSpPr>
            <a:spLocks noGrp="1"/>
          </p:cNvSpPr>
          <p:nvPr>
            <p:ph type="title"/>
          </p:nvPr>
        </p:nvSpPr>
        <p:spPr>
          <a:xfrm>
            <a:off x="1154954" y="665825"/>
            <a:ext cx="8761413" cy="1014807"/>
          </a:xfrm>
        </p:spPr>
        <p:txBody>
          <a:bodyPr/>
          <a:lstStyle/>
          <a:p>
            <a:r>
              <a:rPr lang="ru-RU" dirty="0"/>
              <a:t>2. Инвестиционная политика страховой организации</a:t>
            </a:r>
          </a:p>
        </p:txBody>
      </p:sp>
      <p:sp>
        <p:nvSpPr>
          <p:cNvPr id="3" name="Объект 2">
            <a:extLst>
              <a:ext uri="{FF2B5EF4-FFF2-40B4-BE49-F238E27FC236}">
                <a16:creationId xmlns:a16="http://schemas.microsoft.com/office/drawing/2014/main" id="{A47B2234-5A4E-BA28-BC99-CEAE4901BEB7}"/>
              </a:ext>
            </a:extLst>
          </p:cNvPr>
          <p:cNvSpPr>
            <a:spLocks noGrp="1"/>
          </p:cNvSpPr>
          <p:nvPr>
            <p:ph idx="1"/>
          </p:nvPr>
        </p:nvSpPr>
        <p:spPr>
          <a:xfrm>
            <a:off x="719092" y="2603499"/>
            <a:ext cx="7679184" cy="3983732"/>
          </a:xfrm>
        </p:spPr>
        <p:txBody>
          <a:bodyPr>
            <a:normAutofit/>
          </a:bodyPr>
          <a:lstStyle/>
          <a:p>
            <a:r>
              <a:rPr lang="ru-RU" dirty="0"/>
              <a:t>Достаточность денежных средств в резерве</a:t>
            </a:r>
          </a:p>
          <a:p>
            <a:pPr lvl="1"/>
            <a:r>
              <a:rPr lang="ru-RU" dirty="0"/>
              <a:t>Тарифная политика страховщика</a:t>
            </a:r>
          </a:p>
          <a:p>
            <a:pPr lvl="2"/>
            <a:r>
              <a:rPr lang="ru-RU" dirty="0"/>
              <a:t>Оптимальная цена за полис</a:t>
            </a:r>
          </a:p>
          <a:p>
            <a:pPr lvl="2"/>
            <a:r>
              <a:rPr lang="ru-RU" dirty="0"/>
              <a:t>Страховая статистика – чем больше данных, тем точнее прогноз</a:t>
            </a:r>
          </a:p>
          <a:p>
            <a:pPr lvl="1"/>
            <a:r>
              <a:rPr lang="ru-RU" dirty="0"/>
              <a:t>Финансовая устойчивость и платежеспособность</a:t>
            </a:r>
          </a:p>
          <a:p>
            <a:pPr lvl="2"/>
            <a:r>
              <a:rPr lang="ru-RU" dirty="0"/>
              <a:t>соблюдение законодательных норм</a:t>
            </a:r>
          </a:p>
          <a:p>
            <a:pPr lvl="2"/>
            <a:r>
              <a:rPr lang="ru-RU" dirty="0"/>
              <a:t>длительная работа на рынке</a:t>
            </a:r>
          </a:p>
          <a:p>
            <a:pPr lvl="2"/>
            <a:r>
              <a:rPr lang="ru-RU" dirty="0"/>
              <a:t>ликвидность</a:t>
            </a:r>
          </a:p>
          <a:p>
            <a:pPr lvl="1"/>
            <a:r>
              <a:rPr lang="ru-RU" dirty="0"/>
              <a:t>Инвестиционная деятельность</a:t>
            </a:r>
          </a:p>
          <a:p>
            <a:pPr lvl="2"/>
            <a:r>
              <a:rPr lang="ru-RU" dirty="0"/>
              <a:t>доходность</a:t>
            </a:r>
          </a:p>
          <a:p>
            <a:pPr lvl="2"/>
            <a:r>
              <a:rPr lang="ru-RU" dirty="0"/>
              <a:t>законодательные правила</a:t>
            </a:r>
          </a:p>
        </p:txBody>
      </p:sp>
      <p:pic>
        <p:nvPicPr>
          <p:cNvPr id="4" name="Picture 5" descr="https://avatars.mds.yandex.net/get-zen_doc/1887445/pub_5dc1389798fe7900b0c8c6c7_5dc138e8a3f6e400b2f9c0c0/scale_1200">
            <a:extLst>
              <a:ext uri="{FF2B5EF4-FFF2-40B4-BE49-F238E27FC236}">
                <a16:creationId xmlns:a16="http://schemas.microsoft.com/office/drawing/2014/main" id="{2E9AFC7D-66AE-A754-EEBD-632C29A05C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1973" y="4110360"/>
            <a:ext cx="2770944" cy="2747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Изображение" descr="Изображение">
            <a:extLst>
              <a:ext uri="{FF2B5EF4-FFF2-40B4-BE49-F238E27FC236}">
                <a16:creationId xmlns:a16="http://schemas.microsoft.com/office/drawing/2014/main" id="{677F790A-2C9D-87C9-65B3-8B792C5BC83A}"/>
              </a:ext>
            </a:extLst>
          </p:cNvPr>
          <p:cNvPicPr>
            <a:picLocks noChangeAspect="1"/>
          </p:cNvPicPr>
          <p:nvPr/>
        </p:nvPicPr>
        <p:blipFill>
          <a:blip r:embed="rId3" cstate="print"/>
          <a:stretch>
            <a:fillRect/>
          </a:stretch>
        </p:blipFill>
        <p:spPr>
          <a:xfrm>
            <a:off x="10515320" y="259398"/>
            <a:ext cx="599790" cy="599790"/>
          </a:xfrm>
          <a:prstGeom prst="rect">
            <a:avLst/>
          </a:prstGeom>
          <a:ln w="12700">
            <a:miter lim="400000"/>
          </a:ln>
        </p:spPr>
      </p:pic>
    </p:spTree>
    <p:extLst>
      <p:ext uri="{BB962C8B-B14F-4D97-AF65-F5344CB8AC3E}">
        <p14:creationId xmlns:p14="http://schemas.microsoft.com/office/powerpoint/2010/main" val="840711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additive="base">
                                        <p:cTn id="1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calcmode="lin" valueType="num">
                                      <p:cBhvr additive="base">
                                        <p:cTn id="4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anim calcmode="lin" valueType="num">
                                      <p:cBhvr additive="base">
                                        <p:cTn id="5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 calcmode="lin" valueType="num">
                                      <p:cBhvr additive="base">
                                        <p:cTn id="5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741534" y="580715"/>
            <a:ext cx="8064896" cy="1080120"/>
          </a:xfrm>
        </p:spPr>
        <p:txBody>
          <a:bodyPr/>
          <a:lstStyle/>
          <a:p>
            <a:pPr>
              <a:buClr>
                <a:schemeClr val="accent6">
                  <a:lumMod val="75000"/>
                </a:schemeClr>
              </a:buClr>
              <a:defRPr/>
            </a:pPr>
            <a:r>
              <a:rPr lang="ru-RU" altLang="ru-RU" sz="2800" dirty="0"/>
              <a:t>Законодательные правила</a:t>
            </a:r>
            <a:br>
              <a:rPr lang="ru-RU" altLang="ru-RU" sz="2800" dirty="0"/>
            </a:br>
            <a:r>
              <a:rPr lang="ru-RU" altLang="ru-RU" sz="2800" dirty="0"/>
              <a:t>инвестиционной политики страховщика</a:t>
            </a:r>
          </a:p>
        </p:txBody>
      </p:sp>
      <p:sp>
        <p:nvSpPr>
          <p:cNvPr id="18435" name="Rectangle 3"/>
          <p:cNvSpPr>
            <a:spLocks noGrp="1" noChangeArrowheads="1"/>
          </p:cNvSpPr>
          <p:nvPr>
            <p:ph sz="quarter" idx="13"/>
          </p:nvPr>
        </p:nvSpPr>
        <p:spPr>
          <a:xfrm>
            <a:off x="721435" y="2650385"/>
            <a:ext cx="6507332" cy="3813068"/>
          </a:xfrm>
        </p:spPr>
        <p:txBody>
          <a:bodyPr>
            <a:normAutofit fontScale="92500" lnSpcReduction="20000"/>
          </a:bodyPr>
          <a:lstStyle/>
          <a:p>
            <a:pPr eaLnBrk="1" hangingPunct="1"/>
            <a:r>
              <a:rPr lang="ru-RU" altLang="ru-RU" sz="2000" dirty="0"/>
              <a:t>Характеристика принципов</a:t>
            </a:r>
          </a:p>
          <a:p>
            <a:pPr lvl="1" eaLnBrk="1" hangingPunct="1"/>
            <a:r>
              <a:rPr lang="ru-RU" altLang="ru-RU" b="1" dirty="0">
                <a:solidFill>
                  <a:srgbClr val="7030A0"/>
                </a:solidFill>
              </a:rPr>
              <a:t>диверсификация</a:t>
            </a:r>
          </a:p>
          <a:p>
            <a:pPr lvl="2" eaLnBrk="1" hangingPunct="1"/>
            <a:r>
              <a:rPr lang="ru-RU" altLang="ru-RU" sz="2000" dirty="0">
                <a:solidFill>
                  <a:schemeClr val="tx1"/>
                </a:solidFill>
              </a:rPr>
              <a:t>множественность, распыление</a:t>
            </a:r>
          </a:p>
          <a:p>
            <a:pPr lvl="1" eaLnBrk="1" hangingPunct="1"/>
            <a:r>
              <a:rPr lang="ru-RU" altLang="ru-RU" dirty="0"/>
              <a:t>возвратность</a:t>
            </a:r>
          </a:p>
          <a:p>
            <a:pPr lvl="2" eaLnBrk="1" hangingPunct="1"/>
            <a:r>
              <a:rPr lang="ru-RU" altLang="ru-RU" sz="2000" dirty="0"/>
              <a:t>гарантированность</a:t>
            </a:r>
          </a:p>
          <a:p>
            <a:pPr lvl="1" eaLnBrk="1" hangingPunct="1"/>
            <a:r>
              <a:rPr lang="ru-RU" altLang="ru-RU" dirty="0"/>
              <a:t>доходность (или прибыльность)</a:t>
            </a:r>
          </a:p>
          <a:p>
            <a:pPr lvl="2" eaLnBrk="1" hangingPunct="1"/>
            <a:r>
              <a:rPr lang="ru-RU" altLang="ru-RU" sz="2000" dirty="0"/>
              <a:t>рентабельность</a:t>
            </a:r>
          </a:p>
          <a:p>
            <a:pPr lvl="1" eaLnBrk="1" hangingPunct="1"/>
            <a:r>
              <a:rPr lang="ru-RU" altLang="ru-RU" dirty="0"/>
              <a:t>ликвидность</a:t>
            </a:r>
          </a:p>
          <a:p>
            <a:pPr lvl="2" eaLnBrk="1" hangingPunct="1"/>
            <a:r>
              <a:rPr lang="ru-RU" altLang="ru-RU" sz="2000" dirty="0"/>
              <a:t>оборотные средства или активы</a:t>
            </a:r>
          </a:p>
          <a:p>
            <a:pPr lvl="1" eaLnBrk="1" hangingPunct="1"/>
            <a:r>
              <a:rPr lang="ru-RU" altLang="ru-RU" dirty="0"/>
              <a:t>подчинённость</a:t>
            </a:r>
          </a:p>
          <a:p>
            <a:pPr lvl="2" eaLnBrk="1" hangingPunct="1"/>
            <a:r>
              <a:rPr lang="ru-RU" altLang="ru-RU" sz="2000" dirty="0"/>
              <a:t>законодательство</a:t>
            </a:r>
          </a:p>
        </p:txBody>
      </p:sp>
      <p:sp>
        <p:nvSpPr>
          <p:cNvPr id="5" name="Заголовок 1"/>
          <p:cNvSpPr txBox="1">
            <a:spLocks/>
          </p:cNvSpPr>
          <p:nvPr/>
        </p:nvSpPr>
        <p:spPr>
          <a:xfrm>
            <a:off x="8743994" y="4769768"/>
            <a:ext cx="3312368" cy="2088232"/>
          </a:xfrm>
          <a:prstGeom prst="rect">
            <a:avLst/>
          </a:prstGeom>
          <a:effectLst/>
        </p:spPr>
        <p:txBody>
          <a:bodyPr vert="horz" lIns="91440" tIns="45720" rIns="91440" bIns="45720" rtlCol="0" anchor="t" anchorCtr="0">
            <a:noAutofit/>
          </a:bodyPr>
          <a:lstStyle>
            <a:lvl1pPr marL="319088" indent="-319088" algn="r" rtl="0" eaLnBrk="0" fontAlgn="base" hangingPunct="0">
              <a:spcBef>
                <a:spcPct val="0"/>
              </a:spcBef>
              <a:spcAft>
                <a:spcPct val="0"/>
              </a:spcAft>
              <a:buClr>
                <a:srgbClr val="C3260C"/>
              </a:buClr>
              <a:buSzPct val="128000"/>
              <a:buFont typeface="Georgia" pitchFamily="18" charset="0"/>
              <a:buChar char="*"/>
              <a:defRPr sz="4600" b="1"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2pPr>
            <a:lvl3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3pPr>
            <a:lvl4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4pPr>
            <a:lvl5pPr marL="319088" indent="-319088" algn="r" rtl="0" eaLnBrk="0" fontAlgn="base" hangingPunct="0">
              <a:spcBef>
                <a:spcPct val="0"/>
              </a:spcBef>
              <a:spcAft>
                <a:spcPct val="0"/>
              </a:spcAft>
              <a:buClr>
                <a:srgbClr val="C3260C"/>
              </a:buClr>
              <a:buSzPct val="128000"/>
              <a:buFont typeface="Georgia" pitchFamily="18" charset="0"/>
              <a:buChar char="*"/>
              <a:defRPr sz="4600" b="1">
                <a:solidFill>
                  <a:schemeClr val="tx1"/>
                </a:solidFill>
                <a:latin typeface="Trebuchet MS"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ctr">
              <a:buNone/>
              <a:defRPr/>
            </a:pPr>
            <a:r>
              <a:rPr lang="ru-RU" altLang="ru-RU" sz="2000" dirty="0">
                <a:solidFill>
                  <a:srgbClr val="00B050"/>
                </a:solidFill>
              </a:rPr>
              <a:t>Ничего не стоит так дешево и не ценится так дорого,</a:t>
            </a:r>
            <a:br>
              <a:rPr lang="ru-RU" altLang="ru-RU" sz="2000" dirty="0">
                <a:solidFill>
                  <a:srgbClr val="00B050"/>
                </a:solidFill>
              </a:rPr>
            </a:br>
            <a:r>
              <a:rPr lang="ru-RU" altLang="ru-RU" sz="2000" dirty="0">
                <a:solidFill>
                  <a:srgbClr val="00B050"/>
                </a:solidFill>
              </a:rPr>
              <a:t>как страховой полис во время наступления страхового события</a:t>
            </a:r>
            <a:endParaRPr lang="ru-RU" sz="2000" dirty="0">
              <a:solidFill>
                <a:srgbClr val="00B050"/>
              </a:solidFill>
            </a:endParaRPr>
          </a:p>
        </p:txBody>
      </p:sp>
      <p:sp>
        <p:nvSpPr>
          <p:cNvPr id="2" name="AutoShape 2" descr="Ильф и Петров: тайны двенадцати стульев - МК Крым"/>
          <p:cNvSpPr>
            <a:spLocks noChangeAspect="1" noChangeArrowheads="1"/>
          </p:cNvSpPr>
          <p:nvPr/>
        </p:nvSpPr>
        <p:spPr bwMode="auto">
          <a:xfrm>
            <a:off x="1679576" y="-822325"/>
            <a:ext cx="2295525" cy="1714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3" name="AutoShape 4" descr="Ильф и Петров: тайны двенадцати стульев - МК Крым"/>
          <p:cNvSpPr>
            <a:spLocks noChangeAspect="1" noChangeArrowheads="1"/>
          </p:cNvSpPr>
          <p:nvPr/>
        </p:nvSpPr>
        <p:spPr bwMode="auto">
          <a:xfrm>
            <a:off x="1831976" y="-669925"/>
            <a:ext cx="2295525" cy="1714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4" name="AutoShape 6" descr="Ильф и Петров: тайны двенадцати стульев - МК Крым"/>
          <p:cNvSpPr>
            <a:spLocks noChangeAspect="1" noChangeArrowheads="1"/>
          </p:cNvSpPr>
          <p:nvPr/>
        </p:nvSpPr>
        <p:spPr bwMode="auto">
          <a:xfrm>
            <a:off x="1984376" y="-517525"/>
            <a:ext cx="2295525" cy="1714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6" name="AutoShape 8" descr="Ильф и Петров: тайны двенадцати стульев - МК Крым"/>
          <p:cNvSpPr>
            <a:spLocks noChangeAspect="1" noChangeArrowheads="1"/>
          </p:cNvSpPr>
          <p:nvPr/>
        </p:nvSpPr>
        <p:spPr bwMode="auto">
          <a:xfrm>
            <a:off x="2136776" y="-365125"/>
            <a:ext cx="2295525" cy="1714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10" descr="Ильф и Петров: тайны двенадцати стульев - МК Крым"/>
          <p:cNvSpPr>
            <a:spLocks noChangeAspect="1" noChangeArrowheads="1"/>
          </p:cNvSpPr>
          <p:nvPr/>
        </p:nvSpPr>
        <p:spPr bwMode="auto">
          <a:xfrm>
            <a:off x="2289176" y="-212725"/>
            <a:ext cx="2295525" cy="1714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AutoShape 12" descr="Интересные факты про Ильфа и Петрова - Интересные факты"/>
          <p:cNvSpPr>
            <a:spLocks noChangeAspect="1" noChangeArrowheads="1"/>
          </p:cNvSpPr>
          <p:nvPr/>
        </p:nvSpPr>
        <p:spPr bwMode="auto">
          <a:xfrm>
            <a:off x="1679576" y="-822325"/>
            <a:ext cx="2276475" cy="1714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38" name="Picture 14" descr="Ильф и Петров: тайны двенадцати стульев - МК Крым"/>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8755" y="2301081"/>
            <a:ext cx="3011433" cy="2255838"/>
          </a:xfrm>
          <a:prstGeom prst="rect">
            <a:avLst/>
          </a:prstGeom>
          <a:noFill/>
          <a:extLst>
            <a:ext uri="{909E8E84-426E-40DD-AFC4-6F175D3DCCD1}">
              <a14:hiddenFill xmlns:a14="http://schemas.microsoft.com/office/drawing/2010/main">
                <a:solidFill>
                  <a:srgbClr val="FFFFFF"/>
                </a:solidFill>
              </a14:hiddenFill>
            </a:ext>
          </a:extLst>
        </p:spPr>
      </p:pic>
      <p:pic>
        <p:nvPicPr>
          <p:cNvPr id="9" name="Изображение" descr="Изображение">
            <a:extLst>
              <a:ext uri="{FF2B5EF4-FFF2-40B4-BE49-F238E27FC236}">
                <a16:creationId xmlns:a16="http://schemas.microsoft.com/office/drawing/2014/main" id="{47693148-1CEB-364C-CB04-07DD020021CD}"/>
              </a:ext>
            </a:extLst>
          </p:cNvPr>
          <p:cNvPicPr>
            <a:picLocks noChangeAspect="1"/>
          </p:cNvPicPr>
          <p:nvPr/>
        </p:nvPicPr>
        <p:blipFill>
          <a:blip r:embed="rId4" cstate="print"/>
          <a:stretch>
            <a:fillRect/>
          </a:stretch>
        </p:blipFill>
        <p:spPr>
          <a:xfrm>
            <a:off x="10515320" y="259398"/>
            <a:ext cx="599790" cy="599790"/>
          </a:xfrm>
          <a:prstGeom prst="rect">
            <a:avLst/>
          </a:prstGeom>
          <a:ln w="12700">
            <a:miter lim="400000"/>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fade">
                                      <p:cBhvr>
                                        <p:cTn id="7" dur="1000"/>
                                        <p:tgtEl>
                                          <p:spTgt spid="18434"/>
                                        </p:tgtEl>
                                      </p:cBhvr>
                                    </p:animEffect>
                                    <p:anim calcmode="lin" valueType="num">
                                      <p:cBhvr>
                                        <p:cTn id="8" dur="1000" fill="hold"/>
                                        <p:tgtEl>
                                          <p:spTgt spid="18434"/>
                                        </p:tgtEl>
                                        <p:attrNameLst>
                                          <p:attrName>ppt_x</p:attrName>
                                        </p:attrNameLst>
                                      </p:cBhvr>
                                      <p:tavLst>
                                        <p:tav tm="0">
                                          <p:val>
                                            <p:strVal val="#ppt_x"/>
                                          </p:val>
                                        </p:tav>
                                        <p:tav tm="100000">
                                          <p:val>
                                            <p:strVal val="#ppt_x"/>
                                          </p:val>
                                        </p:tav>
                                      </p:tavLst>
                                    </p:anim>
                                    <p:anim calcmode="lin" valueType="num">
                                      <p:cBhvr>
                                        <p:cTn id="9" dur="1000" fill="hold"/>
                                        <p:tgtEl>
                                          <p:spTgt spid="1843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038"/>
                                        </p:tgtEl>
                                        <p:attrNameLst>
                                          <p:attrName>style.visibility</p:attrName>
                                        </p:attrNameLst>
                                      </p:cBhvr>
                                      <p:to>
                                        <p:strVal val="visible"/>
                                      </p:to>
                                    </p:set>
                                    <p:animEffect transition="in" filter="fade">
                                      <p:cBhvr>
                                        <p:cTn id="17" dur="1000"/>
                                        <p:tgtEl>
                                          <p:spTgt spid="1038"/>
                                        </p:tgtEl>
                                      </p:cBhvr>
                                    </p:animEffect>
                                    <p:anim calcmode="lin" valueType="num">
                                      <p:cBhvr>
                                        <p:cTn id="18" dur="1000" fill="hold"/>
                                        <p:tgtEl>
                                          <p:spTgt spid="1038"/>
                                        </p:tgtEl>
                                        <p:attrNameLst>
                                          <p:attrName>ppt_x</p:attrName>
                                        </p:attrNameLst>
                                      </p:cBhvr>
                                      <p:tavLst>
                                        <p:tav tm="0">
                                          <p:val>
                                            <p:strVal val="#ppt_x"/>
                                          </p:val>
                                        </p:tav>
                                        <p:tav tm="100000">
                                          <p:val>
                                            <p:strVal val="#ppt_x"/>
                                          </p:val>
                                        </p:tav>
                                      </p:tavLst>
                                    </p:anim>
                                    <p:anim calcmode="lin" valueType="num">
                                      <p:cBhvr>
                                        <p:cTn id="19" dur="1000" fill="hold"/>
                                        <p:tgtEl>
                                          <p:spTgt spid="103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8435">
                                            <p:txEl>
                                              <p:pRg st="0" end="0"/>
                                            </p:txEl>
                                          </p:spTgt>
                                        </p:tgtEl>
                                        <p:attrNameLst>
                                          <p:attrName>style.visibility</p:attrName>
                                        </p:attrNameLst>
                                      </p:cBhvr>
                                      <p:to>
                                        <p:strVal val="visible"/>
                                      </p:to>
                                    </p:set>
                                    <p:animEffect transition="in" filter="fade">
                                      <p:cBhvr>
                                        <p:cTn id="22" dur="1000"/>
                                        <p:tgtEl>
                                          <p:spTgt spid="18435">
                                            <p:txEl>
                                              <p:pRg st="0" end="0"/>
                                            </p:txEl>
                                          </p:spTgt>
                                        </p:tgtEl>
                                      </p:cBhvr>
                                    </p:animEffect>
                                    <p:anim calcmode="lin" valueType="num">
                                      <p:cBhvr>
                                        <p:cTn id="23" dur="1000" fill="hold"/>
                                        <p:tgtEl>
                                          <p:spTgt spid="18435">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18435">
                                            <p:txEl>
                                              <p:pRg st="0" end="0"/>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8435">
                                            <p:txEl>
                                              <p:pRg st="1" end="1"/>
                                            </p:txEl>
                                          </p:spTgt>
                                        </p:tgtEl>
                                        <p:attrNameLst>
                                          <p:attrName>style.visibility</p:attrName>
                                        </p:attrNameLst>
                                      </p:cBhvr>
                                      <p:to>
                                        <p:strVal val="visible"/>
                                      </p:to>
                                    </p:set>
                                    <p:animEffect transition="in" filter="fade">
                                      <p:cBhvr>
                                        <p:cTn id="27" dur="1000"/>
                                        <p:tgtEl>
                                          <p:spTgt spid="18435">
                                            <p:txEl>
                                              <p:pRg st="1" end="1"/>
                                            </p:txEl>
                                          </p:spTgt>
                                        </p:tgtEl>
                                      </p:cBhvr>
                                    </p:animEffect>
                                    <p:anim calcmode="lin" valueType="num">
                                      <p:cBhvr>
                                        <p:cTn id="28" dur="1000" fill="hold"/>
                                        <p:tgtEl>
                                          <p:spTgt spid="18435">
                                            <p:txEl>
                                              <p:pRg st="1" end="1"/>
                                            </p:txEl>
                                          </p:spTgt>
                                        </p:tgtEl>
                                        <p:attrNameLst>
                                          <p:attrName>ppt_x</p:attrName>
                                        </p:attrNameLst>
                                      </p:cBhvr>
                                      <p:tavLst>
                                        <p:tav tm="0">
                                          <p:val>
                                            <p:strVal val="#ppt_x"/>
                                          </p:val>
                                        </p:tav>
                                        <p:tav tm="100000">
                                          <p:val>
                                            <p:strVal val="#ppt_x"/>
                                          </p:val>
                                        </p:tav>
                                      </p:tavLst>
                                    </p:anim>
                                    <p:anim calcmode="lin" valueType="num">
                                      <p:cBhvr>
                                        <p:cTn id="29" dur="1000" fill="hold"/>
                                        <p:tgtEl>
                                          <p:spTgt spid="18435">
                                            <p:txEl>
                                              <p:pRg st="1" end="1"/>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8435">
                                            <p:txEl>
                                              <p:pRg st="2" end="2"/>
                                            </p:txEl>
                                          </p:spTgt>
                                        </p:tgtEl>
                                        <p:attrNameLst>
                                          <p:attrName>style.visibility</p:attrName>
                                        </p:attrNameLst>
                                      </p:cBhvr>
                                      <p:to>
                                        <p:strVal val="visible"/>
                                      </p:to>
                                    </p:set>
                                    <p:animEffect transition="in" filter="fade">
                                      <p:cBhvr>
                                        <p:cTn id="32" dur="1000"/>
                                        <p:tgtEl>
                                          <p:spTgt spid="18435">
                                            <p:txEl>
                                              <p:pRg st="2" end="2"/>
                                            </p:txEl>
                                          </p:spTgt>
                                        </p:tgtEl>
                                      </p:cBhvr>
                                    </p:animEffect>
                                    <p:anim calcmode="lin" valueType="num">
                                      <p:cBhvr>
                                        <p:cTn id="33" dur="1000" fill="hold"/>
                                        <p:tgtEl>
                                          <p:spTgt spid="18435">
                                            <p:txEl>
                                              <p:pRg st="2" end="2"/>
                                            </p:txEl>
                                          </p:spTgt>
                                        </p:tgtEl>
                                        <p:attrNameLst>
                                          <p:attrName>ppt_x</p:attrName>
                                        </p:attrNameLst>
                                      </p:cBhvr>
                                      <p:tavLst>
                                        <p:tav tm="0">
                                          <p:val>
                                            <p:strVal val="#ppt_x"/>
                                          </p:val>
                                        </p:tav>
                                        <p:tav tm="100000">
                                          <p:val>
                                            <p:strVal val="#ppt_x"/>
                                          </p:val>
                                        </p:tav>
                                      </p:tavLst>
                                    </p:anim>
                                    <p:anim calcmode="lin" valueType="num">
                                      <p:cBhvr>
                                        <p:cTn id="34" dur="1000" fill="hold"/>
                                        <p:tgtEl>
                                          <p:spTgt spid="18435">
                                            <p:txEl>
                                              <p:pRg st="2" end="2"/>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8435">
                                            <p:txEl>
                                              <p:pRg st="3" end="3"/>
                                            </p:txEl>
                                          </p:spTgt>
                                        </p:tgtEl>
                                        <p:attrNameLst>
                                          <p:attrName>style.visibility</p:attrName>
                                        </p:attrNameLst>
                                      </p:cBhvr>
                                      <p:to>
                                        <p:strVal val="visible"/>
                                      </p:to>
                                    </p:set>
                                    <p:animEffect transition="in" filter="fade">
                                      <p:cBhvr>
                                        <p:cTn id="37" dur="1000"/>
                                        <p:tgtEl>
                                          <p:spTgt spid="18435">
                                            <p:txEl>
                                              <p:pRg st="3" end="3"/>
                                            </p:txEl>
                                          </p:spTgt>
                                        </p:tgtEl>
                                      </p:cBhvr>
                                    </p:animEffect>
                                    <p:anim calcmode="lin" valueType="num">
                                      <p:cBhvr>
                                        <p:cTn id="38" dur="1000" fill="hold"/>
                                        <p:tgtEl>
                                          <p:spTgt spid="18435">
                                            <p:txEl>
                                              <p:pRg st="3" end="3"/>
                                            </p:txEl>
                                          </p:spTgt>
                                        </p:tgtEl>
                                        <p:attrNameLst>
                                          <p:attrName>ppt_x</p:attrName>
                                        </p:attrNameLst>
                                      </p:cBhvr>
                                      <p:tavLst>
                                        <p:tav tm="0">
                                          <p:val>
                                            <p:strVal val="#ppt_x"/>
                                          </p:val>
                                        </p:tav>
                                        <p:tav tm="100000">
                                          <p:val>
                                            <p:strVal val="#ppt_x"/>
                                          </p:val>
                                        </p:tav>
                                      </p:tavLst>
                                    </p:anim>
                                    <p:anim calcmode="lin" valueType="num">
                                      <p:cBhvr>
                                        <p:cTn id="39" dur="1000" fill="hold"/>
                                        <p:tgtEl>
                                          <p:spTgt spid="18435">
                                            <p:txEl>
                                              <p:pRg st="3" end="3"/>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8435">
                                            <p:txEl>
                                              <p:pRg st="4" end="4"/>
                                            </p:txEl>
                                          </p:spTgt>
                                        </p:tgtEl>
                                        <p:attrNameLst>
                                          <p:attrName>style.visibility</p:attrName>
                                        </p:attrNameLst>
                                      </p:cBhvr>
                                      <p:to>
                                        <p:strVal val="visible"/>
                                      </p:to>
                                    </p:set>
                                    <p:animEffect transition="in" filter="fade">
                                      <p:cBhvr>
                                        <p:cTn id="42" dur="1000"/>
                                        <p:tgtEl>
                                          <p:spTgt spid="18435">
                                            <p:txEl>
                                              <p:pRg st="4" end="4"/>
                                            </p:txEl>
                                          </p:spTgt>
                                        </p:tgtEl>
                                      </p:cBhvr>
                                    </p:animEffect>
                                    <p:anim calcmode="lin" valueType="num">
                                      <p:cBhvr>
                                        <p:cTn id="43" dur="1000" fill="hold"/>
                                        <p:tgtEl>
                                          <p:spTgt spid="18435">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18435">
                                            <p:txEl>
                                              <p:pRg st="4" end="4"/>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8435">
                                            <p:txEl>
                                              <p:pRg st="5" end="5"/>
                                            </p:txEl>
                                          </p:spTgt>
                                        </p:tgtEl>
                                        <p:attrNameLst>
                                          <p:attrName>style.visibility</p:attrName>
                                        </p:attrNameLst>
                                      </p:cBhvr>
                                      <p:to>
                                        <p:strVal val="visible"/>
                                      </p:to>
                                    </p:set>
                                    <p:animEffect transition="in" filter="fade">
                                      <p:cBhvr>
                                        <p:cTn id="47" dur="1000"/>
                                        <p:tgtEl>
                                          <p:spTgt spid="18435">
                                            <p:txEl>
                                              <p:pRg st="5" end="5"/>
                                            </p:txEl>
                                          </p:spTgt>
                                        </p:tgtEl>
                                      </p:cBhvr>
                                    </p:animEffect>
                                    <p:anim calcmode="lin" valueType="num">
                                      <p:cBhvr>
                                        <p:cTn id="48" dur="1000" fill="hold"/>
                                        <p:tgtEl>
                                          <p:spTgt spid="18435">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18435">
                                            <p:txEl>
                                              <p:pRg st="5" end="5"/>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8435">
                                            <p:txEl>
                                              <p:pRg st="6" end="6"/>
                                            </p:txEl>
                                          </p:spTgt>
                                        </p:tgtEl>
                                        <p:attrNameLst>
                                          <p:attrName>style.visibility</p:attrName>
                                        </p:attrNameLst>
                                      </p:cBhvr>
                                      <p:to>
                                        <p:strVal val="visible"/>
                                      </p:to>
                                    </p:set>
                                    <p:animEffect transition="in" filter="fade">
                                      <p:cBhvr>
                                        <p:cTn id="52" dur="1000"/>
                                        <p:tgtEl>
                                          <p:spTgt spid="18435">
                                            <p:txEl>
                                              <p:pRg st="6" end="6"/>
                                            </p:txEl>
                                          </p:spTgt>
                                        </p:tgtEl>
                                      </p:cBhvr>
                                    </p:animEffect>
                                    <p:anim calcmode="lin" valueType="num">
                                      <p:cBhvr>
                                        <p:cTn id="53" dur="1000" fill="hold"/>
                                        <p:tgtEl>
                                          <p:spTgt spid="18435">
                                            <p:txEl>
                                              <p:pRg st="6" end="6"/>
                                            </p:txEl>
                                          </p:spTgt>
                                        </p:tgtEl>
                                        <p:attrNameLst>
                                          <p:attrName>ppt_x</p:attrName>
                                        </p:attrNameLst>
                                      </p:cBhvr>
                                      <p:tavLst>
                                        <p:tav tm="0">
                                          <p:val>
                                            <p:strVal val="#ppt_x"/>
                                          </p:val>
                                        </p:tav>
                                        <p:tav tm="100000">
                                          <p:val>
                                            <p:strVal val="#ppt_x"/>
                                          </p:val>
                                        </p:tav>
                                      </p:tavLst>
                                    </p:anim>
                                    <p:anim calcmode="lin" valueType="num">
                                      <p:cBhvr>
                                        <p:cTn id="54" dur="1000" fill="hold"/>
                                        <p:tgtEl>
                                          <p:spTgt spid="18435">
                                            <p:txEl>
                                              <p:pRg st="6" end="6"/>
                                            </p:txEl>
                                          </p:spTgt>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8435">
                                            <p:txEl>
                                              <p:pRg st="7" end="7"/>
                                            </p:txEl>
                                          </p:spTgt>
                                        </p:tgtEl>
                                        <p:attrNameLst>
                                          <p:attrName>style.visibility</p:attrName>
                                        </p:attrNameLst>
                                      </p:cBhvr>
                                      <p:to>
                                        <p:strVal val="visible"/>
                                      </p:to>
                                    </p:set>
                                    <p:animEffect transition="in" filter="fade">
                                      <p:cBhvr>
                                        <p:cTn id="57" dur="1000"/>
                                        <p:tgtEl>
                                          <p:spTgt spid="18435">
                                            <p:txEl>
                                              <p:pRg st="7" end="7"/>
                                            </p:txEl>
                                          </p:spTgt>
                                        </p:tgtEl>
                                      </p:cBhvr>
                                    </p:animEffect>
                                    <p:anim calcmode="lin" valueType="num">
                                      <p:cBhvr>
                                        <p:cTn id="58" dur="1000" fill="hold"/>
                                        <p:tgtEl>
                                          <p:spTgt spid="18435">
                                            <p:txEl>
                                              <p:pRg st="7" end="7"/>
                                            </p:txEl>
                                          </p:spTgt>
                                        </p:tgtEl>
                                        <p:attrNameLst>
                                          <p:attrName>ppt_x</p:attrName>
                                        </p:attrNameLst>
                                      </p:cBhvr>
                                      <p:tavLst>
                                        <p:tav tm="0">
                                          <p:val>
                                            <p:strVal val="#ppt_x"/>
                                          </p:val>
                                        </p:tav>
                                        <p:tav tm="100000">
                                          <p:val>
                                            <p:strVal val="#ppt_x"/>
                                          </p:val>
                                        </p:tav>
                                      </p:tavLst>
                                    </p:anim>
                                    <p:anim calcmode="lin" valueType="num">
                                      <p:cBhvr>
                                        <p:cTn id="59" dur="1000" fill="hold"/>
                                        <p:tgtEl>
                                          <p:spTgt spid="18435">
                                            <p:txEl>
                                              <p:pRg st="7" end="7"/>
                                            </p:txEl>
                                          </p:spTgt>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8435">
                                            <p:txEl>
                                              <p:pRg st="8" end="8"/>
                                            </p:txEl>
                                          </p:spTgt>
                                        </p:tgtEl>
                                        <p:attrNameLst>
                                          <p:attrName>style.visibility</p:attrName>
                                        </p:attrNameLst>
                                      </p:cBhvr>
                                      <p:to>
                                        <p:strVal val="visible"/>
                                      </p:to>
                                    </p:set>
                                    <p:animEffect transition="in" filter="fade">
                                      <p:cBhvr>
                                        <p:cTn id="62" dur="1000"/>
                                        <p:tgtEl>
                                          <p:spTgt spid="18435">
                                            <p:txEl>
                                              <p:pRg st="8" end="8"/>
                                            </p:txEl>
                                          </p:spTgt>
                                        </p:tgtEl>
                                      </p:cBhvr>
                                    </p:animEffect>
                                    <p:anim calcmode="lin" valueType="num">
                                      <p:cBhvr>
                                        <p:cTn id="63" dur="1000" fill="hold"/>
                                        <p:tgtEl>
                                          <p:spTgt spid="18435">
                                            <p:txEl>
                                              <p:pRg st="8" end="8"/>
                                            </p:txEl>
                                          </p:spTgt>
                                        </p:tgtEl>
                                        <p:attrNameLst>
                                          <p:attrName>ppt_x</p:attrName>
                                        </p:attrNameLst>
                                      </p:cBhvr>
                                      <p:tavLst>
                                        <p:tav tm="0">
                                          <p:val>
                                            <p:strVal val="#ppt_x"/>
                                          </p:val>
                                        </p:tav>
                                        <p:tav tm="100000">
                                          <p:val>
                                            <p:strVal val="#ppt_x"/>
                                          </p:val>
                                        </p:tav>
                                      </p:tavLst>
                                    </p:anim>
                                    <p:anim calcmode="lin" valueType="num">
                                      <p:cBhvr>
                                        <p:cTn id="64" dur="1000" fill="hold"/>
                                        <p:tgtEl>
                                          <p:spTgt spid="18435">
                                            <p:txEl>
                                              <p:pRg st="8" end="8"/>
                                            </p:txEl>
                                          </p:spTgt>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8435">
                                            <p:txEl>
                                              <p:pRg st="9" end="9"/>
                                            </p:txEl>
                                          </p:spTgt>
                                        </p:tgtEl>
                                        <p:attrNameLst>
                                          <p:attrName>style.visibility</p:attrName>
                                        </p:attrNameLst>
                                      </p:cBhvr>
                                      <p:to>
                                        <p:strVal val="visible"/>
                                      </p:to>
                                    </p:set>
                                    <p:animEffect transition="in" filter="fade">
                                      <p:cBhvr>
                                        <p:cTn id="67" dur="1000"/>
                                        <p:tgtEl>
                                          <p:spTgt spid="18435">
                                            <p:txEl>
                                              <p:pRg st="9" end="9"/>
                                            </p:txEl>
                                          </p:spTgt>
                                        </p:tgtEl>
                                      </p:cBhvr>
                                    </p:animEffect>
                                    <p:anim calcmode="lin" valueType="num">
                                      <p:cBhvr>
                                        <p:cTn id="68" dur="1000" fill="hold"/>
                                        <p:tgtEl>
                                          <p:spTgt spid="18435">
                                            <p:txEl>
                                              <p:pRg st="9" end="9"/>
                                            </p:txEl>
                                          </p:spTgt>
                                        </p:tgtEl>
                                        <p:attrNameLst>
                                          <p:attrName>ppt_x</p:attrName>
                                        </p:attrNameLst>
                                      </p:cBhvr>
                                      <p:tavLst>
                                        <p:tav tm="0">
                                          <p:val>
                                            <p:strVal val="#ppt_x"/>
                                          </p:val>
                                        </p:tav>
                                        <p:tav tm="100000">
                                          <p:val>
                                            <p:strVal val="#ppt_x"/>
                                          </p:val>
                                        </p:tav>
                                      </p:tavLst>
                                    </p:anim>
                                    <p:anim calcmode="lin" valueType="num">
                                      <p:cBhvr>
                                        <p:cTn id="69" dur="1000" fill="hold"/>
                                        <p:tgtEl>
                                          <p:spTgt spid="18435">
                                            <p:txEl>
                                              <p:pRg st="9" end="9"/>
                                            </p:txEl>
                                          </p:spTgt>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8435">
                                            <p:txEl>
                                              <p:pRg st="10" end="10"/>
                                            </p:txEl>
                                          </p:spTgt>
                                        </p:tgtEl>
                                        <p:attrNameLst>
                                          <p:attrName>style.visibility</p:attrName>
                                        </p:attrNameLst>
                                      </p:cBhvr>
                                      <p:to>
                                        <p:strVal val="visible"/>
                                      </p:to>
                                    </p:set>
                                    <p:animEffect transition="in" filter="fade">
                                      <p:cBhvr>
                                        <p:cTn id="72" dur="1000"/>
                                        <p:tgtEl>
                                          <p:spTgt spid="18435">
                                            <p:txEl>
                                              <p:pRg st="10" end="10"/>
                                            </p:txEl>
                                          </p:spTgt>
                                        </p:tgtEl>
                                      </p:cBhvr>
                                    </p:animEffect>
                                    <p:anim calcmode="lin" valueType="num">
                                      <p:cBhvr>
                                        <p:cTn id="73" dur="1000" fill="hold"/>
                                        <p:tgtEl>
                                          <p:spTgt spid="18435">
                                            <p:txEl>
                                              <p:pRg st="10" end="10"/>
                                            </p:txEl>
                                          </p:spTgt>
                                        </p:tgtEl>
                                        <p:attrNameLst>
                                          <p:attrName>ppt_x</p:attrName>
                                        </p:attrNameLst>
                                      </p:cBhvr>
                                      <p:tavLst>
                                        <p:tav tm="0">
                                          <p:val>
                                            <p:strVal val="#ppt_x"/>
                                          </p:val>
                                        </p:tav>
                                        <p:tav tm="100000">
                                          <p:val>
                                            <p:strVal val="#ppt_x"/>
                                          </p:val>
                                        </p:tav>
                                      </p:tavLst>
                                    </p:anim>
                                    <p:anim calcmode="lin" valueType="num">
                                      <p:cBhvr>
                                        <p:cTn id="74" dur="1000" fill="hold"/>
                                        <p:tgtEl>
                                          <p:spTgt spid="18435">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18435" grpId="0" build="p"/>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4B0EF68-A878-B80D-5618-2E53EDD26BC5}"/>
              </a:ext>
            </a:extLst>
          </p:cNvPr>
          <p:cNvSpPr>
            <a:spLocks noGrp="1"/>
          </p:cNvSpPr>
          <p:nvPr>
            <p:ph type="title"/>
          </p:nvPr>
        </p:nvSpPr>
        <p:spPr>
          <a:xfrm>
            <a:off x="1154954" y="594804"/>
            <a:ext cx="7145667" cy="1085828"/>
          </a:xfrm>
        </p:spPr>
        <p:txBody>
          <a:bodyPr/>
          <a:lstStyle/>
          <a:p>
            <a:r>
              <a:rPr lang="ru-RU" sz="4000" dirty="0"/>
              <a:t>3. ЦФА страховщика:</a:t>
            </a:r>
            <a:br>
              <a:rPr lang="ru-RU" sz="4000" dirty="0"/>
            </a:br>
            <a:r>
              <a:rPr lang="ru-RU" sz="4000" dirty="0"/>
              <a:t>российская практика</a:t>
            </a:r>
          </a:p>
        </p:txBody>
      </p:sp>
      <p:sp>
        <p:nvSpPr>
          <p:cNvPr id="3" name="Объект 2">
            <a:extLst>
              <a:ext uri="{FF2B5EF4-FFF2-40B4-BE49-F238E27FC236}">
                <a16:creationId xmlns:a16="http://schemas.microsoft.com/office/drawing/2014/main" id="{BF3D7D7A-BDAC-D6CA-51AE-34D276AA1670}"/>
              </a:ext>
            </a:extLst>
          </p:cNvPr>
          <p:cNvSpPr>
            <a:spLocks noGrp="1"/>
          </p:cNvSpPr>
          <p:nvPr>
            <p:ph idx="1"/>
          </p:nvPr>
        </p:nvSpPr>
        <p:spPr>
          <a:xfrm>
            <a:off x="266330" y="2467992"/>
            <a:ext cx="8436727" cy="4166895"/>
          </a:xfrm>
        </p:spPr>
        <p:txBody>
          <a:bodyPr>
            <a:normAutofit fontScale="92500" lnSpcReduction="10000"/>
          </a:bodyPr>
          <a:lstStyle/>
          <a:p>
            <a:r>
              <a:rPr lang="ru-RU" sz="2000" dirty="0"/>
              <a:t>Цифровые финансовые активы (ЦФА) – это</a:t>
            </a:r>
          </a:p>
          <a:p>
            <a:pPr lvl="1">
              <a:buFont typeface="Wingdings" panose="05000000000000000000" pitchFamily="2" charset="2"/>
              <a:buChar char="v"/>
            </a:pPr>
            <a:r>
              <a:rPr lang="ru-RU" sz="1800" dirty="0"/>
              <a:t>финансовые активы, представленные в цифровой форме на основе технологии распределенного реестра (например, блокчейн, токенизация)</a:t>
            </a:r>
          </a:p>
          <a:p>
            <a:pPr lvl="1">
              <a:buFont typeface="Wingdings" panose="05000000000000000000" pitchFamily="2" charset="2"/>
              <a:buChar char="v"/>
            </a:pPr>
            <a:r>
              <a:rPr lang="ru-RU" sz="1800" dirty="0"/>
              <a:t>права инвестора на актив, записанные в информационной системе</a:t>
            </a:r>
          </a:p>
          <a:p>
            <a:pPr lvl="1">
              <a:buFont typeface="Wingdings" panose="05000000000000000000" pitchFamily="2" charset="2"/>
              <a:buChar char="v"/>
            </a:pPr>
            <a:r>
              <a:rPr lang="ru-RU" sz="1800" dirty="0"/>
              <a:t>признаваемые российским законодательством цифровые записи, подтверждающие, что их держатели имеют определенные цифровые права</a:t>
            </a:r>
          </a:p>
          <a:p>
            <a:r>
              <a:rPr lang="ru-RU" sz="2000" dirty="0"/>
              <a:t>П.7.6. главы 7 Особенности выполнения требований к финансовой устойчивости и платежеспособности страховщиков» Положения Банка России от 17 июня 2025 г № 858-П «О требованиях к финансовой устойчивости и платежеспособности страховщиков» (для с/о и ОВС)</a:t>
            </a:r>
          </a:p>
          <a:p>
            <a:pPr>
              <a:buFont typeface="Wingdings" panose="05000000000000000000" pitchFamily="2" charset="2"/>
              <a:buChar char="v"/>
            </a:pPr>
            <a:endParaRPr lang="ru-RU" sz="2000" dirty="0"/>
          </a:p>
        </p:txBody>
      </p:sp>
      <p:pic>
        <p:nvPicPr>
          <p:cNvPr id="4" name="Picture 5" descr="http://zapravkaavto.ru/images/osobennosti_strakhovanija_avto_po_kasko.jpg">
            <a:extLst>
              <a:ext uri="{FF2B5EF4-FFF2-40B4-BE49-F238E27FC236}">
                <a16:creationId xmlns:a16="http://schemas.microsoft.com/office/drawing/2014/main" id="{086D2E26-0124-7B89-B0D5-2F3BB3E91FB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703057" y="4651899"/>
            <a:ext cx="3475310" cy="2197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Изображение" descr="Изображение">
            <a:extLst>
              <a:ext uri="{FF2B5EF4-FFF2-40B4-BE49-F238E27FC236}">
                <a16:creationId xmlns:a16="http://schemas.microsoft.com/office/drawing/2014/main" id="{6027C09D-A626-A145-0CCB-ADEF194F07AA}"/>
              </a:ext>
            </a:extLst>
          </p:cNvPr>
          <p:cNvPicPr>
            <a:picLocks noChangeAspect="1"/>
          </p:cNvPicPr>
          <p:nvPr/>
        </p:nvPicPr>
        <p:blipFill>
          <a:blip r:embed="rId3" cstate="print"/>
          <a:stretch>
            <a:fillRect/>
          </a:stretch>
        </p:blipFill>
        <p:spPr>
          <a:xfrm>
            <a:off x="10515320" y="259398"/>
            <a:ext cx="599790" cy="599790"/>
          </a:xfrm>
          <a:prstGeom prst="rect">
            <a:avLst/>
          </a:prstGeom>
          <a:ln w="12700">
            <a:miter lim="400000"/>
          </a:ln>
        </p:spPr>
      </p:pic>
    </p:spTree>
    <p:extLst>
      <p:ext uri="{BB962C8B-B14F-4D97-AF65-F5344CB8AC3E}">
        <p14:creationId xmlns:p14="http://schemas.microsoft.com/office/powerpoint/2010/main" val="65339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barn(inVertical)">
                                      <p:cBhvr>
                                        <p:cTn id="17" dur="1000"/>
                                        <p:tgtEl>
                                          <p:spTgt spid="3">
                                            <p:txEl>
                                              <p:pRg st="0" end="0"/>
                                            </p:txEl>
                                          </p:spTgt>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barn(inVertical)">
                                      <p:cBhvr>
                                        <p:cTn id="20" dur="1000"/>
                                        <p:tgtEl>
                                          <p:spTgt spid="3">
                                            <p:txEl>
                                              <p:pRg st="1" end="1"/>
                                            </p:txEl>
                                          </p:spTgt>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barn(inVertical)">
                                      <p:cBhvr>
                                        <p:cTn id="23" dur="1000"/>
                                        <p:tgtEl>
                                          <p:spTgt spid="3">
                                            <p:txEl>
                                              <p:pRg st="2" end="2"/>
                                            </p:txEl>
                                          </p:spTgt>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barn(inVertical)">
                                      <p:cBhvr>
                                        <p:cTn id="26" dur="10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barn(inVertical)">
                                      <p:cBhvr>
                                        <p:cTn id="31"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AC5815-7782-2E5A-5756-540FD1FBCD01}"/>
              </a:ext>
            </a:extLst>
          </p:cNvPr>
          <p:cNvSpPr>
            <a:spLocks noGrp="1"/>
          </p:cNvSpPr>
          <p:nvPr>
            <p:ph type="title"/>
          </p:nvPr>
        </p:nvSpPr>
        <p:spPr>
          <a:xfrm>
            <a:off x="790969" y="609683"/>
            <a:ext cx="8761413" cy="1085951"/>
          </a:xfrm>
        </p:spPr>
        <p:txBody>
          <a:bodyPr/>
          <a:lstStyle/>
          <a:p>
            <a:r>
              <a:rPr lang="ru-RU" dirty="0"/>
              <a:t>Виды цифровых</a:t>
            </a:r>
            <a:br>
              <a:rPr lang="ru-RU" dirty="0"/>
            </a:br>
            <a:r>
              <a:rPr lang="ru-RU" dirty="0"/>
              <a:t>финансовых активов (ЦФА)</a:t>
            </a:r>
          </a:p>
        </p:txBody>
      </p:sp>
      <p:sp>
        <p:nvSpPr>
          <p:cNvPr id="3" name="Объект 2">
            <a:extLst>
              <a:ext uri="{FF2B5EF4-FFF2-40B4-BE49-F238E27FC236}">
                <a16:creationId xmlns:a16="http://schemas.microsoft.com/office/drawing/2014/main" id="{1D02FC54-D059-49F1-13C8-F02ED78C4B93}"/>
              </a:ext>
            </a:extLst>
          </p:cNvPr>
          <p:cNvSpPr>
            <a:spLocks noGrp="1"/>
          </p:cNvSpPr>
          <p:nvPr>
            <p:ph idx="1"/>
          </p:nvPr>
        </p:nvSpPr>
        <p:spPr>
          <a:xfrm>
            <a:off x="346229" y="2317072"/>
            <a:ext cx="11549849" cy="4296792"/>
          </a:xfrm>
        </p:spPr>
        <p:txBody>
          <a:bodyPr>
            <a:normAutofit fontScale="92500" lnSpcReduction="10000"/>
          </a:bodyPr>
          <a:lstStyle/>
          <a:p>
            <a:pPr>
              <a:buFont typeface="Wingdings" panose="05000000000000000000" pitchFamily="2" charset="2"/>
              <a:buChar char="v"/>
            </a:pPr>
            <a:r>
              <a:rPr lang="ru-RU" dirty="0"/>
              <a:t>ЦФА не являются единицей расчёта, это исключительно </a:t>
            </a:r>
            <a:r>
              <a:rPr lang="ru-RU" u="sng" dirty="0"/>
              <a:t>инвестиционный актив</a:t>
            </a:r>
          </a:p>
          <a:p>
            <a:pPr>
              <a:buFont typeface="Wingdings" panose="05000000000000000000" pitchFamily="2" charset="2"/>
              <a:buChar char="Ø"/>
            </a:pPr>
            <a:r>
              <a:rPr lang="ru-RU" dirty="0"/>
              <a:t>Смарт-актив на цифровой портфель (Т-Инвестиции и </a:t>
            </a:r>
            <a:r>
              <a:rPr lang="ru-RU" dirty="0" err="1"/>
              <a:t>Атомайз</a:t>
            </a:r>
            <a:r>
              <a:rPr lang="ru-RU" dirty="0"/>
              <a:t>)</a:t>
            </a:r>
          </a:p>
          <a:p>
            <a:pPr>
              <a:buFont typeface="Wingdings" panose="05000000000000000000" pitchFamily="2" charset="2"/>
              <a:buChar char="Ø"/>
            </a:pPr>
            <a:r>
              <a:rPr lang="ru-RU" dirty="0"/>
              <a:t>Утилитарные цифровые права (Закон О краудфандинге в 2020 г.)</a:t>
            </a:r>
          </a:p>
          <a:p>
            <a:pPr>
              <a:buFont typeface="Wingdings" panose="05000000000000000000" pitchFamily="2" charset="2"/>
              <a:buChar char="Ø"/>
            </a:pPr>
            <a:r>
              <a:rPr lang="ru-RU" dirty="0"/>
              <a:t>Гибридные цифровые права</a:t>
            </a:r>
          </a:p>
          <a:p>
            <a:r>
              <a:rPr lang="ru-RU" dirty="0"/>
              <a:t>Страховые организации</a:t>
            </a:r>
          </a:p>
          <a:p>
            <a:pPr lvl="1"/>
            <a:r>
              <a:rPr lang="ru-RU" dirty="0"/>
              <a:t>Долговые обязательства</a:t>
            </a:r>
          </a:p>
          <a:p>
            <a:pPr lvl="1"/>
            <a:r>
              <a:rPr lang="ru-RU" dirty="0"/>
              <a:t>Доли в публичных компаниях</a:t>
            </a:r>
          </a:p>
          <a:p>
            <a:pPr lvl="1"/>
            <a:r>
              <a:rPr lang="ru-RU" dirty="0"/>
              <a:t>Права, связанные с эмиссией ценных бумаг</a:t>
            </a:r>
          </a:p>
          <a:p>
            <a:pPr lvl="2"/>
            <a:r>
              <a:rPr lang="ru-RU" dirty="0"/>
              <a:t>Акции</a:t>
            </a:r>
          </a:p>
          <a:p>
            <a:pPr lvl="2"/>
            <a:r>
              <a:rPr lang="ru-RU" dirty="0"/>
              <a:t>Облигации</a:t>
            </a:r>
          </a:p>
          <a:p>
            <a:pPr marL="0" indent="0" algn="ctr">
              <a:buNone/>
            </a:pPr>
            <a:r>
              <a:rPr lang="ru-RU" dirty="0"/>
              <a:t>Сегодня страховые организации могут инвестировать собственные средства (Е) и резервы в ЦФА, НО</a:t>
            </a:r>
          </a:p>
          <a:p>
            <a:pPr marL="0" indent="0" algn="ctr">
              <a:buNone/>
            </a:pPr>
            <a:r>
              <a:rPr lang="ru-RU" dirty="0"/>
              <a:t>Стоимость такого актива равна НУЛЮ (п.7.10)</a:t>
            </a:r>
          </a:p>
        </p:txBody>
      </p:sp>
    </p:spTree>
    <p:extLst>
      <p:ext uri="{BB962C8B-B14F-4D97-AF65-F5344CB8AC3E}">
        <p14:creationId xmlns:p14="http://schemas.microsoft.com/office/powerpoint/2010/main" val="3746404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1000"/>
                                        <p:tgtEl>
                                          <p:spTgt spid="3">
                                            <p:txEl>
                                              <p:pRg st="5" end="5"/>
                                            </p:txEl>
                                          </p:spTgt>
                                        </p:tgtEl>
                                      </p:cBhvr>
                                    </p:animEffect>
                                    <p:anim calcmode="lin" valueType="num">
                                      <p:cBhvr>
                                        <p:cTn id="5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6" end="6"/>
                                            </p:txEl>
                                          </p:spTgt>
                                        </p:tgtEl>
                                        <p:attrNameLst>
                                          <p:attrName>style.visibility</p:attrName>
                                        </p:attrNameLst>
                                      </p:cBhvr>
                                      <p:to>
                                        <p:strVal val="visible"/>
                                      </p:to>
                                    </p:set>
                                    <p:animEffect transition="in" filter="fade">
                                      <p:cBhvr>
                                        <p:cTn id="56" dur="1000"/>
                                        <p:tgtEl>
                                          <p:spTgt spid="3">
                                            <p:txEl>
                                              <p:pRg st="6" end="6"/>
                                            </p:txEl>
                                          </p:spTgt>
                                        </p:tgtEl>
                                      </p:cBhvr>
                                    </p:animEffect>
                                    <p:anim calcmode="lin" valueType="num">
                                      <p:cBhvr>
                                        <p:cTn id="5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7" end="7"/>
                                            </p:txEl>
                                          </p:spTgt>
                                        </p:tgtEl>
                                        <p:attrNameLst>
                                          <p:attrName>style.visibility</p:attrName>
                                        </p:attrNameLst>
                                      </p:cBhvr>
                                      <p:to>
                                        <p:strVal val="visible"/>
                                      </p:to>
                                    </p:set>
                                    <p:animEffect transition="in" filter="fade">
                                      <p:cBhvr>
                                        <p:cTn id="63" dur="1000"/>
                                        <p:tgtEl>
                                          <p:spTgt spid="3">
                                            <p:txEl>
                                              <p:pRg st="7" end="7"/>
                                            </p:txEl>
                                          </p:spTgt>
                                        </p:tgtEl>
                                      </p:cBhvr>
                                    </p:animEffect>
                                    <p:anim calcmode="lin" valueType="num">
                                      <p:cBhvr>
                                        <p:cTn id="64"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8" end="8"/>
                                            </p:txEl>
                                          </p:spTgt>
                                        </p:tgtEl>
                                        <p:attrNameLst>
                                          <p:attrName>style.visibility</p:attrName>
                                        </p:attrNameLst>
                                      </p:cBhvr>
                                      <p:to>
                                        <p:strVal val="visible"/>
                                      </p:to>
                                    </p:set>
                                    <p:animEffect transition="in" filter="fade">
                                      <p:cBhvr>
                                        <p:cTn id="70" dur="1000"/>
                                        <p:tgtEl>
                                          <p:spTgt spid="3">
                                            <p:txEl>
                                              <p:pRg st="8" end="8"/>
                                            </p:txEl>
                                          </p:spTgt>
                                        </p:tgtEl>
                                      </p:cBhvr>
                                    </p:animEffect>
                                    <p:anim calcmode="lin" valueType="num">
                                      <p:cBhvr>
                                        <p:cTn id="71"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9" end="9"/>
                                            </p:txEl>
                                          </p:spTgt>
                                        </p:tgtEl>
                                        <p:attrNameLst>
                                          <p:attrName>style.visibility</p:attrName>
                                        </p:attrNameLst>
                                      </p:cBhvr>
                                      <p:to>
                                        <p:strVal val="visible"/>
                                      </p:to>
                                    </p:set>
                                    <p:animEffect transition="in" filter="fade">
                                      <p:cBhvr>
                                        <p:cTn id="77" dur="1000"/>
                                        <p:tgtEl>
                                          <p:spTgt spid="3">
                                            <p:txEl>
                                              <p:pRg st="9" end="9"/>
                                            </p:txEl>
                                          </p:spTgt>
                                        </p:tgtEl>
                                      </p:cBhvr>
                                    </p:animEffect>
                                    <p:anim calcmode="lin" valueType="num">
                                      <p:cBhvr>
                                        <p:cTn id="7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
                                            <p:txEl>
                                              <p:pRg st="10" end="10"/>
                                            </p:txEl>
                                          </p:spTgt>
                                        </p:tgtEl>
                                        <p:attrNameLst>
                                          <p:attrName>style.visibility</p:attrName>
                                        </p:attrNameLst>
                                      </p:cBhvr>
                                      <p:to>
                                        <p:strVal val="visible"/>
                                      </p:to>
                                    </p:set>
                                    <p:animEffect transition="in" filter="fade">
                                      <p:cBhvr>
                                        <p:cTn id="84" dur="1000"/>
                                        <p:tgtEl>
                                          <p:spTgt spid="3">
                                            <p:txEl>
                                              <p:pRg st="10" end="10"/>
                                            </p:txEl>
                                          </p:spTgt>
                                        </p:tgtEl>
                                      </p:cBhvr>
                                    </p:animEffect>
                                    <p:anim calcmode="lin" valueType="num">
                                      <p:cBhvr>
                                        <p:cTn id="85"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3">
                                            <p:txEl>
                                              <p:pRg st="11" end="11"/>
                                            </p:txEl>
                                          </p:spTgt>
                                        </p:tgtEl>
                                        <p:attrNameLst>
                                          <p:attrName>style.visibility</p:attrName>
                                        </p:attrNameLst>
                                      </p:cBhvr>
                                      <p:to>
                                        <p:strVal val="visible"/>
                                      </p:to>
                                    </p:set>
                                    <p:animEffect transition="in" filter="fade">
                                      <p:cBhvr>
                                        <p:cTn id="91" dur="1000"/>
                                        <p:tgtEl>
                                          <p:spTgt spid="3">
                                            <p:txEl>
                                              <p:pRg st="11" end="11"/>
                                            </p:txEl>
                                          </p:spTgt>
                                        </p:tgtEl>
                                      </p:cBhvr>
                                    </p:animEffect>
                                    <p:anim calcmode="lin" valueType="num">
                                      <p:cBhvr>
                                        <p:cTn id="92"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1" name="Picture 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707087" y="2322694"/>
            <a:ext cx="4163795" cy="3012786"/>
          </a:xfrm>
          <a:prstGeom prst="rect">
            <a:avLst/>
          </a:prstGeom>
          <a:solidFill>
            <a:schemeClr val="accent6">
              <a:lumMod val="60000"/>
              <a:lumOff val="40000"/>
            </a:schemeClr>
          </a:solidFill>
          <a:ln>
            <a:noFill/>
          </a:ln>
        </p:spPr>
      </p:pic>
      <p:sp>
        <p:nvSpPr>
          <p:cNvPr id="2" name="Объект 1"/>
          <p:cNvSpPr>
            <a:spLocks noGrp="1"/>
          </p:cNvSpPr>
          <p:nvPr>
            <p:ph idx="1"/>
          </p:nvPr>
        </p:nvSpPr>
        <p:spPr>
          <a:xfrm>
            <a:off x="5557527" y="5335480"/>
            <a:ext cx="6400800" cy="1447068"/>
          </a:xfrm>
          <a:blipFill>
            <a:blip r:embed="rId3"/>
            <a:tile tx="0" ty="0" sx="100000" sy="100000" flip="none" algn="tl"/>
          </a:blipFill>
        </p:spPr>
        <p:txBody>
          <a:bodyPr>
            <a:normAutofit/>
          </a:bodyPr>
          <a:lstStyle/>
          <a:p>
            <a:r>
              <a:rPr lang="ru-RU" dirty="0"/>
              <a:t>Если страхование, то не в России.</a:t>
            </a:r>
          </a:p>
          <a:p>
            <a:r>
              <a:rPr lang="ru-RU" dirty="0"/>
              <a:t>Если в России, то не страхование.</a:t>
            </a:r>
          </a:p>
          <a:p>
            <a:r>
              <a:rPr lang="ru-RU" dirty="0"/>
              <a:t>Если в России и страхование, то не сегодня.</a:t>
            </a:r>
          </a:p>
        </p:txBody>
      </p:sp>
      <p:pic>
        <p:nvPicPr>
          <p:cNvPr id="3" name="Picture 10" descr="Что из себя представляет рынок перестрахования в России">
            <a:extLst>
              <a:ext uri="{FF2B5EF4-FFF2-40B4-BE49-F238E27FC236}">
                <a16:creationId xmlns:a16="http://schemas.microsoft.com/office/drawing/2014/main" id="{02CF348A-F840-BAE2-6BD3-05910E417F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46360" y="2455156"/>
            <a:ext cx="3553904" cy="274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Изображение" descr="Изображение">
            <a:extLst>
              <a:ext uri="{FF2B5EF4-FFF2-40B4-BE49-F238E27FC236}">
                <a16:creationId xmlns:a16="http://schemas.microsoft.com/office/drawing/2014/main" id="{6CB18359-459B-6570-28FA-6FAF30B29E3D}"/>
              </a:ext>
            </a:extLst>
          </p:cNvPr>
          <p:cNvPicPr>
            <a:picLocks noChangeAspect="1"/>
          </p:cNvPicPr>
          <p:nvPr/>
        </p:nvPicPr>
        <p:blipFill>
          <a:blip r:embed="rId5" cstate="print"/>
          <a:stretch>
            <a:fillRect/>
          </a:stretch>
        </p:blipFill>
        <p:spPr>
          <a:xfrm>
            <a:off x="10515320" y="259398"/>
            <a:ext cx="599790" cy="599790"/>
          </a:xfrm>
          <a:prstGeom prst="rect">
            <a:avLst/>
          </a:prstGeom>
          <a:ln w="12700">
            <a:miter lim="400000"/>
          </a:ln>
        </p:spPr>
      </p:pic>
    </p:spTree>
    <p:extLst>
      <p:ext uri="{BB962C8B-B14F-4D97-AF65-F5344CB8AC3E}">
        <p14:creationId xmlns:p14="http://schemas.microsoft.com/office/powerpoint/2010/main" val="3922745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1000"/>
                                        <p:tgtEl>
                                          <p:spTgt spid="3"/>
                                        </p:tgtEl>
                                      </p:cBhvr>
                                    </p:animEffect>
                                  </p:childTnLst>
                                </p:cTn>
                              </p:par>
                              <p:par>
                                <p:cTn id="8" presetID="14" presetClass="entr" presetSubtype="10" fill="hold" nodeType="withEffect">
                                  <p:stCondLst>
                                    <p:cond delay="0"/>
                                  </p:stCondLst>
                                  <p:childTnLst>
                                    <p:set>
                                      <p:cBhvr>
                                        <p:cTn id="9" dur="1" fill="hold">
                                          <p:stCondLst>
                                            <p:cond delay="0"/>
                                          </p:stCondLst>
                                        </p:cTn>
                                        <p:tgtEl>
                                          <p:spTgt spid="17411"/>
                                        </p:tgtEl>
                                        <p:attrNameLst>
                                          <p:attrName>style.visibility</p:attrName>
                                        </p:attrNameLst>
                                      </p:cBhvr>
                                      <p:to>
                                        <p:strVal val="visible"/>
                                      </p:to>
                                    </p:set>
                                    <p:animEffect transition="in" filter="randombar(horizontal)">
                                      <p:cBhvr>
                                        <p:cTn id="10" dur="1000"/>
                                        <p:tgtEl>
                                          <p:spTgt spid="17411"/>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2">
                                            <p:bg/>
                                          </p:spTgt>
                                        </p:tgtEl>
                                        <p:attrNameLst>
                                          <p:attrName>style.visibility</p:attrName>
                                        </p:attrNameLst>
                                      </p:cBhvr>
                                      <p:to>
                                        <p:strVal val="visible"/>
                                      </p:to>
                                    </p:set>
                                    <p:animEffect transition="in" filter="randombar(horizontal)">
                                      <p:cBhvr>
                                        <p:cTn id="13" dur="1000"/>
                                        <p:tgtEl>
                                          <p:spTgt spid="2">
                                            <p:bg/>
                                          </p:spTgt>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2">
                                            <p:txEl>
                                              <p:pRg st="0" end="0"/>
                                            </p:txEl>
                                          </p:spTgt>
                                        </p:tgtEl>
                                        <p:attrNameLst>
                                          <p:attrName>style.visibility</p:attrName>
                                        </p:attrNameLst>
                                      </p:cBhvr>
                                      <p:to>
                                        <p:strVal val="visible"/>
                                      </p:to>
                                    </p:set>
                                    <p:animEffect transition="in" filter="randombar(horizontal)">
                                      <p:cBhvr>
                                        <p:cTn id="16" dur="1000"/>
                                        <p:tgtEl>
                                          <p:spTgt spid="2">
                                            <p:txEl>
                                              <p:pRg st="0" end="0"/>
                                            </p:txEl>
                                          </p:spTgt>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9" dur="1000"/>
                                        <p:tgtEl>
                                          <p:spTgt spid="2">
                                            <p:txEl>
                                              <p:pRg st="1" end="1"/>
                                            </p:txEl>
                                          </p:spTgt>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22" dur="10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p:cNvSpPr>
            <a:spLocks noGrp="1"/>
          </p:cNvSpPr>
          <p:nvPr>
            <p:ph type="sldNum" sz="quarter" idx="12"/>
          </p:nvPr>
        </p:nvSpPr>
        <p:spPr>
          <a:xfrm>
            <a:off x="372862" y="818558"/>
            <a:ext cx="4474346" cy="5804184"/>
          </a:xfrm>
        </p:spPr>
        <p:txBody>
          <a:bodyPr/>
          <a:lstStyle/>
          <a:p>
            <a:pPr>
              <a:defRPr/>
            </a:pPr>
            <a:r>
              <a:rPr lang="ru-RU" altLang="ru-RU" sz="3200" i="1" u="sng" dirty="0">
                <a:solidFill>
                  <a:schemeClr val="tx2">
                    <a:lumMod val="60000"/>
                    <a:lumOff val="40000"/>
                  </a:schemeClr>
                </a:solidFill>
                <a:effectLst>
                  <a:outerShdw blurRad="38100" dist="38100" dir="2700000" algn="tl">
                    <a:srgbClr val="000000">
                      <a:alpha val="43137"/>
                    </a:srgbClr>
                  </a:outerShdw>
                </a:effectLst>
              </a:rPr>
              <a:t>Скоро контрольную писать</a:t>
            </a:r>
          </a:p>
          <a:p>
            <a:pPr>
              <a:defRPr/>
            </a:pPr>
            <a:endParaRPr lang="ru-RU" altLang="ru-RU" sz="3200" i="1" u="sng" dirty="0">
              <a:solidFill>
                <a:schemeClr val="tx2">
                  <a:lumMod val="60000"/>
                  <a:lumOff val="40000"/>
                </a:schemeClr>
              </a:solidFill>
              <a:effectLst>
                <a:outerShdw blurRad="38100" dist="38100" dir="2700000" algn="tl">
                  <a:srgbClr val="000000">
                    <a:alpha val="43137"/>
                  </a:srgbClr>
                </a:outerShdw>
              </a:effectLst>
            </a:endParaRPr>
          </a:p>
          <a:p>
            <a:pPr algn="just">
              <a:defRPr/>
            </a:pPr>
            <a:r>
              <a:rPr lang="ru-RU" altLang="ru-RU" sz="3200" dirty="0">
                <a:solidFill>
                  <a:schemeClr val="accent5">
                    <a:lumMod val="50000"/>
                  </a:schemeClr>
                </a:solidFill>
                <a:effectLst>
                  <a:outerShdw blurRad="38100" dist="38100" dir="2700000" algn="tl">
                    <a:srgbClr val="000000">
                      <a:alpha val="43137"/>
                    </a:srgbClr>
                  </a:outerShdw>
                </a:effectLst>
              </a:rPr>
              <a:t>следующая среда – 15 октября</a:t>
            </a:r>
          </a:p>
          <a:p>
            <a:pPr algn="just">
              <a:defRPr/>
            </a:pPr>
            <a:endParaRPr lang="ru-RU" altLang="ru-RU" sz="3200" dirty="0">
              <a:solidFill>
                <a:schemeClr val="accent5">
                  <a:lumMod val="50000"/>
                </a:schemeClr>
              </a:solidFill>
              <a:effectLst>
                <a:outerShdw blurRad="38100" dist="38100" dir="2700000" algn="tl">
                  <a:srgbClr val="000000">
                    <a:alpha val="43137"/>
                  </a:srgbClr>
                </a:outerShdw>
              </a:effectLst>
            </a:endParaRPr>
          </a:p>
          <a:p>
            <a:pPr algn="just">
              <a:defRPr/>
            </a:pPr>
            <a:r>
              <a:rPr lang="ru-RU" altLang="ru-RU" sz="3200" dirty="0">
                <a:solidFill>
                  <a:schemeClr val="accent5">
                    <a:lumMod val="50000"/>
                  </a:schemeClr>
                </a:solidFill>
                <a:effectLst>
                  <a:outerShdw blurRad="38100" dist="38100" dir="2700000" algn="tl">
                    <a:srgbClr val="000000">
                      <a:alpha val="43137"/>
                    </a:srgbClr>
                  </a:outerShdw>
                </a:effectLst>
              </a:rPr>
              <a:t>каждая группа - в своё время</a:t>
            </a:r>
          </a:p>
          <a:p>
            <a:pPr algn="just">
              <a:defRPr/>
            </a:pPr>
            <a:endParaRPr lang="ru-RU" altLang="ru-RU" sz="3200" dirty="0">
              <a:solidFill>
                <a:schemeClr val="accent5">
                  <a:lumMod val="50000"/>
                </a:schemeClr>
              </a:solidFill>
              <a:effectLst>
                <a:outerShdw blurRad="38100" dist="38100" dir="2700000" algn="tl">
                  <a:srgbClr val="000000">
                    <a:alpha val="43137"/>
                  </a:srgbClr>
                </a:outerShdw>
              </a:effectLst>
            </a:endParaRPr>
          </a:p>
          <a:p>
            <a:pPr algn="just">
              <a:defRPr/>
            </a:pPr>
            <a:r>
              <a:rPr lang="ru-RU" altLang="ru-RU" sz="3200" dirty="0">
                <a:solidFill>
                  <a:schemeClr val="accent5">
                    <a:lumMod val="50000"/>
                  </a:schemeClr>
                </a:solidFill>
                <a:effectLst>
                  <a:outerShdw blurRad="38100" dist="38100" dir="2700000" algn="tl">
                    <a:srgbClr val="000000">
                      <a:alpha val="43137"/>
                    </a:srgbClr>
                  </a:outerShdw>
                </a:effectLst>
              </a:rPr>
              <a:t>информация – в Смарт ЛМС</a:t>
            </a:r>
            <a:endParaRPr lang="ru-RU" altLang="ru-RU" sz="3200" dirty="0">
              <a:solidFill>
                <a:schemeClr val="accent5">
                  <a:lumMod val="50000"/>
                </a:schemeClr>
              </a:solidFill>
            </a:endParaRPr>
          </a:p>
        </p:txBody>
      </p:sp>
      <p:pic>
        <p:nvPicPr>
          <p:cNvPr id="1026" name="Picture 2" descr="Возможно, это черно-белое изображение (на открытом воздухе)"/>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8345" y="859188"/>
            <a:ext cx="4900474" cy="5804184"/>
          </a:xfrm>
          <a:prstGeom prst="rect">
            <a:avLst/>
          </a:prstGeom>
          <a:noFill/>
          <a:extLst>
            <a:ext uri="{909E8E84-426E-40DD-AFC4-6F175D3DCCD1}">
              <a14:hiddenFill xmlns:a14="http://schemas.microsoft.com/office/drawing/2010/main">
                <a:solidFill>
                  <a:srgbClr val="FFFFFF"/>
                </a:solidFill>
              </a14:hiddenFill>
            </a:ext>
          </a:extLst>
        </p:spPr>
      </p:pic>
      <p:pic>
        <p:nvPicPr>
          <p:cNvPr id="3" name="Изображение" descr="Изображение">
            <a:extLst>
              <a:ext uri="{FF2B5EF4-FFF2-40B4-BE49-F238E27FC236}">
                <a16:creationId xmlns:a16="http://schemas.microsoft.com/office/drawing/2014/main" id="{EE1B9263-249D-9530-B89E-3EF922AD9AF1}"/>
              </a:ext>
            </a:extLst>
          </p:cNvPr>
          <p:cNvPicPr>
            <a:picLocks noChangeAspect="1"/>
          </p:cNvPicPr>
          <p:nvPr/>
        </p:nvPicPr>
        <p:blipFill>
          <a:blip r:embed="rId3" cstate="print"/>
          <a:stretch>
            <a:fillRect/>
          </a:stretch>
        </p:blipFill>
        <p:spPr>
          <a:xfrm>
            <a:off x="10515320" y="259398"/>
            <a:ext cx="599790" cy="599790"/>
          </a:xfrm>
          <a:prstGeom prst="rect">
            <a:avLst/>
          </a:prstGeom>
          <a:ln w="12700">
            <a:miter lim="400000"/>
          </a:ln>
        </p:spPr>
      </p:pic>
    </p:spTree>
    <p:extLst>
      <p:ext uri="{BB962C8B-B14F-4D97-AF65-F5344CB8AC3E}">
        <p14:creationId xmlns:p14="http://schemas.microsoft.com/office/powerpoint/2010/main" val="609672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wheel(1)">
                                      <p:cBhvr>
                                        <p:cTn id="7" dur="2000"/>
                                        <p:tgtEl>
                                          <p:spTgt spid="1026"/>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heel(1)">
                                      <p:cBhvr>
                                        <p:cTn id="10"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Совет директоров">
  <a:themeElements>
    <a:clrScheme name="Совет директоров">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Совет директоров">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овет директоров">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136</TotalTime>
  <Words>441</Words>
  <Application>Microsoft Office PowerPoint</Application>
  <PresentationFormat>Широкоэкранный</PresentationFormat>
  <Paragraphs>75</Paragraphs>
  <Slides>9</Slides>
  <Notes>2</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9</vt:i4>
      </vt:variant>
    </vt:vector>
  </HeadingPairs>
  <TitlesOfParts>
    <vt:vector size="16" baseType="lpstr">
      <vt:lpstr>Arial</vt:lpstr>
      <vt:lpstr>Arial Narrow</vt:lpstr>
      <vt:lpstr>Calibri</vt:lpstr>
      <vt:lpstr>Century Gothic</vt:lpstr>
      <vt:lpstr>Wingdings</vt:lpstr>
      <vt:lpstr>Wingdings 3</vt:lpstr>
      <vt:lpstr>Совет директоров</vt:lpstr>
      <vt:lpstr>Тема 5. Цифровые финансовые активы страховщика</vt:lpstr>
      <vt:lpstr>Презентация PowerPoint</vt:lpstr>
      <vt:lpstr>1. Базовые характеристики страховой деятельности</vt:lpstr>
      <vt:lpstr>2. Инвестиционная политика страховой организации</vt:lpstr>
      <vt:lpstr>Законодательные правила инвестиционной политики страховщика</vt:lpstr>
      <vt:lpstr>3. ЦФА страховщика: российская практика</vt:lpstr>
      <vt:lpstr>Виды цифровых финансовых активов (ЦФА)</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Пользователь Windows</dc:creator>
  <cp:lastModifiedBy>Пользователь Windows</cp:lastModifiedBy>
  <cp:revision>18</cp:revision>
  <cp:lastPrinted>2025-10-07T20:22:32Z</cp:lastPrinted>
  <dcterms:created xsi:type="dcterms:W3CDTF">2025-10-07T17:28:09Z</dcterms:created>
  <dcterms:modified xsi:type="dcterms:W3CDTF">2025-10-07T20:22:36Z</dcterms:modified>
</cp:coreProperties>
</file>