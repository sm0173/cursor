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5" r:id="rId1"/>
  </p:sldMasterIdLst>
  <p:notesMasterIdLst>
    <p:notesMasterId r:id="rId27"/>
  </p:notesMasterIdLst>
  <p:sldIdLst>
    <p:sldId id="398" r:id="rId2"/>
    <p:sldId id="403" r:id="rId3"/>
    <p:sldId id="342" r:id="rId4"/>
    <p:sldId id="382" r:id="rId5"/>
    <p:sldId id="383" r:id="rId6"/>
    <p:sldId id="384" r:id="rId7"/>
    <p:sldId id="347" r:id="rId8"/>
    <p:sldId id="348" r:id="rId9"/>
    <p:sldId id="345" r:id="rId10"/>
    <p:sldId id="372" r:id="rId11"/>
    <p:sldId id="406" r:id="rId12"/>
    <p:sldId id="369" r:id="rId13"/>
    <p:sldId id="350" r:id="rId14"/>
    <p:sldId id="353" r:id="rId15"/>
    <p:sldId id="405" r:id="rId16"/>
    <p:sldId id="386" r:id="rId17"/>
    <p:sldId id="373" r:id="rId18"/>
    <p:sldId id="357" r:id="rId19"/>
    <p:sldId id="356" r:id="rId20"/>
    <p:sldId id="370" r:id="rId21"/>
    <p:sldId id="404" r:id="rId22"/>
    <p:sldId id="410" r:id="rId23"/>
    <p:sldId id="407" r:id="rId24"/>
    <p:sldId id="409" r:id="rId25"/>
    <p:sldId id="411" r:id="rId26"/>
  </p:sldIdLst>
  <p:sldSz cx="12192000" cy="6858000"/>
  <p:notesSz cx="9926638" cy="67976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58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91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125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622925" y="0"/>
            <a:ext cx="4302125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38220A-A7EA-4A22-9BBA-5A5CC701F4BD}" type="datetimeFigureOut">
              <a:rPr lang="ru-RU" smtClean="0"/>
              <a:t>17.09.2025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2924175" y="849313"/>
            <a:ext cx="4078288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92188" y="3271838"/>
            <a:ext cx="7942262" cy="2676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456363"/>
            <a:ext cx="4302125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622925" y="6456363"/>
            <a:ext cx="4302125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0EACFC-9ECD-4705-B837-B6ADE21F8F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710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Образ слайда 1">
            <a:extLst>
              <a:ext uri="{FF2B5EF4-FFF2-40B4-BE49-F238E27FC236}">
                <a16:creationId xmlns:a16="http://schemas.microsoft.com/office/drawing/2014/main" id="{92480280-F246-018F-DBFE-7A655D9BD8A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Заметки 2">
            <a:extLst>
              <a:ext uri="{FF2B5EF4-FFF2-40B4-BE49-F238E27FC236}">
                <a16:creationId xmlns:a16="http://schemas.microsoft.com/office/drawing/2014/main" id="{F73CDC79-46CE-DC70-F7F5-D65DBE297D0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ru-RU" altLang="ru-RU"/>
              <a:t>Вопрос: Чем отличается платежеспособность от финансовой устойчивости? Ответ: длительностью, сроком.</a:t>
            </a:r>
          </a:p>
          <a:p>
            <a:r>
              <a:rPr lang="ru-RU" altLang="ru-RU"/>
              <a:t>Ликвидность важна в к/ср. п., в отличие от устойчивости. Если оборачиваемость связана с управлением активами, то рентабельность – капиталом.</a:t>
            </a:r>
          </a:p>
          <a:p>
            <a:r>
              <a:rPr lang="ru-RU" altLang="ru-RU"/>
              <a:t>Платежеспособность позволяет оценить риск утраты ликвидности, достаточности средств по обязательствам и финансовые риски.</a:t>
            </a:r>
          </a:p>
          <a:p>
            <a:r>
              <a:rPr lang="ru-RU" altLang="ru-RU"/>
              <a:t>Эффективность оценивает деловую активность и операционные риски.</a:t>
            </a:r>
          </a:p>
          <a:p>
            <a:r>
              <a:rPr lang="ru-RU" altLang="ru-RU"/>
              <a:t>Рыночная стоимость важна для инвесторов.</a:t>
            </a:r>
          </a:p>
        </p:txBody>
      </p:sp>
      <p:sp>
        <p:nvSpPr>
          <p:cNvPr id="40964" name="Номер слайда 3">
            <a:extLst>
              <a:ext uri="{FF2B5EF4-FFF2-40B4-BE49-F238E27FC236}">
                <a16:creationId xmlns:a16="http://schemas.microsoft.com/office/drawing/2014/main" id="{273DE232-B6CB-944E-2528-0D4C0153EE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0D8815A-4C56-4D2E-816A-134908BAC715}" type="slidenum">
              <a:rPr lang="ru-RU" altLang="ru-RU" sz="1200"/>
              <a:pPr/>
              <a:t>3</a:t>
            </a:fld>
            <a:endParaRPr lang="ru-RU" altLang="ru-RU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Образ слайда 1">
            <a:extLst>
              <a:ext uri="{FF2B5EF4-FFF2-40B4-BE49-F238E27FC236}">
                <a16:creationId xmlns:a16="http://schemas.microsoft.com/office/drawing/2014/main" id="{925E815F-EFAD-F88A-16A9-3EE13A40ECE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Заметки 2">
            <a:extLst>
              <a:ext uri="{FF2B5EF4-FFF2-40B4-BE49-F238E27FC236}">
                <a16:creationId xmlns:a16="http://schemas.microsoft.com/office/drawing/2014/main" id="{C6DE9100-1205-CFFA-1CFA-ECC5D8CDF0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ru-RU" altLang="ru-RU" dirty="0"/>
              <a:t>Интересны инвесторам, т. е. есть ли смысл вкладывать деньги в </a:t>
            </a:r>
            <a:r>
              <a:rPr lang="ru-RU" altLang="ru-RU" dirty="0" smtClean="0"/>
              <a:t>это предприятие</a:t>
            </a:r>
            <a:r>
              <a:rPr lang="ru-RU" altLang="ru-RU" dirty="0"/>
              <a:t>.</a:t>
            </a:r>
          </a:p>
          <a:p>
            <a:endParaRPr lang="ru-RU" altLang="ru-RU" dirty="0"/>
          </a:p>
        </p:txBody>
      </p:sp>
      <p:sp>
        <p:nvSpPr>
          <p:cNvPr id="41988" name="Номер слайда 3">
            <a:extLst>
              <a:ext uri="{FF2B5EF4-FFF2-40B4-BE49-F238E27FC236}">
                <a16:creationId xmlns:a16="http://schemas.microsoft.com/office/drawing/2014/main" id="{EA6AC8FB-A69F-F56D-0CF6-3470B94149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B457435-54FF-4359-9207-AAE7F6CBAF08}" type="slidenum">
              <a:rPr lang="ru-RU" altLang="ru-RU" sz="1200"/>
              <a:pPr/>
              <a:t>4</a:t>
            </a:fld>
            <a:endParaRPr lang="ru-RU" altLang="ru-RU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Образ слайда 1">
            <a:extLst>
              <a:ext uri="{FF2B5EF4-FFF2-40B4-BE49-F238E27FC236}">
                <a16:creationId xmlns:a16="http://schemas.microsoft.com/office/drawing/2014/main" id="{1381A993-765E-6D9A-2919-1BAC86AE742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Заметки 2">
            <a:extLst>
              <a:ext uri="{FF2B5EF4-FFF2-40B4-BE49-F238E27FC236}">
                <a16:creationId xmlns:a16="http://schemas.microsoft.com/office/drawing/2014/main" id="{667D12DF-8958-82C7-6ABF-3C10AAF6773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ru-RU" altLang="ru-RU"/>
              <a:t>Последний показатель довольно распространен. Кто знает, как называется?</a:t>
            </a:r>
          </a:p>
        </p:txBody>
      </p:sp>
      <p:sp>
        <p:nvSpPr>
          <p:cNvPr id="43012" name="Номер слайда 3">
            <a:extLst>
              <a:ext uri="{FF2B5EF4-FFF2-40B4-BE49-F238E27FC236}">
                <a16:creationId xmlns:a16="http://schemas.microsoft.com/office/drawing/2014/main" id="{598C93D3-A04E-8B30-4BAC-1CAE67FF3A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C224D99-9DC1-4DF1-BBAC-67EE4D643A4A}" type="slidenum">
              <a:rPr lang="ru-RU" altLang="ru-RU" sz="1200"/>
              <a:pPr/>
              <a:t>5</a:t>
            </a:fld>
            <a:endParaRPr lang="ru-RU" altLang="ru-RU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Образ слайда 1">
            <a:extLst>
              <a:ext uri="{FF2B5EF4-FFF2-40B4-BE49-F238E27FC236}">
                <a16:creationId xmlns:a16="http://schemas.microsoft.com/office/drawing/2014/main" id="{A65BC2AA-4073-AF9B-443A-033FE8AA42F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Заметки 2">
            <a:extLst>
              <a:ext uri="{FF2B5EF4-FFF2-40B4-BE49-F238E27FC236}">
                <a16:creationId xmlns:a16="http://schemas.microsoft.com/office/drawing/2014/main" id="{960DB8C3-EE83-7A7B-0968-A42C80DED82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altLang="ru-RU" dirty="0"/>
              <a:t>Связаны с пассивной частью баланса – с капиталом. Однако обратите внимание, что берется в расчет из обязательств только долгосрочный капитал. </a:t>
            </a:r>
            <a:r>
              <a:rPr lang="en-US" altLang="ru-RU" dirty="0"/>
              <a:t>CL </a:t>
            </a:r>
            <a:r>
              <a:rPr lang="ru-RU" altLang="ru-RU" dirty="0"/>
              <a:t>мы будет использовать при расчете ликвидности. </a:t>
            </a:r>
            <a:r>
              <a:rPr lang="en-US" altLang="ru-RU" dirty="0"/>
              <a:t>D</a:t>
            </a:r>
            <a:r>
              <a:rPr lang="ru-RU" altLang="ru-RU" dirty="0"/>
              <a:t> по сравнению с</a:t>
            </a:r>
            <a:r>
              <a:rPr lang="en-US" altLang="ru-RU" dirty="0"/>
              <a:t> CL</a:t>
            </a:r>
            <a:r>
              <a:rPr lang="ru-RU" altLang="ru-RU" dirty="0"/>
              <a:t> существенно не меняется в течение некоторого периода времени и, как правило, по объему (сумме) существенно больше к/ср </a:t>
            </a:r>
            <a:r>
              <a:rPr lang="en-US" altLang="ru-RU" dirty="0"/>
              <a:t>(CL)</a:t>
            </a:r>
            <a:r>
              <a:rPr lang="ru-RU" altLang="ru-RU" dirty="0" smtClean="0"/>
              <a:t>. Вместо общих активов иногда берут чистые активы </a:t>
            </a:r>
            <a:r>
              <a:rPr lang="en-US" altLang="ru-RU" dirty="0" smtClean="0"/>
              <a:t>(NA)</a:t>
            </a:r>
            <a:r>
              <a:rPr lang="ru-RU" altLang="ru-RU" dirty="0" smtClean="0"/>
              <a:t>, т.е. активы снижают на размер текущих обязательств</a:t>
            </a:r>
            <a:r>
              <a:rPr lang="en-US" altLang="ru-RU" dirty="0" smtClean="0"/>
              <a:t> </a:t>
            </a:r>
            <a:r>
              <a:rPr lang="ru-RU" altLang="ru-RU" dirty="0" smtClean="0"/>
              <a:t>(</a:t>
            </a:r>
            <a:r>
              <a:rPr lang="en-US" altLang="ru-RU" dirty="0" smtClean="0"/>
              <a:t>CL</a:t>
            </a:r>
            <a:r>
              <a:rPr lang="ru-RU" altLang="ru-RU" dirty="0" smtClean="0"/>
              <a:t>).</a:t>
            </a:r>
            <a:endParaRPr lang="ru-RU" altLang="ru-RU" dirty="0"/>
          </a:p>
          <a:p>
            <a:r>
              <a:rPr lang="ru-RU" altLang="ru-RU" dirty="0"/>
              <a:t>Здесь особое внимание нужно уделить мультипликаторам, к которым относится финансовый рычаг и коэффициент собственного капитала. Мультипликаторы – показатели, изменение размеров которых, приведет к существенным (в разы) изменениям других, связанных с ними, показателей.</a:t>
            </a:r>
          </a:p>
        </p:txBody>
      </p:sp>
      <p:sp>
        <p:nvSpPr>
          <p:cNvPr id="44036" name="Номер слайда 3">
            <a:extLst>
              <a:ext uri="{FF2B5EF4-FFF2-40B4-BE49-F238E27FC236}">
                <a16:creationId xmlns:a16="http://schemas.microsoft.com/office/drawing/2014/main" id="{F925A08A-6CBF-30A4-A043-542067F711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98C3DF4-ADA9-4048-A5E4-D445945F1042}" type="slidenum">
              <a:rPr lang="ru-RU" altLang="ru-RU" sz="1200"/>
              <a:pPr/>
              <a:t>7</a:t>
            </a:fld>
            <a:endParaRPr lang="ru-RU" altLang="ru-RU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Образ слайда 1">
            <a:extLst>
              <a:ext uri="{FF2B5EF4-FFF2-40B4-BE49-F238E27FC236}">
                <a16:creationId xmlns:a16="http://schemas.microsoft.com/office/drawing/2014/main" id="{FD102AE5-B798-5F5D-F06E-AF53D5553CE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Заметки 2">
            <a:extLst>
              <a:ext uri="{FF2B5EF4-FFF2-40B4-BE49-F238E27FC236}">
                <a16:creationId xmlns:a16="http://schemas.microsoft.com/office/drawing/2014/main" id="{0820D85E-3C79-672F-74DA-D9DEE774054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ru-RU" altLang="ru-RU" dirty="0"/>
              <a:t>Здесь мы опять встречаемся с двумя видами прибыли </a:t>
            </a:r>
            <a:r>
              <a:rPr lang="en-US" altLang="ru-RU" dirty="0"/>
              <a:t>EBIT</a:t>
            </a:r>
            <a:r>
              <a:rPr lang="ru-RU" altLang="ru-RU" dirty="0"/>
              <a:t> и</a:t>
            </a:r>
            <a:r>
              <a:rPr lang="en-US" altLang="ru-RU" dirty="0"/>
              <a:t> EBITDA</a:t>
            </a:r>
            <a:r>
              <a:rPr lang="ru-RU" altLang="ru-RU" dirty="0"/>
              <a:t>. Как вы думаете, каким видам предприятия выгоднее использовать второй вид прибыли (с амортизацией)? Лучший ответ: крупным промышленным предприятиям </a:t>
            </a:r>
            <a:r>
              <a:rPr lang="ru-RU" altLang="ru-RU" dirty="0" smtClean="0"/>
              <a:t>из</a:t>
            </a:r>
            <a:r>
              <a:rPr lang="ru-RU" altLang="ru-RU" baseline="0" dirty="0" smtClean="0"/>
              <a:t> ТЭК</a:t>
            </a:r>
            <a:r>
              <a:rPr lang="ru-RU" altLang="ru-RU" dirty="0" smtClean="0"/>
              <a:t> (угольная промышленность, нефтяная), </a:t>
            </a:r>
            <a:r>
              <a:rPr lang="ru-RU" altLang="ru-RU" dirty="0"/>
              <a:t>то есть с большим основным капиталом. Об этом я говорила чуть ранее.</a:t>
            </a:r>
          </a:p>
          <a:p>
            <a:r>
              <a:rPr lang="ru-RU" altLang="ru-RU" dirty="0" smtClean="0"/>
              <a:t>Два </a:t>
            </a:r>
            <a:r>
              <a:rPr lang="ru-RU" altLang="ru-RU" dirty="0"/>
              <a:t>последних коэффициента говорят о способности компании рассчитаться с кредиторами за счет прибыли.</a:t>
            </a:r>
          </a:p>
        </p:txBody>
      </p:sp>
      <p:sp>
        <p:nvSpPr>
          <p:cNvPr id="45060" name="Номер слайда 3">
            <a:extLst>
              <a:ext uri="{FF2B5EF4-FFF2-40B4-BE49-F238E27FC236}">
                <a16:creationId xmlns:a16="http://schemas.microsoft.com/office/drawing/2014/main" id="{DB262B9C-45FB-DBCC-B3D2-5E61D14EE3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E6E893A-6C7B-48D8-B9C2-C10E35B2FC75}" type="slidenum">
              <a:rPr lang="ru-RU" altLang="ru-RU" sz="1200"/>
              <a:pPr/>
              <a:t>8</a:t>
            </a:fld>
            <a:endParaRPr lang="ru-RU" altLang="ru-RU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Образ слайда 1">
            <a:extLst>
              <a:ext uri="{FF2B5EF4-FFF2-40B4-BE49-F238E27FC236}">
                <a16:creationId xmlns:a16="http://schemas.microsoft.com/office/drawing/2014/main" id="{2376C5EF-953E-3C3B-B95A-BE8C31E8AE0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Заметки 2">
            <a:extLst>
              <a:ext uri="{FF2B5EF4-FFF2-40B4-BE49-F238E27FC236}">
                <a16:creationId xmlns:a16="http://schemas.microsoft.com/office/drawing/2014/main" id="{66A4E6A7-3448-0F7E-DCC0-9C8A4D0ED2D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ru-RU" altLang="ru-RU"/>
              <a:t>Внести в шпаргалку</a:t>
            </a:r>
          </a:p>
        </p:txBody>
      </p:sp>
      <p:sp>
        <p:nvSpPr>
          <p:cNvPr id="46084" name="Номер слайда 3">
            <a:extLst>
              <a:ext uri="{FF2B5EF4-FFF2-40B4-BE49-F238E27FC236}">
                <a16:creationId xmlns:a16="http://schemas.microsoft.com/office/drawing/2014/main" id="{21C828E8-4466-EA1C-13A7-6FC0381F13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86AA657-0C78-4DF6-9EF4-AFFD94E297A2}" type="slidenum">
              <a:rPr lang="ru-RU" altLang="ru-RU" sz="1200"/>
              <a:pPr/>
              <a:t>9</a:t>
            </a:fld>
            <a:endParaRPr lang="ru-RU" altLang="ru-RU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https://my.mts-link.ru/j/3055901/2966336182/stream-new/2938453336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0EACFC-9ECD-4705-B837-B6ADE21F8F6D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51970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Образ слайда 1">
            <a:extLst>
              <a:ext uri="{FF2B5EF4-FFF2-40B4-BE49-F238E27FC236}">
                <a16:creationId xmlns:a16="http://schemas.microsoft.com/office/drawing/2014/main" id="{8835DA22-2916-D47E-F47E-8D2BD073C90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Заметки 2">
            <a:extLst>
              <a:ext uri="{FF2B5EF4-FFF2-40B4-BE49-F238E27FC236}">
                <a16:creationId xmlns:a16="http://schemas.microsoft.com/office/drawing/2014/main" id="{197C5226-8966-DF9E-55B8-5E986D5DF37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ru-RU" altLang="ru-RU"/>
              <a:t>Показывают, сколько раз за год оборачиваются активные или пассивные показатели: чем чаще, тем лучше. Кроме указанных показателей (общих активов, долгосрочной задолженности и запасов), можно взять кредиторскую задолженность, собственный капитал.</a:t>
            </a:r>
          </a:p>
          <a:p>
            <a:r>
              <a:rPr lang="ru-RU" altLang="ru-RU"/>
              <a:t>Календарные дни, как правило, берут в круглом варианте – год, полгода, квартал и месяц.</a:t>
            </a:r>
          </a:p>
          <a:p>
            <a:r>
              <a:rPr lang="ru-RU" altLang="ru-RU"/>
              <a:t>Как мы уже знаем, в идеале результаты должны рассматриваться в динамике и с учетом отрасли, к которой принадлежит предприятие.</a:t>
            </a:r>
          </a:p>
        </p:txBody>
      </p:sp>
      <p:sp>
        <p:nvSpPr>
          <p:cNvPr id="48132" name="Номер слайда 3">
            <a:extLst>
              <a:ext uri="{FF2B5EF4-FFF2-40B4-BE49-F238E27FC236}">
                <a16:creationId xmlns:a16="http://schemas.microsoft.com/office/drawing/2014/main" id="{A1D12B03-1EF3-773C-5F89-4F835EF58E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CACC93A-30D1-431D-BAE3-2B0597331133}" type="slidenum">
              <a:rPr lang="ru-RU" altLang="ru-RU" sz="1200"/>
              <a:pPr/>
              <a:t>12</a:t>
            </a:fld>
            <a:endParaRPr lang="ru-RU" altLang="ru-RU" sz="12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Образ слайда 1">
            <a:extLst>
              <a:ext uri="{FF2B5EF4-FFF2-40B4-BE49-F238E27FC236}">
                <a16:creationId xmlns:a16="http://schemas.microsoft.com/office/drawing/2014/main" id="{EDD8A330-EB00-7F89-FEC6-F8B6DF0FD64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Заметки 2">
            <a:extLst>
              <a:ext uri="{FF2B5EF4-FFF2-40B4-BE49-F238E27FC236}">
                <a16:creationId xmlns:a16="http://schemas.microsoft.com/office/drawing/2014/main" id="{F5950157-E185-A1C4-397F-5950C700DE2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ru-RU" altLang="ru-RU"/>
              <a:t>Эти показатели позволяют нам понять как в компании управляют капиталом. Существуют и другие виды рентабельности.</a:t>
            </a:r>
          </a:p>
          <a:p>
            <a:r>
              <a:rPr lang="ru-RU" altLang="ru-RU"/>
              <a:t>Красным приведены обозначения чистой прибыли, которые попадаются в различных источниках – </a:t>
            </a:r>
            <a:r>
              <a:rPr lang="en-US" altLang="ru-RU"/>
              <a:t>Net Earning, Net Income, Net Profit</a:t>
            </a:r>
            <a:r>
              <a:rPr lang="ru-RU" altLang="ru-RU"/>
              <a:t>.</a:t>
            </a:r>
          </a:p>
          <a:p>
            <a:r>
              <a:rPr lang="ru-RU" altLang="ru-RU"/>
              <a:t>Иногда, для некоторых стейкхолдеров (внешних пользователей) вместо чистой прибыли берут другие виды. Например, </a:t>
            </a:r>
            <a:r>
              <a:rPr lang="en-US" altLang="ru-RU"/>
              <a:t>EBITDA</a:t>
            </a:r>
            <a:r>
              <a:rPr lang="ru-RU" altLang="ru-RU"/>
              <a:t>!</a:t>
            </a:r>
          </a:p>
          <a:p>
            <a:r>
              <a:rPr lang="ru-RU" altLang="ru-RU"/>
              <a:t>Главное, чтобы последнее неравенство было адекватным, в основу расчетах всех видов рентабельности берется один вид прибыли.</a:t>
            </a:r>
          </a:p>
        </p:txBody>
      </p:sp>
      <p:sp>
        <p:nvSpPr>
          <p:cNvPr id="49156" name="Номер слайда 3">
            <a:extLst>
              <a:ext uri="{FF2B5EF4-FFF2-40B4-BE49-F238E27FC236}">
                <a16:creationId xmlns:a16="http://schemas.microsoft.com/office/drawing/2014/main" id="{BA5E26BB-D30B-3A30-D339-4922D94467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B74F1B8-C211-4FD5-A193-E52BBAA5987E}" type="slidenum">
              <a:rPr lang="ru-RU" altLang="ru-RU" sz="1200"/>
              <a:pPr/>
              <a:t>13</a:t>
            </a:fld>
            <a:endParaRPr lang="ru-RU" altLang="ru-RU" sz="12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Образ слайда 1">
            <a:extLst>
              <a:ext uri="{FF2B5EF4-FFF2-40B4-BE49-F238E27FC236}">
                <a16:creationId xmlns:a16="http://schemas.microsoft.com/office/drawing/2014/main" id="{08AFF44A-5867-A97E-B590-7F750E7464A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Заметки 2">
            <a:extLst>
              <a:ext uri="{FF2B5EF4-FFF2-40B4-BE49-F238E27FC236}">
                <a16:creationId xmlns:a16="http://schemas.microsoft.com/office/drawing/2014/main" id="{AD5F6848-614B-54AC-E29F-0E9C5DF2959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>
              <a:latin typeface="Times New Roman" panose="02020603050405020304" pitchFamily="18" charset="0"/>
            </a:endParaRPr>
          </a:p>
        </p:txBody>
      </p:sp>
      <p:sp>
        <p:nvSpPr>
          <p:cNvPr id="51204" name="Дата 3">
            <a:extLst>
              <a:ext uri="{FF2B5EF4-FFF2-40B4-BE49-F238E27FC236}">
                <a16:creationId xmlns:a16="http://schemas.microsoft.com/office/drawing/2014/main" id="{9D3EBB5F-924C-BCBA-6E22-93D8D980645F}"/>
              </a:ext>
            </a:extLst>
          </p:cNvPr>
          <p:cNvSpPr>
            <a:spLocks noGrp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1CA92E8-A557-45B4-9E03-BF3E938CCBE4}" type="datetime1">
              <a:rPr lang="ru-RU" altLang="ru-RU" sz="1200" smtClean="0"/>
              <a:pPr/>
              <a:t>17.09.2025</a:t>
            </a:fld>
            <a:endParaRPr lang="ru-RU" altLang="ru-RU" sz="1200"/>
          </a:p>
        </p:txBody>
      </p:sp>
      <p:sp>
        <p:nvSpPr>
          <p:cNvPr id="51205" name="Номер слайда 4">
            <a:extLst>
              <a:ext uri="{FF2B5EF4-FFF2-40B4-BE49-F238E27FC236}">
                <a16:creationId xmlns:a16="http://schemas.microsoft.com/office/drawing/2014/main" id="{34873092-32EC-7863-0544-9252F2E150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C435BE6-EA8E-4F2B-9ED2-3EE6631C5F08}" type="slidenum">
              <a:rPr lang="ru-RU" altLang="ru-RU" sz="1200"/>
              <a:pPr/>
              <a:t>16</a:t>
            </a:fld>
            <a:endParaRPr lang="ru-RU" altLang="ru-RU" sz="12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Образ слайда 1">
            <a:extLst>
              <a:ext uri="{FF2B5EF4-FFF2-40B4-BE49-F238E27FC236}">
                <a16:creationId xmlns:a16="http://schemas.microsoft.com/office/drawing/2014/main" id="{79BF2ED7-C376-CE3F-5B71-8A2DBB889A2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Заметки 2">
            <a:extLst>
              <a:ext uri="{FF2B5EF4-FFF2-40B4-BE49-F238E27FC236}">
                <a16:creationId xmlns:a16="http://schemas.microsoft.com/office/drawing/2014/main" id="{801B65CD-64A6-84BC-6E50-D0B82F906A3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ru-RU" altLang="ru-RU">
                <a:solidFill>
                  <a:srgbClr val="FF0000"/>
                </a:solidFill>
              </a:rPr>
              <a:t>Можно добавить историю – почти 100 лет!</a:t>
            </a:r>
            <a:endParaRPr lang="en-US" altLang="ru-RU">
              <a:solidFill>
                <a:srgbClr val="FF0000"/>
              </a:solidFill>
            </a:endParaRPr>
          </a:p>
        </p:txBody>
      </p:sp>
      <p:sp>
        <p:nvSpPr>
          <p:cNvPr id="52228" name="Номер слайда 3">
            <a:extLst>
              <a:ext uri="{FF2B5EF4-FFF2-40B4-BE49-F238E27FC236}">
                <a16:creationId xmlns:a16="http://schemas.microsoft.com/office/drawing/2014/main" id="{B80A3F0C-3A2D-2E8B-BBC1-07DE93310E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CAB72D1-0814-426F-9021-C7625C49BBB6}" type="slidenum">
              <a:rPr lang="ru-RU" altLang="ru-RU" sz="1200"/>
              <a:pPr/>
              <a:t>17</a:t>
            </a:fld>
            <a:endParaRPr lang="ru-RU" altLang="ru-RU" sz="12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Образ слайда 1">
            <a:extLst>
              <a:ext uri="{FF2B5EF4-FFF2-40B4-BE49-F238E27FC236}">
                <a16:creationId xmlns:a16="http://schemas.microsoft.com/office/drawing/2014/main" id="{515DFA9C-FD88-601F-CDB8-C8D79B87473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Заметки 2">
            <a:extLst>
              <a:ext uri="{FF2B5EF4-FFF2-40B4-BE49-F238E27FC236}">
                <a16:creationId xmlns:a16="http://schemas.microsoft.com/office/drawing/2014/main" id="{1A660471-847C-E855-5719-9F5B27F937F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ru-RU" altLang="ru-RU"/>
              <a:t>Если останется время</a:t>
            </a:r>
          </a:p>
        </p:txBody>
      </p:sp>
      <p:sp>
        <p:nvSpPr>
          <p:cNvPr id="53252" name="Номер слайда 3">
            <a:extLst>
              <a:ext uri="{FF2B5EF4-FFF2-40B4-BE49-F238E27FC236}">
                <a16:creationId xmlns:a16="http://schemas.microsoft.com/office/drawing/2014/main" id="{B11AB512-8AD2-3B0F-9680-D3D57364F3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B741281-EADD-4DEF-9F85-E0213EB5CB7B}" type="slidenum">
              <a:rPr lang="ru-RU" altLang="ru-RU" sz="1200"/>
              <a:pPr/>
              <a:t>20</a:t>
            </a:fld>
            <a:endParaRPr lang="ru-RU" altLang="ru-RU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t>9/17/2025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20506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3212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9/17/2025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7131426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987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62460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299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493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9/17/2025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080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9/17/2025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780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3850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0475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9/17/2025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36559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blog.bitobe.ru/article/model-dyupona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://www.dupont.ru/industries/food-and-beverage.html" TargetMode="External"/><Relationship Id="rId13" Type="http://schemas.openxmlformats.org/officeDocument/2006/relationships/hyperlink" Target="http://www.dupont.ru/industries/energy.html" TargetMode="External"/><Relationship Id="rId3" Type="http://schemas.openxmlformats.org/officeDocument/2006/relationships/hyperlink" Target="http://www.dupont.ru/" TargetMode="External"/><Relationship Id="rId7" Type="http://schemas.openxmlformats.org/officeDocument/2006/relationships/hyperlink" Target="http://www.dupont.ru/industries/health-care-and-medical.html" TargetMode="External"/><Relationship Id="rId12" Type="http://schemas.openxmlformats.org/officeDocument/2006/relationships/hyperlink" Target="http://www.dupont.ru/industries/electronics.html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dupont.ru/industries/safety-protection.html" TargetMode="External"/><Relationship Id="rId11" Type="http://schemas.openxmlformats.org/officeDocument/2006/relationships/hyperlink" Target="http://www.dupont.ru/industries/packaging-and-printing.html" TargetMode="External"/><Relationship Id="rId5" Type="http://schemas.openxmlformats.org/officeDocument/2006/relationships/hyperlink" Target="http://www.dupont.ru/industries/mining.html" TargetMode="External"/><Relationship Id="rId10" Type="http://schemas.openxmlformats.org/officeDocument/2006/relationships/hyperlink" Target="http://www.dupont.ru/industries/building-and-construction.html" TargetMode="External"/><Relationship Id="rId4" Type="http://schemas.openxmlformats.org/officeDocument/2006/relationships/hyperlink" Target="http://www.dupont.ru/industries/automotive.html" TargetMode="External"/><Relationship Id="rId9" Type="http://schemas.openxmlformats.org/officeDocument/2006/relationships/hyperlink" Target="http://www.dupont.ru/industries/plastics.html" TargetMode="External"/><Relationship Id="rId1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bankiros.ru/wiki/term/priciny-bankrotstva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285B2D-A0B7-6E31-1AC1-A3811DBDB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497794"/>
            <a:ext cx="10178322" cy="1313250"/>
          </a:xfrm>
        </p:spPr>
        <p:txBody>
          <a:bodyPr>
            <a:noAutofit/>
          </a:bodyPr>
          <a:lstStyle/>
          <a:p>
            <a:r>
              <a:rPr lang="ru-RU" sz="4000" b="1" dirty="0"/>
              <a:t>2. Финансовый анализ и финансовое планирование на предприятии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0BDC35-3DB3-A981-3BCC-B579648DB6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2362679"/>
            <a:ext cx="10178322" cy="41129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800" dirty="0"/>
              <a:t>3. Коэффициентный анализ. Модель Дюпона. Моделирование и факторный анализ прибыли и рентабельности.</a:t>
            </a:r>
          </a:p>
          <a:p>
            <a:pPr marL="0" indent="0">
              <a:buNone/>
            </a:pPr>
            <a:r>
              <a:rPr lang="ru-RU" sz="2800" dirty="0"/>
              <a:t>4. Финансовая устойчивость и банкротство: риски. Финансовый леверидж. Основные модели анализа вероятности банкротства.</a:t>
            </a:r>
          </a:p>
        </p:txBody>
      </p:sp>
    </p:spTree>
    <p:extLst>
      <p:ext uri="{BB962C8B-B14F-4D97-AF65-F5344CB8AC3E}">
        <p14:creationId xmlns:p14="http://schemas.microsoft.com/office/powerpoint/2010/main" val="3836793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FFF35A-EB66-E5C9-EFC4-649C2CF84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3. Коэффициентный (или относительный) финансовый анализ 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6A5026-C08A-0158-0EB9-4FD0ED8B18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2286001"/>
            <a:ext cx="10178322" cy="4007223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90000"/>
              </a:lnSpc>
              <a:spcBef>
                <a:spcPct val="20000"/>
              </a:spcBef>
              <a:buSzPct val="85000"/>
              <a:buNone/>
              <a:defRPr/>
            </a:pPr>
            <a:r>
              <a:rPr lang="ru-RU" sz="4800" kern="0" dirty="0"/>
              <a:t>Важно!</a:t>
            </a:r>
          </a:p>
          <a:p>
            <a:pPr marL="971550" lvl="1" indent="-514350">
              <a:lnSpc>
                <a:spcPct val="90000"/>
              </a:lnSpc>
              <a:spcBef>
                <a:spcPct val="20000"/>
              </a:spcBef>
              <a:buSzPct val="85000"/>
              <a:buFont typeface="+mj-lt"/>
              <a:buAutoNum type="arabicPeriod"/>
              <a:defRPr/>
            </a:pPr>
            <a:r>
              <a:rPr lang="ru-RU" sz="2800" kern="0" dirty="0">
                <a:cs typeface="Times New Roman" pitchFamily="18" charset="0"/>
              </a:rPr>
              <a:t>Основа для вычисления</a:t>
            </a:r>
          </a:p>
          <a:p>
            <a:pPr marL="1428750" lvl="2" indent="-514350">
              <a:lnSpc>
                <a:spcPct val="90000"/>
              </a:lnSpc>
              <a:spcBef>
                <a:spcPct val="20000"/>
              </a:spcBef>
              <a:buSzPct val="85000"/>
              <a:defRPr/>
            </a:pPr>
            <a:r>
              <a:rPr lang="ru-RU" sz="2400" kern="0" dirty="0">
                <a:cs typeface="Times New Roman" pitchFamily="18" charset="0"/>
              </a:rPr>
              <a:t>например, какой вид прибыли</a:t>
            </a:r>
          </a:p>
          <a:p>
            <a:pPr marL="971550" lvl="1" indent="-514350">
              <a:lnSpc>
                <a:spcPct val="90000"/>
              </a:lnSpc>
              <a:spcBef>
                <a:spcPct val="20000"/>
              </a:spcBef>
              <a:buSzPct val="85000"/>
              <a:buFont typeface="+mj-lt"/>
              <a:buAutoNum type="arabicPeriod"/>
              <a:defRPr/>
            </a:pPr>
            <a:r>
              <a:rPr lang="ru-RU" sz="2800" kern="0" dirty="0"/>
              <a:t>Д</a:t>
            </a:r>
            <a:r>
              <a:rPr lang="ru-RU" sz="2800" kern="0" dirty="0">
                <a:cs typeface="Times New Roman" pitchFamily="18" charset="0"/>
              </a:rPr>
              <a:t>ля кого проводится анализ</a:t>
            </a:r>
            <a:endParaRPr lang="en-US" sz="2800" kern="0" dirty="0">
              <a:cs typeface="Times New Roman" pitchFamily="18" charset="0"/>
            </a:endParaRPr>
          </a:p>
          <a:p>
            <a:pPr marL="1428750" lvl="2" indent="-514350">
              <a:lnSpc>
                <a:spcPct val="90000"/>
              </a:lnSpc>
              <a:spcBef>
                <a:spcPct val="20000"/>
              </a:spcBef>
              <a:buSzPct val="85000"/>
              <a:defRPr/>
            </a:pPr>
            <a:r>
              <a:rPr lang="ru-RU" sz="2400" kern="0" dirty="0">
                <a:cs typeface="Times New Roman" pitchFamily="18" charset="0"/>
              </a:rPr>
              <a:t>стейкхолдеры</a:t>
            </a:r>
          </a:p>
          <a:p>
            <a:pPr marL="971550" lvl="1" indent="-514350">
              <a:lnSpc>
                <a:spcPct val="90000"/>
              </a:lnSpc>
              <a:spcBef>
                <a:spcPct val="20000"/>
              </a:spcBef>
              <a:buSzPct val="85000"/>
              <a:buFont typeface="+mj-lt"/>
              <a:buAutoNum type="arabicPeriod"/>
              <a:defRPr/>
            </a:pPr>
            <a:r>
              <a:rPr lang="ru-RU" sz="2800" kern="0" dirty="0">
                <a:cs typeface="Times New Roman" pitchFamily="18" charset="0"/>
              </a:rPr>
              <a:t>Единица измерения</a:t>
            </a:r>
          </a:p>
          <a:p>
            <a:pPr marL="971550" lvl="1" indent="-514350">
              <a:lnSpc>
                <a:spcPct val="90000"/>
              </a:lnSpc>
              <a:spcBef>
                <a:spcPct val="20000"/>
              </a:spcBef>
              <a:buSzPct val="85000"/>
              <a:buFont typeface="+mj-lt"/>
              <a:buAutoNum type="arabicPeriod"/>
              <a:defRPr/>
            </a:pPr>
            <a:r>
              <a:rPr lang="ru-RU" sz="2800" kern="0" dirty="0">
                <a:cs typeface="Times New Roman" pitchFamily="18" charset="0"/>
              </a:rPr>
              <a:t>Интерпретация</a:t>
            </a:r>
          </a:p>
          <a:p>
            <a:pPr marL="971550" lvl="1" indent="-514350">
              <a:lnSpc>
                <a:spcPct val="90000"/>
              </a:lnSpc>
              <a:spcBef>
                <a:spcPct val="20000"/>
              </a:spcBef>
              <a:buSzPct val="85000"/>
              <a:buFont typeface="+mj-lt"/>
              <a:buAutoNum type="arabicPeriod"/>
              <a:defRPr/>
            </a:pPr>
            <a:r>
              <a:rPr lang="ru-RU" sz="2800" kern="0" dirty="0">
                <a:cs typeface="Times New Roman" pitchFamily="18" charset="0"/>
              </a:rPr>
              <a:t>Оптимизация (возможные пути улучшения)</a:t>
            </a:r>
          </a:p>
          <a:p>
            <a:pPr marL="1428750" lvl="2" indent="-514350">
              <a:lnSpc>
                <a:spcPct val="90000"/>
              </a:lnSpc>
              <a:spcBef>
                <a:spcPct val="20000"/>
              </a:spcBef>
              <a:buSzPct val="85000"/>
              <a:defRPr/>
            </a:pPr>
            <a:r>
              <a:rPr lang="ru-RU" sz="2400" kern="0" dirty="0">
                <a:cs typeface="Times New Roman" pitchFamily="18" charset="0"/>
              </a:rPr>
              <a:t>аудит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26924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9" name="Rectangle 7" descr="Large confetti">
            <a:extLst>
              <a:ext uri="{FF2B5EF4-FFF2-40B4-BE49-F238E27FC236}">
                <a16:creationId xmlns:a16="http://schemas.microsoft.com/office/drawing/2014/main" id="{2EAD34D7-2D4A-9822-43AA-6E6C837D3B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41500" y="260351"/>
            <a:ext cx="6681788" cy="93662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ru-RU" altLang="ru-RU" sz="3000" b="1"/>
              <a:t>Категории финансовых коэффициентов</a:t>
            </a:r>
            <a:r>
              <a:rPr lang="en-US" altLang="ru-RU" sz="3000" b="1"/>
              <a:t> </a:t>
            </a:r>
            <a:r>
              <a:rPr lang="ru-RU" altLang="ru-RU" sz="3000" b="1"/>
              <a:t>и их взаимосвязь</a:t>
            </a:r>
          </a:p>
        </p:txBody>
      </p:sp>
      <p:sp>
        <p:nvSpPr>
          <p:cNvPr id="13328" name="Text Box 16">
            <a:extLst>
              <a:ext uri="{FF2B5EF4-FFF2-40B4-BE49-F238E27FC236}">
                <a16:creationId xmlns:a16="http://schemas.microsoft.com/office/drawing/2014/main" id="{905DC8B1-EAB9-24DB-9CB8-440F63C2B0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8214" y="3141664"/>
            <a:ext cx="2232025" cy="344487"/>
          </a:xfrm>
          <a:prstGeom prst="rect">
            <a:avLst/>
          </a:prstGeom>
          <a:solidFill>
            <a:schemeClr val="accent6">
              <a:lumMod val="25000"/>
              <a:lumOff val="75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r>
              <a:rPr lang="ru-RU" sz="1600" i="1" dirty="0"/>
              <a:t>Платежеспособность</a:t>
            </a:r>
          </a:p>
        </p:txBody>
      </p:sp>
      <p:sp>
        <p:nvSpPr>
          <p:cNvPr id="13330" name="Text Box 18">
            <a:extLst>
              <a:ext uri="{FF2B5EF4-FFF2-40B4-BE49-F238E27FC236}">
                <a16:creationId xmlns:a16="http://schemas.microsoft.com/office/drawing/2014/main" id="{2C55D708-E614-6F2A-F318-8EAA888BF7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8213" y="5675314"/>
            <a:ext cx="2032000" cy="344487"/>
          </a:xfrm>
          <a:prstGeom prst="rect">
            <a:avLst/>
          </a:prstGeom>
          <a:solidFill>
            <a:schemeClr val="accent6">
              <a:lumMod val="25000"/>
              <a:lumOff val="75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ru-RU" sz="1600" i="1" dirty="0"/>
              <a:t>Привлекательность</a:t>
            </a:r>
          </a:p>
        </p:txBody>
      </p:sp>
      <p:grpSp>
        <p:nvGrpSpPr>
          <p:cNvPr id="2" name="Group 27">
            <a:extLst>
              <a:ext uri="{FF2B5EF4-FFF2-40B4-BE49-F238E27FC236}">
                <a16:creationId xmlns:a16="http://schemas.microsoft.com/office/drawing/2014/main" id="{C2A44A60-F77A-D410-9912-D4FC028BAE6A}"/>
              </a:ext>
            </a:extLst>
          </p:cNvPr>
          <p:cNvGrpSpPr>
            <a:grpSpLocks/>
          </p:cNvGrpSpPr>
          <p:nvPr/>
        </p:nvGrpSpPr>
        <p:grpSpPr bwMode="auto">
          <a:xfrm>
            <a:off x="1573213" y="1639889"/>
            <a:ext cx="8051800" cy="4035425"/>
            <a:chOff x="1488" y="1824"/>
            <a:chExt cx="3120" cy="1549"/>
          </a:xfrm>
        </p:grpSpPr>
        <p:sp>
          <p:nvSpPr>
            <p:cNvPr id="7177" name="Oval 10">
              <a:extLst>
                <a:ext uri="{FF2B5EF4-FFF2-40B4-BE49-F238E27FC236}">
                  <a16:creationId xmlns:a16="http://schemas.microsoft.com/office/drawing/2014/main" id="{79FF3D45-7416-A00B-31B1-00937D54F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8" y="2266"/>
              <a:ext cx="887" cy="498"/>
            </a:xfrm>
            <a:prstGeom prst="ellipse">
              <a:avLst/>
            </a:prstGeom>
            <a:gradFill rotWithShape="0">
              <a:gsLst>
                <a:gs pos="0">
                  <a:srgbClr val="767676"/>
                </a:gs>
                <a:gs pos="100000">
                  <a:srgbClr val="FFFFFF"/>
                </a:gs>
              </a:gsLst>
              <a:lin ang="540000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ru-RU" altLang="ru-RU" sz="2000"/>
                <a:t>Финансовый анализ компании</a:t>
              </a:r>
            </a:p>
          </p:txBody>
        </p:sp>
        <p:sp>
          <p:nvSpPr>
            <p:cNvPr id="7178" name="Text Box 11">
              <a:extLst>
                <a:ext uri="{FF2B5EF4-FFF2-40B4-BE49-F238E27FC236}">
                  <a16:creationId xmlns:a16="http://schemas.microsoft.com/office/drawing/2014/main" id="{A2618767-9861-B02E-A7A0-6BD13CBCC8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88" y="1824"/>
              <a:ext cx="720" cy="217"/>
            </a:xfrm>
            <a:prstGeom prst="rect">
              <a:avLst/>
            </a:prstGeom>
            <a:gradFill rotWithShape="0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ru-RU" altLang="ru-RU" sz="1800"/>
                <a:t>3. Ликвидность</a:t>
              </a:r>
            </a:p>
          </p:txBody>
        </p:sp>
        <p:sp>
          <p:nvSpPr>
            <p:cNvPr id="7179" name="Text Box 12">
              <a:extLst>
                <a:ext uri="{FF2B5EF4-FFF2-40B4-BE49-F238E27FC236}">
                  <a16:creationId xmlns:a16="http://schemas.microsoft.com/office/drawing/2014/main" id="{F53C1687-3D47-8D50-96C8-A7F063F75D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8" y="2912"/>
              <a:ext cx="800" cy="217"/>
            </a:xfrm>
            <a:prstGeom prst="rect">
              <a:avLst/>
            </a:prstGeom>
            <a:gradFill rotWithShape="0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ru-RU" altLang="ru-RU" sz="1800"/>
                <a:t>2. Устойчивость</a:t>
              </a:r>
            </a:p>
          </p:txBody>
        </p:sp>
        <p:sp>
          <p:nvSpPr>
            <p:cNvPr id="7180" name="Text Box 13">
              <a:extLst>
                <a:ext uri="{FF2B5EF4-FFF2-40B4-BE49-F238E27FC236}">
                  <a16:creationId xmlns:a16="http://schemas.microsoft.com/office/drawing/2014/main" id="{7376AABE-1BBD-DCBD-9279-CE407C1C89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8" y="1824"/>
              <a:ext cx="880" cy="217"/>
            </a:xfrm>
            <a:prstGeom prst="rect">
              <a:avLst/>
            </a:prstGeom>
            <a:gradFill rotWithShape="0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ru-RU" altLang="ru-RU" sz="1800"/>
                <a:t>4. Оборачиваемость</a:t>
              </a:r>
            </a:p>
          </p:txBody>
        </p:sp>
        <p:sp>
          <p:nvSpPr>
            <p:cNvPr id="7181" name="Text Box 14">
              <a:extLst>
                <a:ext uri="{FF2B5EF4-FFF2-40B4-BE49-F238E27FC236}">
                  <a16:creationId xmlns:a16="http://schemas.microsoft.com/office/drawing/2014/main" id="{83CE9F8E-7FCA-993E-8583-67B4D2257D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48" y="2912"/>
              <a:ext cx="920" cy="217"/>
            </a:xfrm>
            <a:prstGeom prst="rect">
              <a:avLst/>
            </a:prstGeom>
            <a:gradFill rotWithShape="0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ru-RU" altLang="ru-RU" sz="1800"/>
                <a:t>5. Рентабельность</a:t>
              </a:r>
            </a:p>
          </p:txBody>
        </p:sp>
        <p:sp>
          <p:nvSpPr>
            <p:cNvPr id="7182" name="Text Box 15">
              <a:extLst>
                <a:ext uri="{FF2B5EF4-FFF2-40B4-BE49-F238E27FC236}">
                  <a16:creationId xmlns:a16="http://schemas.microsoft.com/office/drawing/2014/main" id="{447B3BD7-8D54-4D6E-F06B-86E7359296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9" y="3235"/>
              <a:ext cx="1160" cy="138"/>
            </a:xfrm>
            <a:prstGeom prst="rect">
              <a:avLst/>
            </a:prstGeom>
            <a:gradFill rotWithShape="0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ru-RU" altLang="ru-RU" sz="1800"/>
                <a:t>1. Рыночная стоимость</a:t>
              </a:r>
            </a:p>
          </p:txBody>
        </p:sp>
        <p:sp>
          <p:nvSpPr>
            <p:cNvPr id="2063" name="Text Box 17">
              <a:extLst>
                <a:ext uri="{FF2B5EF4-FFF2-40B4-BE49-F238E27FC236}">
                  <a16:creationId xmlns:a16="http://schemas.microsoft.com/office/drawing/2014/main" id="{FD9824E8-06F1-00E2-93F5-E7513385E8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65" y="2408"/>
              <a:ext cx="834" cy="138"/>
            </a:xfrm>
            <a:prstGeom prst="rect">
              <a:avLst/>
            </a:prstGeom>
            <a:solidFill>
              <a:schemeClr val="accent6">
                <a:lumMod val="25000"/>
                <a:lumOff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r>
                <a:rPr lang="ru-RU" sz="1400" i="1" dirty="0"/>
                <a:t>Эффективность</a:t>
              </a:r>
            </a:p>
          </p:txBody>
        </p:sp>
        <p:sp>
          <p:nvSpPr>
            <p:cNvPr id="7184" name="Line 20">
              <a:extLst>
                <a:ext uri="{FF2B5EF4-FFF2-40B4-BE49-F238E27FC236}">
                  <a16:creationId xmlns:a16="http://schemas.microsoft.com/office/drawing/2014/main" id="{E06F49E3-4E94-892C-767E-D5E7A96076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608" y="1878"/>
              <a:ext cx="198" cy="41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7185" name="Line 21">
              <a:extLst>
                <a:ext uri="{FF2B5EF4-FFF2-40B4-BE49-F238E27FC236}">
                  <a16:creationId xmlns:a16="http://schemas.microsoft.com/office/drawing/2014/main" id="{54310CBD-4E6B-A682-39C9-4EA8CFB33D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63" y="1878"/>
              <a:ext cx="225" cy="41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7186" name="Line 22">
              <a:extLst>
                <a:ext uri="{FF2B5EF4-FFF2-40B4-BE49-F238E27FC236}">
                  <a16:creationId xmlns:a16="http://schemas.microsoft.com/office/drawing/2014/main" id="{3051752B-8642-E8F7-55A5-1C808955CC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5" y="2736"/>
              <a:ext cx="215" cy="3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7187" name="Line 23">
              <a:extLst>
                <a:ext uri="{FF2B5EF4-FFF2-40B4-BE49-F238E27FC236}">
                  <a16:creationId xmlns:a16="http://schemas.microsoft.com/office/drawing/2014/main" id="{45681DDF-5A47-DBF8-1C9E-2553ECE1CC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2749"/>
              <a:ext cx="283" cy="29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7188" name="Line 24">
              <a:extLst>
                <a:ext uri="{FF2B5EF4-FFF2-40B4-BE49-F238E27FC236}">
                  <a16:creationId xmlns:a16="http://schemas.microsoft.com/office/drawing/2014/main" id="{B6CD6977-10C4-3C5F-C167-A343B655E1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14" y="2764"/>
              <a:ext cx="7" cy="47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7189" name="AutoShape 25">
              <a:extLst>
                <a:ext uri="{FF2B5EF4-FFF2-40B4-BE49-F238E27FC236}">
                  <a16:creationId xmlns:a16="http://schemas.microsoft.com/office/drawing/2014/main" id="{6DB0C6B0-3A9A-A761-3149-0B58ECF2EA3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8" y="1933"/>
              <a:ext cx="400" cy="1088"/>
            </a:xfrm>
            <a:prstGeom prst="leftBrace">
              <a:avLst>
                <a:gd name="adj1" fmla="val 22667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ru-RU" altLang="ru-RU" sz="2000"/>
            </a:p>
          </p:txBody>
        </p:sp>
        <p:sp>
          <p:nvSpPr>
            <p:cNvPr id="7190" name="AutoShape 26">
              <a:extLst>
                <a:ext uri="{FF2B5EF4-FFF2-40B4-BE49-F238E27FC236}">
                  <a16:creationId xmlns:a16="http://schemas.microsoft.com/office/drawing/2014/main" id="{5019AAF3-3733-76BC-7B4E-A7E4550E47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8" y="1933"/>
              <a:ext cx="240" cy="1088"/>
            </a:xfrm>
            <a:prstGeom prst="rightBrace">
              <a:avLst>
                <a:gd name="adj1" fmla="val 37778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ru-RU" altLang="ru-RU" sz="2000"/>
            </a:p>
          </p:txBody>
        </p:sp>
      </p:grpSp>
      <p:sp>
        <p:nvSpPr>
          <p:cNvPr id="7174" name="Номер слайда 20">
            <a:extLst>
              <a:ext uri="{FF2B5EF4-FFF2-40B4-BE49-F238E27FC236}">
                <a16:creationId xmlns:a16="http://schemas.microsoft.com/office/drawing/2014/main" id="{75714EEA-0591-94AE-1519-29CF8904D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C29DD4C-D092-4B26-A772-D6886261DC2C}" type="slidenum">
              <a:rPr lang="ru-RU" altLang="ru-RU" sz="1400">
                <a:solidFill>
                  <a:schemeClr val="bg1"/>
                </a:solidFill>
              </a:rPr>
              <a:pPr/>
              <a:t>3</a:t>
            </a:fld>
            <a:endParaRPr lang="ru-RU" altLang="ru-RU" sz="1400">
              <a:solidFill>
                <a:schemeClr val="bg1"/>
              </a:solidFill>
            </a:endParaRPr>
          </a:p>
        </p:txBody>
      </p:sp>
      <p:sp>
        <p:nvSpPr>
          <p:cNvPr id="3" name="Прямоугольник с двумя вырезанными противолежащими углами 2">
            <a:extLst>
              <a:ext uri="{FF2B5EF4-FFF2-40B4-BE49-F238E27FC236}">
                <a16:creationId xmlns:a16="http://schemas.microsoft.com/office/drawing/2014/main" id="{C53F1CB0-C255-7E92-D514-9283BF66A2F9}"/>
              </a:ext>
            </a:extLst>
          </p:cNvPr>
          <p:cNvSpPr/>
          <p:nvPr/>
        </p:nvSpPr>
        <p:spPr>
          <a:xfrm>
            <a:off x="7535864" y="5670551"/>
            <a:ext cx="1944687" cy="677863"/>
          </a:xfrm>
          <a:prstGeom prst="snip2Diag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DU PONT</a:t>
            </a:r>
            <a:endParaRPr lang="ru-RU" dirty="0"/>
          </a:p>
        </p:txBody>
      </p:sp>
      <p:cxnSp>
        <p:nvCxnSpPr>
          <p:cNvPr id="5" name="Прямая со стрелкой 4">
            <a:extLst>
              <a:ext uri="{FF2B5EF4-FFF2-40B4-BE49-F238E27FC236}">
                <a16:creationId xmlns:a16="http://schemas.microsoft.com/office/drawing/2014/main" id="{DFFC49CA-3F93-7711-E0AF-3736241EF607}"/>
              </a:ext>
            </a:extLst>
          </p:cNvPr>
          <p:cNvCxnSpPr>
            <a:stCxn id="7181" idx="2"/>
            <a:endCxn id="3" idx="3"/>
          </p:cNvCxnSpPr>
          <p:nvPr/>
        </p:nvCxnSpPr>
        <p:spPr>
          <a:xfrm>
            <a:off x="7818438" y="5040314"/>
            <a:ext cx="690562" cy="63023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750" fill="hold"/>
                                        <p:tgtEl>
                                          <p:spTgt spid="133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750" fill="hold"/>
                                        <p:tgtEl>
                                          <p:spTgt spid="13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750" fill="hold"/>
                                        <p:tgtEl>
                                          <p:spTgt spid="133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750" fill="hold"/>
                                        <p:tgtEl>
                                          <p:spTgt spid="133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750" fill="hold"/>
                                        <p:tgtEl>
                                          <p:spTgt spid="133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750" fill="hold"/>
                                        <p:tgtEl>
                                          <p:spTgt spid="133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9" grpId="0"/>
      <p:bldP spid="13328" grpId="0" animBg="1"/>
      <p:bldP spid="13330" grpId="0" animBg="1"/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 descr="Large confetti">
            <a:extLst>
              <a:ext uri="{FF2B5EF4-FFF2-40B4-BE49-F238E27FC236}">
                <a16:creationId xmlns:a16="http://schemas.microsoft.com/office/drawing/2014/main" id="{33BC5567-44D6-264F-2835-8942947C96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47851" y="333375"/>
            <a:ext cx="8546725" cy="115093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ru-RU" altLang="ru-RU" b="1" dirty="0"/>
              <a:t>Показатели рыночной стоимости (1-3)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88BA242B-CDAF-3FA5-5188-17F055F75D63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ph type="body" idx="1"/>
          </p:nvPr>
        </p:nvSpPr>
        <p:spPr>
          <a:xfrm>
            <a:off x="2423592" y="1988840"/>
            <a:ext cx="7128792" cy="4320332"/>
          </a:xfrm>
          <a:blipFill rotWithShape="1">
            <a:blip r:embed="rId3"/>
            <a:stretch>
              <a:fillRect t="-1410" b="-564"/>
            </a:stretch>
          </a:blipFill>
        </p:spPr>
        <p:txBody>
          <a:bodyPr/>
          <a:lstStyle/>
          <a:p>
            <a:pPr marL="0" indent="0">
              <a:buNone/>
              <a:defRPr/>
            </a:pPr>
            <a:r>
              <a:rPr lang="ru-RU" dirty="0">
                <a:noFill/>
              </a:rPr>
              <a:t> </a:t>
            </a:r>
          </a:p>
        </p:txBody>
      </p:sp>
      <p:sp>
        <p:nvSpPr>
          <p:cNvPr id="8196" name="Номер слайда 3">
            <a:extLst>
              <a:ext uri="{FF2B5EF4-FFF2-40B4-BE49-F238E27FC236}">
                <a16:creationId xmlns:a16="http://schemas.microsoft.com/office/drawing/2014/main" id="{8D2004EA-A295-6350-49E4-87C65FB6E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90C77AE-E25C-4572-8623-1044A0D35597}" type="slidenum">
              <a:rPr lang="ru-RU" altLang="ru-RU" sz="1400">
                <a:solidFill>
                  <a:schemeClr val="bg1"/>
                </a:solidFill>
              </a:rPr>
              <a:pPr/>
              <a:t>4</a:t>
            </a:fld>
            <a:endParaRPr lang="ru-RU" altLang="ru-RU" sz="14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507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507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1507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507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507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507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1507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1507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1507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1507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1507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1507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6" grpId="0" autoUpdateAnimBg="0"/>
      <p:bldP spid="21507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 descr="Large confetti">
            <a:extLst>
              <a:ext uri="{FF2B5EF4-FFF2-40B4-BE49-F238E27FC236}">
                <a16:creationId xmlns:a16="http://schemas.microsoft.com/office/drawing/2014/main" id="{E452C2BD-0867-CCE2-BA50-E71281881C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43747" y="404813"/>
            <a:ext cx="8337362" cy="12239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ru-RU" altLang="ru-RU" b="1" dirty="0"/>
              <a:t>Показатели</a:t>
            </a:r>
            <a:br>
              <a:rPr lang="ru-RU" altLang="ru-RU" b="1" dirty="0"/>
            </a:br>
            <a:r>
              <a:rPr lang="ru-RU" altLang="ru-RU" b="1" dirty="0"/>
              <a:t>рыночной стоимости (4-6)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E35322CC-899D-FF06-9097-B60DFF07E613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ph type="body" idx="1"/>
          </p:nvPr>
        </p:nvSpPr>
        <p:spPr>
          <a:xfrm>
            <a:off x="2711624" y="2060848"/>
            <a:ext cx="7128792" cy="4464348"/>
          </a:xfrm>
          <a:blipFill rotWithShape="1">
            <a:blip r:embed="rId3"/>
            <a:stretch>
              <a:fillRect t="-1366"/>
            </a:stretch>
          </a:blipFill>
        </p:spPr>
        <p:txBody>
          <a:bodyPr/>
          <a:lstStyle/>
          <a:p>
            <a:pPr marL="0" indent="0">
              <a:buNone/>
              <a:defRPr/>
            </a:pPr>
            <a:r>
              <a:rPr lang="ru-RU" dirty="0">
                <a:noFill/>
              </a:rPr>
              <a:t> </a:t>
            </a:r>
          </a:p>
        </p:txBody>
      </p:sp>
      <p:sp>
        <p:nvSpPr>
          <p:cNvPr id="9220" name="Номер слайда 3">
            <a:extLst>
              <a:ext uri="{FF2B5EF4-FFF2-40B4-BE49-F238E27FC236}">
                <a16:creationId xmlns:a16="http://schemas.microsoft.com/office/drawing/2014/main" id="{4C00FBA3-D4A8-A3B5-4ADF-E89A77053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086FF47-7F51-4F2B-BB54-3B8EADD6A230}" type="slidenum">
              <a:rPr lang="ru-RU" altLang="ru-RU" sz="1400">
                <a:solidFill>
                  <a:schemeClr val="bg1"/>
                </a:solidFill>
              </a:rPr>
              <a:pPr/>
              <a:t>5</a:t>
            </a:fld>
            <a:endParaRPr lang="ru-RU" altLang="ru-RU" sz="1400">
              <a:solidFill>
                <a:schemeClr val="bg1"/>
              </a:solidFill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3CCA8E47-8B94-F06D-DA11-18CFEC9039B3}"/>
              </a:ext>
            </a:extLst>
          </p:cNvPr>
          <p:cNvSpPr txBox="1">
            <a:spLocks/>
          </p:cNvSpPr>
          <p:nvPr/>
        </p:nvSpPr>
        <p:spPr>
          <a:xfrm>
            <a:off x="9681109" y="3783571"/>
            <a:ext cx="2206091" cy="18157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ru-RU" sz="2400" dirty="0" smtClean="0"/>
              <a:t>P/E = P / EPS =</a:t>
            </a:r>
          </a:p>
          <a:p>
            <a:pPr marL="0" indent="0">
              <a:buNone/>
            </a:pPr>
            <a:r>
              <a:rPr lang="en-US" altLang="ru-RU" sz="2400" dirty="0"/>
              <a:t> </a:t>
            </a:r>
            <a:r>
              <a:rPr lang="en-US" altLang="ru-RU" sz="2400" dirty="0" smtClean="0"/>
              <a:t>= P / (NE:N) =</a:t>
            </a:r>
          </a:p>
          <a:p>
            <a:pPr marL="0" indent="0">
              <a:buNone/>
            </a:pPr>
            <a:r>
              <a:rPr lang="en-US" altLang="ru-RU" sz="2400" dirty="0" smtClean="0"/>
              <a:t>= (P*N) / NE</a:t>
            </a:r>
            <a:endParaRPr lang="ru-RU" altLang="ru-RU" sz="2400" dirty="0" smtClean="0"/>
          </a:p>
          <a:p>
            <a:pPr marL="0" indent="0">
              <a:buNone/>
            </a:pPr>
            <a:endParaRPr lang="ru-RU" altLang="ru-RU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6" grpId="0"/>
      <p:bldP spid="21507" grpId="0" uiExpand="1" build="p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99CCF1-943D-D48F-43E6-06CF92183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1" y="260351"/>
            <a:ext cx="6348413" cy="874713"/>
          </a:xfrm>
        </p:spPr>
        <p:txBody>
          <a:bodyPr/>
          <a:lstStyle/>
          <a:p>
            <a:r>
              <a:rPr lang="en-US" altLang="ru-RU" b="1"/>
              <a:t>Q-</a:t>
            </a:r>
            <a:r>
              <a:rPr lang="ru-RU" altLang="ru-RU" b="1"/>
              <a:t>Тобина (6)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CA8E47-8B94-F06D-DA11-18CFEC9039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0541" y="1052513"/>
            <a:ext cx="9386047" cy="5323166"/>
          </a:xfrm>
        </p:spPr>
        <p:txBody>
          <a:bodyPr>
            <a:noAutofit/>
          </a:bodyPr>
          <a:lstStyle/>
          <a:p>
            <a:r>
              <a:rPr lang="ru-RU" altLang="ru-RU" sz="2400" dirty="0"/>
              <a:t>Отношение рыночной (</a:t>
            </a:r>
            <a:r>
              <a:rPr lang="en-US" altLang="ru-RU" sz="2400" dirty="0"/>
              <a:t>market</a:t>
            </a:r>
            <a:r>
              <a:rPr lang="ru-RU" altLang="ru-RU" sz="2400" dirty="0"/>
              <a:t>) стоимости фирмы (актива) к ее балансовой (</a:t>
            </a:r>
            <a:r>
              <a:rPr lang="en-US" altLang="ru-RU" sz="2400" dirty="0"/>
              <a:t>balance</a:t>
            </a:r>
            <a:r>
              <a:rPr lang="ru-RU" altLang="ru-RU" sz="2400" dirty="0"/>
              <a:t>) стоимости</a:t>
            </a:r>
          </a:p>
          <a:p>
            <a:pPr lvl="1"/>
            <a:r>
              <a:rPr lang="ru-RU" altLang="ru-RU" sz="2000" dirty="0"/>
              <a:t>Рыночная = произведение цены акции фирмы на их количество</a:t>
            </a:r>
          </a:p>
          <a:p>
            <a:pPr lvl="1"/>
            <a:r>
              <a:rPr lang="ru-RU" altLang="ru-RU" sz="2000" dirty="0"/>
              <a:t>Балансовая = суммарные активы по балансу фирмы за вычетом нематериальных активов и обязательств</a:t>
            </a:r>
            <a:endParaRPr lang="en-US" altLang="ru-RU" sz="2000" dirty="0"/>
          </a:p>
          <a:p>
            <a:r>
              <a:rPr lang="ru-RU" altLang="ru-RU" sz="2400" dirty="0"/>
              <a:t>Измеритель интеллектуального капитала</a:t>
            </a:r>
          </a:p>
          <a:p>
            <a:r>
              <a:rPr lang="ru-RU" altLang="ru-RU" sz="2400" dirty="0"/>
              <a:t>Его значения</a:t>
            </a:r>
          </a:p>
          <a:p>
            <a:pPr lvl="1"/>
            <a:r>
              <a:rPr lang="ru-RU" altLang="ru-RU" sz="2000" dirty="0"/>
              <a:t>Больше 1, </a:t>
            </a:r>
            <a:r>
              <a:rPr lang="en-US" altLang="ru-RU" sz="2000" dirty="0"/>
              <a:t>M&gt;B</a:t>
            </a:r>
            <a:r>
              <a:rPr lang="ru-RU" altLang="ru-RU" sz="2000" dirty="0"/>
              <a:t>, то есть в биржевой оценке учтены активы, не зарегистрированные в балансе, наращивание интеллектуального капитала</a:t>
            </a:r>
            <a:endParaRPr lang="en-US" altLang="ru-RU" sz="2000" dirty="0"/>
          </a:p>
          <a:p>
            <a:pPr lvl="1"/>
            <a:r>
              <a:rPr lang="ru-RU" altLang="ru-RU" sz="2000" dirty="0"/>
              <a:t>Меньше 1, </a:t>
            </a:r>
            <a:r>
              <a:rPr lang="en-US" altLang="ru-RU" sz="2000" dirty="0"/>
              <a:t>M&lt;B</a:t>
            </a:r>
            <a:r>
              <a:rPr lang="ru-RU" altLang="ru-RU" sz="2000" dirty="0"/>
              <a:t>, отрицательный интеллектуальный капитал</a:t>
            </a:r>
          </a:p>
          <a:p>
            <a:pPr lvl="2"/>
            <a:r>
              <a:rPr lang="ru-RU" altLang="ru-RU" sz="1800" dirty="0"/>
              <a:t>Низкий уровень менеджмента, проблемы в организационной структуре, капитал уменьшается</a:t>
            </a:r>
          </a:p>
        </p:txBody>
      </p:sp>
      <p:sp>
        <p:nvSpPr>
          <p:cNvPr id="10244" name="Номер слайда 4">
            <a:extLst>
              <a:ext uri="{FF2B5EF4-FFF2-40B4-BE49-F238E27FC236}">
                <a16:creationId xmlns:a16="http://schemas.microsoft.com/office/drawing/2014/main" id="{450CBA4F-5D8E-F83C-1389-40D9ED9AE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A60F279-5E45-4FBB-BD5E-81E99AB0FBB9}" type="slidenum">
              <a:rPr lang="ru-RU" altLang="ru-RU" sz="900">
                <a:solidFill>
                  <a:schemeClr val="accent1"/>
                </a:solidFill>
              </a:rPr>
              <a:pPr/>
              <a:t>6</a:t>
            </a:fld>
            <a:endParaRPr lang="ru-RU" altLang="ru-RU" sz="900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descr="Large confetti">
            <a:extLst>
              <a:ext uri="{FF2B5EF4-FFF2-40B4-BE49-F238E27FC236}">
                <a16:creationId xmlns:a16="http://schemas.microsoft.com/office/drawing/2014/main" id="{37730A0A-EDE4-8E62-E19A-99192AB3F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7850" y="404813"/>
            <a:ext cx="6840538" cy="863600"/>
          </a:xfrm>
        </p:spPr>
        <p:txBody>
          <a:bodyPr>
            <a:normAutofit fontScale="90000"/>
          </a:bodyPr>
          <a:lstStyle/>
          <a:p>
            <a:r>
              <a:rPr lang="ru-RU" altLang="ru-RU" b="1" dirty="0">
                <a:cs typeface="Times New Roman" panose="02020603050405020304" pitchFamily="18" charset="0"/>
              </a:rPr>
              <a:t>Показатели устойчивости</a:t>
            </a:r>
            <a:r>
              <a:rPr lang="en-US" altLang="ru-RU" b="1" dirty="0">
                <a:cs typeface="Times New Roman" panose="02020603050405020304" pitchFamily="18" charset="0"/>
              </a:rPr>
              <a:t> (1)</a:t>
            </a:r>
            <a:endParaRPr lang="ru-RU" alt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F817F0-5B82-9ADA-B7DD-9448EE45606C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xfrm>
            <a:off x="2209800" y="1905000"/>
            <a:ext cx="7772400" cy="4476328"/>
          </a:xfrm>
          <a:blipFill rotWithShape="0">
            <a:blip r:embed="rId3"/>
            <a:stretch>
              <a:fillRect t="-1907" r="-627" b="-954"/>
            </a:stretch>
          </a:blipFill>
        </p:spPr>
        <p:txBody>
          <a:bodyPr/>
          <a:lstStyle/>
          <a:p>
            <a:pPr marL="0" indent="0">
              <a:buNone/>
              <a:defRPr/>
            </a:pPr>
            <a:r>
              <a:rPr lang="ru-RU" dirty="0">
                <a:noFill/>
              </a:rPr>
              <a:t> </a:t>
            </a:r>
          </a:p>
        </p:txBody>
      </p:sp>
      <p:sp>
        <p:nvSpPr>
          <p:cNvPr id="11268" name="Номер слайда 4">
            <a:extLst>
              <a:ext uri="{FF2B5EF4-FFF2-40B4-BE49-F238E27FC236}">
                <a16:creationId xmlns:a16="http://schemas.microsoft.com/office/drawing/2014/main" id="{E921BBC1-6301-AF91-76FF-6677FA48B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5AA3252-336C-41CA-A801-1E6C67801F30}" type="slidenum">
              <a:rPr lang="ru-RU" altLang="ru-RU" sz="1400">
                <a:solidFill>
                  <a:schemeClr val="bg1"/>
                </a:solidFill>
              </a:rPr>
              <a:pPr/>
              <a:t>7</a:t>
            </a:fld>
            <a:endParaRPr lang="ru-RU" altLang="ru-RU" sz="1400">
              <a:solidFill>
                <a:schemeClr val="bg1"/>
              </a:solidFill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3CCA8E47-8B94-F06D-DA11-18CFEC9039B3}"/>
              </a:ext>
            </a:extLst>
          </p:cNvPr>
          <p:cNvSpPr txBox="1">
            <a:spLocks/>
          </p:cNvSpPr>
          <p:nvPr/>
        </p:nvSpPr>
        <p:spPr>
          <a:xfrm>
            <a:off x="9603055" y="2111525"/>
            <a:ext cx="2206091" cy="18157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ru-RU" sz="2400" dirty="0"/>
              <a:t>A = E + D + CL</a:t>
            </a:r>
            <a:endParaRPr lang="ru-RU" altLang="ru-RU" sz="2400" dirty="0"/>
          </a:p>
          <a:p>
            <a:pPr marL="0" indent="0">
              <a:buNone/>
            </a:pPr>
            <a:r>
              <a:rPr lang="en-US" altLang="ru-RU" sz="2400" dirty="0"/>
              <a:t>A - CL = E + D</a:t>
            </a:r>
            <a:endParaRPr lang="ru-RU" altLang="ru-RU" sz="2400" dirty="0"/>
          </a:p>
          <a:p>
            <a:pPr marL="0" indent="0">
              <a:buNone/>
            </a:pPr>
            <a:r>
              <a:rPr lang="en-US" altLang="ru-RU" sz="2400" dirty="0" smtClean="0"/>
              <a:t>NA = </a:t>
            </a:r>
            <a:r>
              <a:rPr lang="en-US" altLang="ru-RU" sz="2400" dirty="0"/>
              <a:t>E + D</a:t>
            </a:r>
            <a:endParaRPr lang="ru-RU" altLang="ru-RU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 animBg="1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 descr="Large confetti">
            <a:extLst>
              <a:ext uri="{FF2B5EF4-FFF2-40B4-BE49-F238E27FC236}">
                <a16:creationId xmlns:a16="http://schemas.microsoft.com/office/drawing/2014/main" id="{67B7457D-45E2-94AE-8D16-22FC1B2A4A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93353" y="334961"/>
            <a:ext cx="7440612" cy="792163"/>
          </a:xfrm>
        </p:spPr>
        <p:txBody>
          <a:bodyPr>
            <a:noAutofit/>
          </a:bodyPr>
          <a:lstStyle/>
          <a:p>
            <a:pPr eaLnBrk="1" hangingPunct="1"/>
            <a:r>
              <a:rPr lang="ru-RU" altLang="ru-RU" sz="3600" b="1" dirty="0">
                <a:cs typeface="Times New Roman" panose="02020603050405020304" pitchFamily="18" charset="0"/>
              </a:rPr>
              <a:t>Показатели устойчивости</a:t>
            </a:r>
            <a:r>
              <a:rPr lang="en-US" altLang="ru-RU" sz="3600" b="1" dirty="0">
                <a:cs typeface="Times New Roman" panose="02020603050405020304" pitchFamily="18" charset="0"/>
              </a:rPr>
              <a:t> (2-4)</a:t>
            </a:r>
            <a:r>
              <a:rPr lang="ru-RU" altLang="ru-RU" sz="3600" b="1" dirty="0"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77EE27B3-2480-3502-BF31-A720C194855C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ph type="body" idx="1"/>
          </p:nvPr>
        </p:nvSpPr>
        <p:spPr>
          <a:xfrm>
            <a:off x="1541464" y="1700214"/>
            <a:ext cx="9255125" cy="4822825"/>
          </a:xfrm>
          <a:blipFill rotWithShape="1">
            <a:blip r:embed="rId3"/>
            <a:stretch>
              <a:fillRect t="-1770"/>
            </a:stretch>
          </a:blipFill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noFill/>
              </a:rPr>
              <a:t> </a:t>
            </a:r>
          </a:p>
        </p:txBody>
      </p:sp>
      <p:sp>
        <p:nvSpPr>
          <p:cNvPr id="12292" name="Номер слайда 3">
            <a:extLst>
              <a:ext uri="{FF2B5EF4-FFF2-40B4-BE49-F238E27FC236}">
                <a16:creationId xmlns:a16="http://schemas.microsoft.com/office/drawing/2014/main" id="{6A545B12-5288-0899-2F41-E2B86F248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279EE34-F5B0-48B8-BC4A-FD3A7FFE2AAA}" type="slidenum">
              <a:rPr lang="ru-RU" altLang="ru-RU" sz="1400">
                <a:solidFill>
                  <a:schemeClr val="bg1"/>
                </a:solidFill>
              </a:rPr>
              <a:pPr/>
              <a:t>8</a:t>
            </a:fld>
            <a:endParaRPr lang="ru-RU" altLang="ru-RU" sz="14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435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435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435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435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435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435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435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435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435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435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" grpId="0" autoUpdateAnimBg="0"/>
      <p:bldP spid="18435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descr="Large confetti">
            <a:extLst>
              <a:ext uri="{FF2B5EF4-FFF2-40B4-BE49-F238E27FC236}">
                <a16:creationId xmlns:a16="http://schemas.microsoft.com/office/drawing/2014/main" id="{6CB79A43-B9A4-F335-0DA0-9698D5F28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9287" y="333375"/>
            <a:ext cx="9598635" cy="719138"/>
          </a:xfrm>
        </p:spPr>
        <p:txBody>
          <a:bodyPr>
            <a:normAutofit/>
          </a:bodyPr>
          <a:lstStyle/>
          <a:p>
            <a:r>
              <a:rPr lang="ru-RU" altLang="ru-RU" sz="4400" b="1" dirty="0"/>
              <a:t>Важный </a:t>
            </a:r>
            <a:r>
              <a:rPr lang="ru-RU" altLang="ru-RU" sz="4400" b="1" dirty="0" smtClean="0"/>
              <a:t>момент для ликвидности</a:t>
            </a:r>
            <a:endParaRPr lang="ru-RU" altLang="ru-RU" sz="4400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C9716D-9CC7-F895-66D6-34A92CE5CC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3647" y="1125538"/>
            <a:ext cx="9816353" cy="5256212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altLang="ru-RU" sz="2800" dirty="0"/>
              <a:t>Для расчета </a:t>
            </a:r>
            <a:r>
              <a:rPr lang="en-US" altLang="ru-RU" sz="2800" dirty="0"/>
              <a:t>OA</a:t>
            </a:r>
            <a:r>
              <a:rPr lang="ru-RU" altLang="ru-RU" sz="2800" dirty="0"/>
              <a:t> включают следующие показатели</a:t>
            </a:r>
            <a:endParaRPr lang="en-US" altLang="ru-RU" sz="2800" dirty="0"/>
          </a:p>
          <a:p>
            <a:pPr lvl="1">
              <a:defRPr/>
            </a:pPr>
            <a:r>
              <a:rPr lang="ru-RU" altLang="ru-RU" sz="2400" dirty="0"/>
              <a:t>запасы на складах (</a:t>
            </a:r>
            <a:r>
              <a:rPr lang="en-US" altLang="ru-RU" sz="2400" dirty="0"/>
              <a:t>Inventories, </a:t>
            </a:r>
            <a:r>
              <a:rPr lang="en-US" altLang="ru-RU" sz="2400" dirty="0" err="1"/>
              <a:t>Inv</a:t>
            </a:r>
            <a:r>
              <a:rPr lang="en-US" altLang="ru-RU" sz="2400" dirty="0"/>
              <a:t>)</a:t>
            </a:r>
          </a:p>
          <a:p>
            <a:pPr lvl="1">
              <a:defRPr/>
            </a:pPr>
            <a:r>
              <a:rPr lang="ru-RU" altLang="ru-RU" sz="2400" dirty="0"/>
              <a:t>дебиторская задолженность</a:t>
            </a:r>
            <a:r>
              <a:rPr lang="en-US" altLang="ru-RU" sz="2400" dirty="0"/>
              <a:t> (</a:t>
            </a:r>
            <a:r>
              <a:rPr lang="ru-RU" altLang="ru-RU" sz="2400" dirty="0"/>
              <a:t>ДЗ</a:t>
            </a:r>
            <a:r>
              <a:rPr lang="ru-RU" altLang="ru-RU" sz="2400" dirty="0" smtClean="0"/>
              <a:t>) – можно продать, ликвидность зависит </a:t>
            </a:r>
            <a:r>
              <a:rPr lang="ru-RU" altLang="ru-RU" sz="2400" smtClean="0"/>
              <a:t>от платежеспособности контрагентов </a:t>
            </a:r>
            <a:r>
              <a:rPr lang="ru-RU" altLang="ru-RU" sz="2400" dirty="0" smtClean="0"/>
              <a:t>(клиентов)</a:t>
            </a:r>
            <a:endParaRPr lang="en-US" altLang="ru-RU" sz="2400" dirty="0"/>
          </a:p>
          <a:p>
            <a:pPr lvl="2">
              <a:defRPr/>
            </a:pPr>
            <a:r>
              <a:rPr lang="en-US" altLang="ru-RU" sz="2000" dirty="0"/>
              <a:t>account receivables</a:t>
            </a:r>
          </a:p>
          <a:p>
            <a:pPr lvl="2">
              <a:defRPr/>
            </a:pPr>
            <a:r>
              <a:rPr lang="en-US" altLang="ru-RU" sz="2000" dirty="0"/>
              <a:t>debtor indebtedness</a:t>
            </a:r>
            <a:endParaRPr lang="ru-RU" altLang="ru-RU" sz="2000" dirty="0"/>
          </a:p>
          <a:p>
            <a:pPr lvl="1">
              <a:defRPr/>
            </a:pPr>
            <a:r>
              <a:rPr lang="ru-RU" altLang="ru-RU" sz="2400" dirty="0" smtClean="0"/>
              <a:t>денежные </a:t>
            </a:r>
            <a:r>
              <a:rPr lang="ru-RU" altLang="ru-RU" sz="2400" dirty="0"/>
              <a:t>средства (</a:t>
            </a:r>
            <a:r>
              <a:rPr lang="en-US" altLang="ru-RU" sz="2400" dirty="0"/>
              <a:t>cash</a:t>
            </a:r>
            <a:r>
              <a:rPr lang="ru-RU" altLang="ru-RU" sz="2400" dirty="0"/>
              <a:t>) и их эквиваленты (высоколиквидные ц/б - </a:t>
            </a:r>
            <a:r>
              <a:rPr lang="en-US" altLang="ru-RU" sz="2400" dirty="0"/>
              <a:t>MS)</a:t>
            </a:r>
          </a:p>
          <a:p>
            <a:pPr marL="914400" lvl="2" indent="0" algn="ctr">
              <a:buNone/>
              <a:defRPr/>
            </a:pPr>
            <a:r>
              <a:rPr lang="en-US" altLang="ru-RU" sz="2400" dirty="0" smtClean="0"/>
              <a:t>OA </a:t>
            </a:r>
            <a:r>
              <a:rPr lang="en-US" altLang="ru-RU" sz="2400" dirty="0"/>
              <a:t>= cash + </a:t>
            </a:r>
            <a:r>
              <a:rPr lang="en-US" altLang="ru-RU" sz="2400" dirty="0" err="1"/>
              <a:t>Inv</a:t>
            </a:r>
            <a:r>
              <a:rPr lang="en-US" altLang="ru-RU" sz="2400" dirty="0"/>
              <a:t> </a:t>
            </a:r>
            <a:r>
              <a:rPr lang="ru-RU" altLang="ru-RU" sz="2400" dirty="0"/>
              <a:t>+ ДЗ</a:t>
            </a:r>
            <a:endParaRPr lang="en-US" altLang="ru-RU" sz="2400" dirty="0"/>
          </a:p>
          <a:p>
            <a:pPr>
              <a:defRPr/>
            </a:pPr>
            <a:r>
              <a:rPr lang="ru-RU" altLang="ru-RU" sz="2400" dirty="0"/>
              <a:t>Ключевой характеристикой ОА является степень ликвидности</a:t>
            </a:r>
          </a:p>
        </p:txBody>
      </p:sp>
      <p:sp>
        <p:nvSpPr>
          <p:cNvPr id="13316" name="Номер слайда 4">
            <a:extLst>
              <a:ext uri="{FF2B5EF4-FFF2-40B4-BE49-F238E27FC236}">
                <a16:creationId xmlns:a16="http://schemas.microsoft.com/office/drawing/2014/main" id="{E8DD6CFC-8D65-4CC5-AACE-29DF63B86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590E8D7-8525-4EA3-9ACA-FE50D65F78C5}" type="slidenum">
              <a:rPr lang="ru-RU" altLang="ru-RU" sz="900">
                <a:solidFill>
                  <a:schemeClr val="accent1"/>
                </a:solidFill>
              </a:rPr>
              <a:pPr/>
              <a:t>9</a:t>
            </a:fld>
            <a:endParaRPr lang="ru-RU" altLang="ru-RU" sz="900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BFD46A-C910-0B8B-7CD9-527E91902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9289" y="333376"/>
            <a:ext cx="9174535" cy="792163"/>
          </a:xfrm>
        </p:spPr>
        <p:txBody>
          <a:bodyPr>
            <a:normAutofit/>
          </a:bodyPr>
          <a:lstStyle/>
          <a:p>
            <a:r>
              <a:rPr lang="ru-RU" altLang="ru-RU" b="1" dirty="0"/>
              <a:t>Показатели ликвидности (1)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8DBFE6-EBFC-BA52-FDD7-0C23FC413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2312" y="2205038"/>
            <a:ext cx="8012299" cy="4392612"/>
          </a:xfrm>
        </p:spPr>
        <p:txBody>
          <a:bodyPr/>
          <a:lstStyle/>
          <a:p>
            <a:pPr marL="0" indent="0" algn="ctr">
              <a:buNone/>
              <a:defRPr/>
            </a:pPr>
            <a:r>
              <a:rPr lang="ru-RU" dirty="0"/>
              <a:t>Задача (все показатели в млн</a:t>
            </a:r>
            <a:r>
              <a:rPr lang="ru-RU" dirty="0" smtClean="0"/>
              <a:t>. руб</a:t>
            </a:r>
            <a:r>
              <a:rPr lang="ru-RU" dirty="0"/>
              <a:t>.)</a:t>
            </a:r>
          </a:p>
          <a:p>
            <a:pPr>
              <a:defRPr/>
            </a:pPr>
            <a:r>
              <a:rPr lang="ru-RU" dirty="0"/>
              <a:t>На начало года: ОА=4; </a:t>
            </a:r>
            <a:r>
              <a:rPr lang="en-US" dirty="0"/>
              <a:t>CL</a:t>
            </a:r>
            <a:r>
              <a:rPr lang="ru-RU" dirty="0"/>
              <a:t>=2. Было принято решение вернуть краткосрочный долг в размере 1 д</a:t>
            </a:r>
            <a:r>
              <a:rPr lang="ru-RU" dirty="0" smtClean="0"/>
              <a:t>. е</a:t>
            </a:r>
            <a:r>
              <a:rPr lang="ru-RU" dirty="0"/>
              <a:t>. Рассчитайте коэффициент покрытия баланса до возврата долга и после.</a:t>
            </a:r>
          </a:p>
          <a:p>
            <a:pPr lvl="1">
              <a:defRPr/>
            </a:pPr>
            <a:r>
              <a:rPr lang="ru-RU" dirty="0"/>
              <a:t>Ответы: 2; (4-1) / (2-1) = 3</a:t>
            </a:r>
          </a:p>
          <a:p>
            <a:pPr>
              <a:defRPr/>
            </a:pPr>
            <a:r>
              <a:rPr lang="ru-RU" dirty="0"/>
              <a:t>Пересчитайте коэффициент, если ОА=2; </a:t>
            </a:r>
            <a:r>
              <a:rPr lang="en-US" dirty="0"/>
              <a:t>CL</a:t>
            </a:r>
            <a:r>
              <a:rPr lang="ru-RU" dirty="0"/>
              <a:t>=4. Долг остался в том же размере.</a:t>
            </a:r>
          </a:p>
          <a:p>
            <a:pPr lvl="1">
              <a:defRPr/>
            </a:pPr>
            <a:r>
              <a:rPr lang="ru-RU" dirty="0"/>
              <a:t>Ответы: 0.5; 0.3!!!</a:t>
            </a:r>
          </a:p>
          <a:p>
            <a:pPr marL="57150" indent="0" algn="ctr">
              <a:buNone/>
              <a:defRPr/>
            </a:pPr>
            <a:r>
              <a:rPr lang="ru-RU" dirty="0"/>
              <a:t>Вывод: в сложных ситуациях </a:t>
            </a:r>
            <a:r>
              <a:rPr lang="en-US" dirty="0" smtClean="0"/>
              <a:t>(OA &lt; CL) </a:t>
            </a:r>
            <a:r>
              <a:rPr lang="ru-RU" dirty="0" smtClean="0"/>
              <a:t>не </a:t>
            </a:r>
            <a:r>
              <a:rPr lang="ru-RU" dirty="0"/>
              <a:t>желательно снижать размер краткосрочных обязательств 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5A8A49F0-8C1B-1C6F-956F-D790BF879AE8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1991544" y="1340768"/>
            <a:ext cx="6552728" cy="864096"/>
          </a:xfrm>
          <a:prstGeom prst="rect">
            <a:avLst/>
          </a:prstGeom>
          <a:blipFill rotWithShape="1">
            <a:blip r:embed="rId2"/>
            <a:srcRect/>
            <a:stretch>
              <a:fillRect l="-838" t="-4233" r="-1673" b="-495328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>
                <a:noFill/>
              </a:rPr>
              <a:t> </a:t>
            </a:r>
          </a:p>
        </p:txBody>
      </p:sp>
      <p:sp>
        <p:nvSpPr>
          <p:cNvPr id="14341" name="Номер слайда 4">
            <a:extLst>
              <a:ext uri="{FF2B5EF4-FFF2-40B4-BE49-F238E27FC236}">
                <a16:creationId xmlns:a16="http://schemas.microsoft.com/office/drawing/2014/main" id="{DA946EE3-110B-42DB-00DC-3695770B8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0514E4C-069A-4C48-8E77-6DE926159A1B}" type="slidenum">
              <a:rPr lang="ru-RU" altLang="ru-RU" sz="900">
                <a:solidFill>
                  <a:schemeClr val="accent1"/>
                </a:solidFill>
              </a:rPr>
              <a:pPr/>
              <a:t>10</a:t>
            </a:fld>
            <a:endParaRPr lang="ru-RU" altLang="ru-RU" sz="900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6F1134EA-5663-807E-ABB6-FF0A9EEB4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6603" y="2444262"/>
            <a:ext cx="6978508" cy="4079629"/>
          </a:xfrm>
        </p:spPr>
        <p:txBody>
          <a:bodyPr>
            <a:normAutofit/>
          </a:bodyPr>
          <a:lstStyle/>
          <a:p>
            <a:r>
              <a:rPr lang="ru-RU" sz="2400" dirty="0"/>
              <a:t>Коэффициент быстрой ликвидности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ru-RU" sz="2200" dirty="0"/>
              <a:t>≥ </a:t>
            </a:r>
            <a:r>
              <a:rPr lang="ru-RU" sz="2200" dirty="0" smtClean="0"/>
              <a:t>0,5</a:t>
            </a:r>
            <a:endParaRPr lang="en-US" sz="2200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ru-RU" sz="2200" dirty="0" smtClean="0"/>
              <a:t>«лакмусовая бумажка»</a:t>
            </a:r>
            <a:endParaRPr lang="ru-RU" sz="22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ru-RU" sz="2200" dirty="0" smtClean="0"/>
              <a:t>как можно изменить?</a:t>
            </a:r>
            <a:endParaRPr lang="ru-RU" sz="2200" dirty="0"/>
          </a:p>
          <a:p>
            <a:r>
              <a:rPr lang="ru-RU" sz="2400" dirty="0"/>
              <a:t>Коэффициент абсолютной ликвидности (или коэффициент платежеспособности)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ru-RU" sz="2200" dirty="0"/>
              <a:t>≥ </a:t>
            </a:r>
            <a:r>
              <a:rPr lang="ru-RU" sz="2200" dirty="0" smtClean="0"/>
              <a:t>0,1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 smtClean="0"/>
              <a:t>MS</a:t>
            </a:r>
            <a:r>
              <a:rPr lang="ru-RU" sz="2200" dirty="0" smtClean="0"/>
              <a:t> – быстроликвидные / высоколиквидные ценные бумаги</a:t>
            </a:r>
            <a:endParaRPr lang="ru-RU" sz="2200" dirty="0"/>
          </a:p>
        </p:txBody>
      </p:sp>
      <p:sp>
        <p:nvSpPr>
          <p:cNvPr id="4" name="Заголовок 1" descr="Large confetti">
            <a:extLst>
              <a:ext uri="{FF2B5EF4-FFF2-40B4-BE49-F238E27FC236}">
                <a16:creationId xmlns:a16="http://schemas.microsoft.com/office/drawing/2014/main" id="{D3BA0DA7-C218-2C0F-36A4-7600D2D9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0950" y="382588"/>
            <a:ext cx="10179050" cy="1492250"/>
          </a:xfrm>
        </p:spPr>
        <p:txBody>
          <a:bodyPr>
            <a:normAutofit/>
          </a:bodyPr>
          <a:lstStyle/>
          <a:p>
            <a:r>
              <a:rPr lang="ru-RU" altLang="ru-RU" b="1" dirty="0"/>
              <a:t>Показатели</a:t>
            </a:r>
            <a:br>
              <a:rPr lang="ru-RU" altLang="ru-RU" b="1" dirty="0"/>
            </a:br>
            <a:r>
              <a:rPr lang="ru-RU" altLang="ru-RU" b="1" dirty="0"/>
              <a:t>ликвидности (2, 3)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891D1EE5-CE3D-1013-7B1F-F2A2E5D1ED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0964" y="2444263"/>
            <a:ext cx="2013956" cy="7250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1" name="Picture 7">
            <a:extLst>
              <a:ext uri="{FF2B5EF4-FFF2-40B4-BE49-F238E27FC236}">
                <a16:creationId xmlns:a16="http://schemas.microsoft.com/office/drawing/2014/main" id="{C781FDBE-AA28-5F8D-B7C2-972AC75581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8957" y="4399170"/>
            <a:ext cx="2126813" cy="6514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30052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Заголовок 1">
            <a:extLst>
              <a:ext uri="{FF2B5EF4-FFF2-40B4-BE49-F238E27FC236}">
                <a16:creationId xmlns:a16="http://schemas.microsoft.com/office/drawing/2014/main" id="{57A52EA0-F54A-F4E6-A970-B8B857EE9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825" y="260351"/>
            <a:ext cx="6769100" cy="720725"/>
          </a:xfrm>
        </p:spPr>
        <p:txBody>
          <a:bodyPr/>
          <a:lstStyle/>
          <a:p>
            <a:r>
              <a:rPr lang="ru-RU" altLang="ru-RU" sz="3200" b="1"/>
              <a:t>Показатели оборачиваемости</a:t>
            </a:r>
            <a:endParaRPr lang="ru-RU" altLang="ru-RU" sz="3200"/>
          </a:p>
        </p:txBody>
      </p:sp>
      <p:sp>
        <p:nvSpPr>
          <p:cNvPr id="29699" name="Объект 2">
            <a:extLst>
              <a:ext uri="{FF2B5EF4-FFF2-40B4-BE49-F238E27FC236}">
                <a16:creationId xmlns:a16="http://schemas.microsoft.com/office/drawing/2014/main" id="{E77B33D3-BCD5-B7AA-1FD1-C44B8E6739F4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xfrm>
            <a:off x="2063553" y="1268761"/>
            <a:ext cx="6552727" cy="4608511"/>
          </a:xfrm>
          <a:blipFill rotWithShape="1">
            <a:blip r:embed="rId3"/>
            <a:stretch>
              <a:fillRect l="-745" t="-1058"/>
            </a:stretch>
          </a:blipFill>
        </p:spPr>
        <p:txBody>
          <a:bodyPr/>
          <a:lstStyle/>
          <a:p>
            <a:pPr>
              <a:defRPr/>
            </a:pPr>
            <a:r>
              <a:rPr lang="ru-RU">
                <a:noFill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 descr="Large confetti">
            <a:extLst>
              <a:ext uri="{FF2B5EF4-FFF2-40B4-BE49-F238E27FC236}">
                <a16:creationId xmlns:a16="http://schemas.microsoft.com/office/drawing/2014/main" id="{9F664803-DF96-85A1-E8E2-370C606430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19289" y="404813"/>
            <a:ext cx="6562725" cy="1295400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ru-RU" altLang="ru-RU" b="1"/>
              <a:t>Показатели рентабельности</a:t>
            </a:r>
            <a:br>
              <a:rPr lang="ru-RU" altLang="ru-RU" b="1"/>
            </a:br>
            <a:r>
              <a:rPr lang="ru-RU" altLang="ru-RU" sz="2800" b="1">
                <a:solidFill>
                  <a:srgbClr val="FF0000"/>
                </a:solidFill>
              </a:rPr>
              <a:t>(</a:t>
            </a:r>
            <a:r>
              <a:rPr lang="en-US" altLang="ru-RU" sz="2800" b="1">
                <a:solidFill>
                  <a:srgbClr val="FF0000"/>
                </a:solidFill>
              </a:rPr>
              <a:t>NE = NI = NP)</a:t>
            </a:r>
            <a:endParaRPr lang="ru-RU" altLang="ru-RU" b="1">
              <a:solidFill>
                <a:srgbClr val="FF0000"/>
              </a:solidFill>
            </a:endParaRP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9103D93E-089A-9830-2E36-475C4D39F75F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ph type="body" idx="1"/>
          </p:nvPr>
        </p:nvSpPr>
        <p:spPr>
          <a:xfrm>
            <a:off x="2190750" y="2060575"/>
            <a:ext cx="7881938" cy="4248150"/>
          </a:xfrm>
          <a:blipFill rotWithShape="1">
            <a:blip r:embed="rId3"/>
            <a:stretch>
              <a:fillRect b="-143"/>
            </a:stretch>
          </a:blipFill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noFill/>
              </a:rPr>
              <a:t> </a:t>
            </a:r>
          </a:p>
        </p:txBody>
      </p:sp>
      <p:sp>
        <p:nvSpPr>
          <p:cNvPr id="17412" name="Номер слайда 3">
            <a:extLst>
              <a:ext uri="{FF2B5EF4-FFF2-40B4-BE49-F238E27FC236}">
                <a16:creationId xmlns:a16="http://schemas.microsoft.com/office/drawing/2014/main" id="{83C1081A-5A01-393C-F116-04B6B34D7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0C0B28F-18DB-487A-AFAD-161E0AD07D6A}" type="slidenum">
              <a:rPr lang="ru-RU" altLang="ru-RU" sz="1400">
                <a:solidFill>
                  <a:schemeClr val="bg1"/>
                </a:solidFill>
              </a:rPr>
              <a:pPr/>
              <a:t>13</a:t>
            </a:fld>
            <a:endParaRPr lang="ru-RU" altLang="ru-RU" sz="14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483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483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483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483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483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0483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0483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0483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 autoUpdateAnimBg="0"/>
      <p:bldP spid="20483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Заголовок 1" descr="Large confetti">
            <a:extLst>
              <a:ext uri="{FF2B5EF4-FFF2-40B4-BE49-F238E27FC236}">
                <a16:creationId xmlns:a16="http://schemas.microsoft.com/office/drawing/2014/main" id="{D3A752EC-6574-5EF8-CA08-FD1C1EF3D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1" y="609600"/>
            <a:ext cx="6348413" cy="731838"/>
          </a:xfrm>
        </p:spPr>
        <p:txBody>
          <a:bodyPr>
            <a:normAutofit fontScale="90000"/>
          </a:bodyPr>
          <a:lstStyle/>
          <a:p>
            <a:pPr algn="ctr"/>
            <a:r>
              <a:rPr lang="ru-RU" altLang="ru-RU" b="1"/>
              <a:t>Таким образом,</a:t>
            </a:r>
          </a:p>
        </p:txBody>
      </p:sp>
      <p:sp>
        <p:nvSpPr>
          <p:cNvPr id="3" name="Содержимое 2">
            <a:extLst>
              <a:ext uri="{FF2B5EF4-FFF2-40B4-BE49-F238E27FC236}">
                <a16:creationId xmlns:a16="http://schemas.microsoft.com/office/drawing/2014/main" id="{ACFAAB59-C943-FA40-A21F-1AAEDD00A5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7849" y="1700212"/>
            <a:ext cx="9192185" cy="4675467"/>
          </a:xfrm>
        </p:spPr>
        <p:txBody>
          <a:bodyPr>
            <a:normAutofit/>
          </a:bodyPr>
          <a:lstStyle/>
          <a:p>
            <a:pPr marL="0" indent="0" algn="ctr">
              <a:buNone/>
              <a:defRPr/>
            </a:pPr>
            <a:r>
              <a:rPr lang="ru-RU" altLang="ru-RU" sz="3200" b="1" dirty="0"/>
              <a:t>идеальное состояние предприятия состоит в том, что оно должно быть</a:t>
            </a:r>
          </a:p>
          <a:p>
            <a:pPr marL="457200" indent="-457200" algn="ctr">
              <a:buFont typeface="+mj-lt"/>
              <a:buAutoNum type="arabicPeriod"/>
              <a:defRPr/>
            </a:pPr>
            <a:r>
              <a:rPr lang="ru-RU" altLang="ru-RU" sz="3200" b="1" dirty="0"/>
              <a:t>инвестиционно-привлекательным (с точки зрения инвестора и собственника)</a:t>
            </a:r>
          </a:p>
          <a:p>
            <a:pPr marL="457200" indent="-457200" algn="ctr">
              <a:buFont typeface="+mj-lt"/>
              <a:buAutoNum type="arabicPeriod"/>
              <a:defRPr/>
            </a:pPr>
            <a:r>
              <a:rPr lang="ru-RU" altLang="ru-RU" sz="3200" b="1" dirty="0"/>
              <a:t>платёжеспособным (в кратко- и долгосрочном периодах)</a:t>
            </a:r>
          </a:p>
          <a:p>
            <a:pPr marL="457200" indent="-457200" algn="ctr">
              <a:buFont typeface="+mj-lt"/>
              <a:buAutoNum type="arabicPeriod"/>
              <a:defRPr/>
            </a:pPr>
            <a:r>
              <a:rPr lang="ru-RU" altLang="ru-RU" sz="3200" b="1" dirty="0"/>
              <a:t>эффективным (по затратам и по выручке)</a:t>
            </a:r>
          </a:p>
        </p:txBody>
      </p:sp>
      <p:sp>
        <p:nvSpPr>
          <p:cNvPr id="18436" name="Номер слайда 4">
            <a:extLst>
              <a:ext uri="{FF2B5EF4-FFF2-40B4-BE49-F238E27FC236}">
                <a16:creationId xmlns:a16="http://schemas.microsoft.com/office/drawing/2014/main" id="{F6312673-7048-A7D5-1CFC-9AD52AB0C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70A076E-8A0B-457C-A8FB-E9485794F3A8}" type="slidenum">
              <a:rPr lang="ru-RU" altLang="ru-RU" sz="1400">
                <a:solidFill>
                  <a:schemeClr val="bg1"/>
                </a:solidFill>
              </a:rPr>
              <a:pPr/>
              <a:t>14</a:t>
            </a:fld>
            <a:endParaRPr lang="ru-RU" altLang="ru-RU" sz="14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0" grpId="0"/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CEFB8-D5A1-744F-91D7-9B94A54B8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0CB60E-0F5D-F612-B345-4F22C4CB5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000" dirty="0"/>
              <a:t>Модель Дюпона. Моделирование и факторный анализ прибыли и рентабельности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40C224-D1BA-178D-DD80-99766F24FC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2003613"/>
            <a:ext cx="10178322" cy="4666128"/>
          </a:xfrm>
        </p:spPr>
        <p:txBody>
          <a:bodyPr>
            <a:normAutofit lnSpcReduction="10000"/>
          </a:bodyPr>
          <a:lstStyle/>
          <a:p>
            <a:pPr>
              <a:spcBef>
                <a:spcPts val="600"/>
              </a:spcBef>
            </a:pPr>
            <a:r>
              <a:rPr lang="ru-RU" altLang="ru-RU" sz="2400" dirty="0"/>
              <a:t>Была разработана в 1919 г.</a:t>
            </a:r>
          </a:p>
          <a:p>
            <a:pPr lvl="1">
              <a:spcBef>
                <a:spcPts val="600"/>
              </a:spcBef>
            </a:pPr>
            <a:r>
              <a:rPr lang="ru-RU" altLang="ru-RU" sz="2000" dirty="0"/>
              <a:t>основа – концепция Альфреда Маршалла</a:t>
            </a:r>
          </a:p>
          <a:p>
            <a:pPr lvl="1">
              <a:spcBef>
                <a:spcPts val="600"/>
              </a:spcBef>
            </a:pPr>
            <a:r>
              <a:rPr lang="ru-RU" altLang="ru-RU" sz="2000" dirty="0"/>
              <a:t>создатель – аналитик финансовой службы Фрэнк Дональдсон Браун</a:t>
            </a:r>
          </a:p>
          <a:p>
            <a:pPr lvl="2">
              <a:spcBef>
                <a:spcPts val="600"/>
              </a:spcBef>
            </a:pPr>
            <a:r>
              <a:rPr lang="ru-RU" altLang="ru-RU" sz="2000" dirty="0"/>
              <a:t>23% акций </a:t>
            </a:r>
            <a:r>
              <a:rPr lang="en-US" altLang="ru-RU" sz="2000" dirty="0"/>
              <a:t>General Motors</a:t>
            </a:r>
            <a:r>
              <a:rPr lang="ru-RU" altLang="ru-RU" sz="2000" dirty="0"/>
              <a:t> + финансовый порядок</a:t>
            </a:r>
          </a:p>
          <a:p>
            <a:pPr lvl="1">
              <a:spcBef>
                <a:spcPts val="600"/>
              </a:spcBef>
            </a:pPr>
            <a:r>
              <a:rPr lang="ru-RU" altLang="ru-RU" sz="2000" dirty="0"/>
              <a:t>почти столетний юбилей</a:t>
            </a:r>
          </a:p>
          <a:p>
            <a:pPr>
              <a:spcBef>
                <a:spcPts val="600"/>
              </a:spcBef>
            </a:pPr>
            <a:r>
              <a:rPr lang="ru-RU" altLang="ru-RU" sz="2400" dirty="0"/>
              <a:t>Другое название - модель анализа активов</a:t>
            </a:r>
          </a:p>
          <a:p>
            <a:pPr lvl="1">
              <a:spcBef>
                <a:spcPts val="600"/>
              </a:spcBef>
            </a:pPr>
            <a:r>
              <a:rPr lang="ru-RU" altLang="ru-RU" sz="2000" dirty="0"/>
              <a:t>аналитический инструмент</a:t>
            </a:r>
          </a:p>
          <a:p>
            <a:pPr lvl="1">
              <a:spcBef>
                <a:spcPts val="600"/>
              </a:spcBef>
            </a:pPr>
            <a:r>
              <a:rPr lang="ru-RU" altLang="ru-RU" sz="2000" dirty="0"/>
              <a:t>почему одна компания приносит больше прибыли, чем ее конкуренты</a:t>
            </a:r>
          </a:p>
          <a:p>
            <a:pPr lvl="1">
              <a:spcBef>
                <a:spcPts val="600"/>
              </a:spcBef>
            </a:pPr>
            <a:r>
              <a:rPr lang="ru-RU" altLang="ru-RU" sz="2000" dirty="0"/>
              <a:t>помогает инвесторам снизить свои риски</a:t>
            </a:r>
          </a:p>
          <a:p>
            <a:pPr lvl="1">
              <a:spcBef>
                <a:spcPts val="600"/>
              </a:spcBef>
            </a:pPr>
            <a:r>
              <a:rPr lang="ru-RU" altLang="ru-RU" sz="2000" dirty="0"/>
              <a:t>точность анализа зависит от качества данных бухгалтерской отчетности</a:t>
            </a:r>
          </a:p>
          <a:p>
            <a:pPr>
              <a:spcBef>
                <a:spcPts val="600"/>
              </a:spcBef>
            </a:pPr>
            <a:r>
              <a:rPr lang="ru-RU" altLang="ru-RU" sz="2400" dirty="0"/>
              <a:t>Источник: </a:t>
            </a:r>
            <a:r>
              <a:rPr lang="ru-RU" altLang="ru-RU" sz="2400" dirty="0">
                <a:hlinkClick r:id="rId2"/>
              </a:rPr>
              <a:t>https://blog.bitobe.ru/article/model-dyupona/</a:t>
            </a:r>
            <a:r>
              <a:rPr lang="ru-RU" altLang="ru-RU" sz="2400" dirty="0"/>
              <a:t> © Блог BITOBE</a:t>
            </a:r>
          </a:p>
        </p:txBody>
      </p:sp>
    </p:spTree>
    <p:extLst>
      <p:ext uri="{BB962C8B-B14F-4D97-AF65-F5344CB8AC3E}">
        <p14:creationId xmlns:p14="http://schemas.microsoft.com/office/powerpoint/2010/main" val="23832184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Заголовок 1">
            <a:extLst>
              <a:ext uri="{FF2B5EF4-FFF2-40B4-BE49-F238E27FC236}">
                <a16:creationId xmlns:a16="http://schemas.microsoft.com/office/drawing/2014/main" id="{4DBB50EA-F7D6-3DC1-27C7-95C78C901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7850" y="188914"/>
            <a:ext cx="7056438" cy="1157287"/>
          </a:xfrm>
        </p:spPr>
        <p:txBody>
          <a:bodyPr/>
          <a:lstStyle/>
          <a:p>
            <a:pPr>
              <a:buFont typeface="Georgia" panose="02040502050405020303" pitchFamily="18" charset="0"/>
              <a:buNone/>
            </a:pPr>
            <a:r>
              <a:rPr lang="ru-RU" altLang="ru-RU" sz="2800"/>
              <a:t>Инновационный центр в России</a:t>
            </a:r>
            <a:br>
              <a:rPr lang="ru-RU" altLang="ru-RU" sz="2800"/>
            </a:br>
            <a:r>
              <a:rPr lang="en-US" altLang="ru-RU" sz="2800">
                <a:solidFill>
                  <a:srgbClr val="92D050"/>
                </a:solidFill>
              </a:rPr>
              <a:t>URL: </a:t>
            </a:r>
            <a:r>
              <a:rPr lang="fr-FR" altLang="ru-RU" sz="2800">
                <a:solidFill>
                  <a:srgbClr val="92D050"/>
                </a:solidFill>
                <a:hlinkClick r:id="rId3"/>
              </a:rPr>
              <a:t>http://www.dupont.ru/</a:t>
            </a:r>
            <a:endParaRPr lang="ru-RU" altLang="ru-RU" sz="2800"/>
          </a:p>
        </p:txBody>
      </p:sp>
      <p:sp>
        <p:nvSpPr>
          <p:cNvPr id="20483" name="Объект 2">
            <a:extLst>
              <a:ext uri="{FF2B5EF4-FFF2-40B4-BE49-F238E27FC236}">
                <a16:creationId xmlns:a16="http://schemas.microsoft.com/office/drawing/2014/main" id="{BE021A9A-10CB-8148-031B-E07BDD5EAEC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210235" y="1412876"/>
            <a:ext cx="10327341" cy="5256213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spcBef>
                <a:spcPct val="0"/>
              </a:spcBef>
            </a:pPr>
            <a:r>
              <a:rPr lang="ru-RU" altLang="ru-RU" sz="2400" dirty="0"/>
              <a:t>Мировой лидер в инновациях и научных разработках, ориентированных на рынок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</a:pPr>
            <a:r>
              <a:rPr lang="ru-RU" altLang="ru-RU" sz="2400" dirty="0"/>
              <a:t>Двухсотлетняя история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</a:pPr>
            <a:r>
              <a:rPr lang="ru-RU" altLang="ru-RU" sz="2400" dirty="0"/>
              <a:t>Опыт работы в различных отраслях</a:t>
            </a:r>
          </a:p>
          <a:p>
            <a:pPr marL="400050" lvl="2" indent="0">
              <a:lnSpc>
                <a:spcPct val="120000"/>
              </a:lnSpc>
              <a:spcBef>
                <a:spcPct val="0"/>
              </a:spcBef>
            </a:pPr>
            <a:r>
              <a:rPr lang="ru-RU" altLang="ru-RU" sz="1800" b="1" dirty="0">
                <a:hlinkClick r:id="rId4"/>
              </a:rPr>
              <a:t>&gt; Автоиндустрия</a:t>
            </a:r>
            <a:endParaRPr lang="ru-RU" altLang="ru-RU" sz="1800" b="1" dirty="0"/>
          </a:p>
          <a:p>
            <a:pPr marL="400050" lvl="2" indent="0">
              <a:lnSpc>
                <a:spcPct val="120000"/>
              </a:lnSpc>
              <a:spcBef>
                <a:spcPct val="0"/>
              </a:spcBef>
            </a:pPr>
            <a:r>
              <a:rPr lang="ru-RU" altLang="ru-RU" sz="1800" b="1" dirty="0">
                <a:hlinkClick r:id="rId5"/>
              </a:rPr>
              <a:t>&gt; Добыча полезных ископаемых</a:t>
            </a:r>
            <a:endParaRPr lang="ru-RU" altLang="ru-RU" sz="1800" b="1" dirty="0"/>
          </a:p>
          <a:p>
            <a:pPr marL="400050" lvl="2" indent="0">
              <a:lnSpc>
                <a:spcPct val="120000"/>
              </a:lnSpc>
              <a:spcBef>
                <a:spcPct val="0"/>
              </a:spcBef>
            </a:pPr>
            <a:r>
              <a:rPr lang="ru-RU" altLang="ru-RU" sz="1800" b="1" dirty="0">
                <a:hlinkClick r:id="rId6"/>
              </a:rPr>
              <a:t>&gt; Защита и безопасность</a:t>
            </a:r>
            <a:endParaRPr lang="ru-RU" altLang="ru-RU" sz="1800" b="1" dirty="0"/>
          </a:p>
          <a:p>
            <a:pPr marL="400050" lvl="2" indent="0">
              <a:lnSpc>
                <a:spcPct val="120000"/>
              </a:lnSpc>
              <a:spcBef>
                <a:spcPct val="0"/>
              </a:spcBef>
            </a:pPr>
            <a:r>
              <a:rPr lang="ru-RU" altLang="ru-RU" sz="1800" b="1" dirty="0">
                <a:hlinkClick r:id="rId7"/>
              </a:rPr>
              <a:t>&gt; Здравоохранение</a:t>
            </a:r>
            <a:endParaRPr lang="ru-RU" altLang="ru-RU" sz="1800" dirty="0"/>
          </a:p>
          <a:p>
            <a:pPr marL="400050" lvl="2" indent="0">
              <a:lnSpc>
                <a:spcPct val="120000"/>
              </a:lnSpc>
              <a:spcBef>
                <a:spcPct val="0"/>
              </a:spcBef>
            </a:pPr>
            <a:r>
              <a:rPr lang="ru-RU" altLang="ru-RU" sz="1800" b="1" dirty="0">
                <a:hlinkClick r:id="rId8"/>
              </a:rPr>
              <a:t>&gt; Пищевая промышленность</a:t>
            </a:r>
            <a:endParaRPr lang="ru-RU" altLang="ru-RU" sz="1800" b="1" dirty="0"/>
          </a:p>
          <a:p>
            <a:pPr marL="400050" lvl="2" indent="0">
              <a:lnSpc>
                <a:spcPct val="120000"/>
              </a:lnSpc>
              <a:spcBef>
                <a:spcPct val="0"/>
              </a:spcBef>
            </a:pPr>
            <a:r>
              <a:rPr lang="ru-RU" altLang="ru-RU" sz="1800" b="1" dirty="0">
                <a:hlinkClick r:id="rId9"/>
              </a:rPr>
              <a:t>&gt; Пластики</a:t>
            </a:r>
            <a:endParaRPr lang="ru-RU" altLang="ru-RU" sz="1800" b="1" dirty="0"/>
          </a:p>
          <a:p>
            <a:pPr marL="400050" lvl="2" indent="0">
              <a:lnSpc>
                <a:spcPct val="120000"/>
              </a:lnSpc>
              <a:spcBef>
                <a:spcPct val="0"/>
              </a:spcBef>
            </a:pPr>
            <a:r>
              <a:rPr lang="ru-RU" altLang="ru-RU" sz="1800" b="1" dirty="0">
                <a:hlinkClick r:id="rId10"/>
              </a:rPr>
              <a:t>&gt; Строительство</a:t>
            </a:r>
            <a:endParaRPr lang="ru-RU" altLang="ru-RU" sz="1800" dirty="0"/>
          </a:p>
          <a:p>
            <a:pPr marL="400050" lvl="2" indent="0">
              <a:lnSpc>
                <a:spcPct val="120000"/>
              </a:lnSpc>
              <a:spcBef>
                <a:spcPct val="0"/>
              </a:spcBef>
            </a:pPr>
            <a:r>
              <a:rPr lang="ru-RU" altLang="ru-RU" sz="1800" b="1" dirty="0">
                <a:hlinkClick r:id="rId11"/>
              </a:rPr>
              <a:t>&gt; Упаковка и печать</a:t>
            </a:r>
            <a:endParaRPr lang="ru-RU" altLang="ru-RU" sz="1800" b="1" dirty="0"/>
          </a:p>
          <a:p>
            <a:pPr marL="400050" lvl="2" indent="0">
              <a:lnSpc>
                <a:spcPct val="120000"/>
              </a:lnSpc>
              <a:spcBef>
                <a:spcPct val="0"/>
              </a:spcBef>
            </a:pPr>
            <a:r>
              <a:rPr lang="ru-RU" altLang="ru-RU" sz="1800" b="1" dirty="0">
                <a:hlinkClick r:id="rId12"/>
              </a:rPr>
              <a:t>&gt; Электроника</a:t>
            </a:r>
            <a:endParaRPr lang="ru-RU" altLang="ru-RU" sz="1800" b="1" dirty="0"/>
          </a:p>
          <a:p>
            <a:pPr marL="400050" lvl="2" indent="0">
              <a:lnSpc>
                <a:spcPct val="120000"/>
              </a:lnSpc>
              <a:spcBef>
                <a:spcPct val="0"/>
              </a:spcBef>
            </a:pPr>
            <a:r>
              <a:rPr lang="ru-RU" altLang="ru-RU" sz="1800" b="1" dirty="0">
                <a:hlinkClick r:id="rId13"/>
              </a:rPr>
              <a:t>&gt; Энергетика</a:t>
            </a:r>
            <a:endParaRPr lang="ru-RU" altLang="ru-RU" sz="1800" dirty="0"/>
          </a:p>
          <a:p>
            <a:pPr marL="0" indent="0">
              <a:lnSpc>
                <a:spcPct val="120000"/>
              </a:lnSpc>
              <a:spcBef>
                <a:spcPct val="0"/>
              </a:spcBef>
            </a:pPr>
            <a:r>
              <a:rPr lang="ru-RU" altLang="ru-RU" sz="2400" dirty="0"/>
              <a:t>Находится более чем в 90 странах мира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</a:pPr>
            <a:endParaRPr lang="ru-RU" altLang="ru-RU" sz="2400" dirty="0"/>
          </a:p>
        </p:txBody>
      </p:sp>
      <p:pic>
        <p:nvPicPr>
          <p:cNvPr id="20484" name="Picture 2" descr="DuPont">
            <a:extLst>
              <a:ext uri="{FF2B5EF4-FFF2-40B4-BE49-F238E27FC236}">
                <a16:creationId xmlns:a16="http://schemas.microsoft.com/office/drawing/2014/main" id="{B872F05E-AE87-9CF1-4999-455727C89A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0539" y="0"/>
            <a:ext cx="13239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Заголовок 1" descr="Large confetti">
            <a:extLst>
              <a:ext uri="{FF2B5EF4-FFF2-40B4-BE49-F238E27FC236}">
                <a16:creationId xmlns:a16="http://schemas.microsoft.com/office/drawing/2014/main" id="{98F69D51-FD3B-75DD-4309-069A02D92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388" y="260350"/>
            <a:ext cx="6769100" cy="1296988"/>
          </a:xfrm>
        </p:spPr>
        <p:txBody>
          <a:bodyPr/>
          <a:lstStyle/>
          <a:p>
            <a:r>
              <a:rPr lang="ru-RU" altLang="ru-RU" sz="4000" b="1"/>
              <a:t>2-х и 3-х факторная модель </a:t>
            </a:r>
            <a:r>
              <a:rPr lang="en-US" altLang="ru-RU" sz="4000" b="1"/>
              <a:t>DuPont</a:t>
            </a:r>
            <a:endParaRPr lang="ru-RU" altLang="ru-RU" sz="4000"/>
          </a:p>
        </p:txBody>
      </p:sp>
      <p:sp>
        <p:nvSpPr>
          <p:cNvPr id="23555" name="Содержимое 2">
            <a:extLst>
              <a:ext uri="{FF2B5EF4-FFF2-40B4-BE49-F238E27FC236}">
                <a16:creationId xmlns:a16="http://schemas.microsoft.com/office/drawing/2014/main" id="{1EC7B94A-AEEE-1619-D27C-9A0A6A7F09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9800" y="2060576"/>
            <a:ext cx="8278906" cy="41767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ru-RU" sz="3200" dirty="0"/>
              <a:t>ROE = NE/E </a:t>
            </a:r>
            <a:r>
              <a:rPr lang="ru-RU" altLang="ru-RU" sz="3200" dirty="0"/>
              <a:t> умножаем на А/А</a:t>
            </a:r>
            <a:endParaRPr lang="en-US" altLang="ru-RU" sz="3200" dirty="0"/>
          </a:p>
          <a:p>
            <a:pPr marL="400050" lvl="1" indent="0" algn="just">
              <a:buNone/>
            </a:pPr>
            <a:r>
              <a:rPr lang="en-US" altLang="ru-RU" sz="2800" dirty="0"/>
              <a:t>(NE/A) * (A/E) = ROA * K</a:t>
            </a:r>
            <a:r>
              <a:rPr lang="en-US" altLang="ru-RU" sz="2800" baseline="-25000" dirty="0"/>
              <a:t>e</a:t>
            </a:r>
          </a:p>
          <a:p>
            <a:pPr marL="0" indent="0">
              <a:buNone/>
            </a:pPr>
            <a:r>
              <a:rPr lang="en-US" altLang="ru-RU" sz="3200" dirty="0"/>
              <a:t>(NE/A) * (A/E) </a:t>
            </a:r>
            <a:r>
              <a:rPr lang="ru-RU" altLang="ru-RU" sz="3200" dirty="0"/>
              <a:t>умножаем на </a:t>
            </a:r>
            <a:r>
              <a:rPr lang="en-US" altLang="ru-RU" sz="3200" dirty="0"/>
              <a:t>S</a:t>
            </a:r>
            <a:r>
              <a:rPr lang="ru-RU" altLang="ru-RU" sz="3200" dirty="0"/>
              <a:t>/</a:t>
            </a:r>
            <a:r>
              <a:rPr lang="en-US" altLang="ru-RU" sz="3200" dirty="0"/>
              <a:t>S</a:t>
            </a:r>
          </a:p>
          <a:p>
            <a:pPr marL="400050" lvl="1" indent="0">
              <a:buNone/>
            </a:pPr>
            <a:r>
              <a:rPr lang="en-US" altLang="ru-RU" sz="2800" dirty="0"/>
              <a:t>(S/A) * (NE/S) * (A/E) = ATR * ROS * K</a:t>
            </a:r>
            <a:r>
              <a:rPr lang="en-US" altLang="ru-RU" sz="2800" baseline="-25000" dirty="0"/>
              <a:t>e</a:t>
            </a:r>
            <a:endParaRPr lang="ru-RU" altLang="ru-RU" sz="2800" baseline="-25000" dirty="0"/>
          </a:p>
          <a:p>
            <a:pPr marL="0" indent="0">
              <a:buNone/>
            </a:pPr>
            <a:endParaRPr lang="en-US" altLang="ru-RU" sz="3200" baseline="-25000" dirty="0"/>
          </a:p>
          <a:p>
            <a:pPr marL="0" indent="0" algn="ctr">
              <a:buNone/>
            </a:pPr>
            <a:r>
              <a:rPr lang="en-US" altLang="ru-RU" sz="3200" b="1" dirty="0"/>
              <a:t>ROE</a:t>
            </a:r>
            <a:r>
              <a:rPr lang="en-US" altLang="ru-RU" sz="3200" dirty="0"/>
              <a:t> =</a:t>
            </a:r>
            <a:r>
              <a:rPr lang="en-US" altLang="ru-RU" sz="3200" b="1" dirty="0"/>
              <a:t> ROA * K</a:t>
            </a:r>
            <a:r>
              <a:rPr lang="en-US" altLang="ru-RU" sz="3200" b="1" baseline="-25000" dirty="0"/>
              <a:t>e</a:t>
            </a:r>
            <a:r>
              <a:rPr lang="en-US" altLang="ru-RU" sz="3200" dirty="0"/>
              <a:t>= </a:t>
            </a:r>
            <a:r>
              <a:rPr lang="en-US" altLang="ru-RU" sz="3200" b="1" dirty="0"/>
              <a:t>ATR</a:t>
            </a:r>
            <a:r>
              <a:rPr lang="ru-RU" altLang="ru-RU" sz="3200" b="1" baseline="-25000" dirty="0"/>
              <a:t>А</a:t>
            </a:r>
            <a:r>
              <a:rPr lang="en-US" altLang="ru-RU" sz="3200" b="1" dirty="0"/>
              <a:t> * ROS * K</a:t>
            </a:r>
            <a:r>
              <a:rPr lang="en-US" altLang="ru-RU" sz="3200" b="1" baseline="-25000" dirty="0"/>
              <a:t>e</a:t>
            </a:r>
          </a:p>
        </p:txBody>
      </p:sp>
      <p:sp>
        <p:nvSpPr>
          <p:cNvPr id="21508" name="Номер слайда 3">
            <a:extLst>
              <a:ext uri="{FF2B5EF4-FFF2-40B4-BE49-F238E27FC236}">
                <a16:creationId xmlns:a16="http://schemas.microsoft.com/office/drawing/2014/main" id="{CC8C15AB-2800-1783-933C-E50BC5563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96ADCCE-9246-449F-B607-076E0B3A3F37}" type="slidenum">
              <a:rPr lang="ru-RU" altLang="ru-RU" sz="1400">
                <a:solidFill>
                  <a:schemeClr val="bg1"/>
                </a:solidFill>
              </a:rPr>
              <a:pPr/>
              <a:t>17</a:t>
            </a:fld>
            <a:endParaRPr lang="ru-RU" altLang="ru-RU" sz="14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235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23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0" fill="hold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000" fill="hold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000" fill="hold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000" fill="hold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000" fill="hold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000" fill="hold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2000" fill="hold"/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2000" fill="hold"/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4" grpId="0"/>
      <p:bldP spid="23555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 descr="Large confetti">
            <a:extLst>
              <a:ext uri="{FF2B5EF4-FFF2-40B4-BE49-F238E27FC236}">
                <a16:creationId xmlns:a16="http://schemas.microsoft.com/office/drawing/2014/main" id="{DDAB2D84-A6BA-FC0F-5C69-1B9B9D3323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63751" y="404814"/>
            <a:ext cx="8250143" cy="95567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ru-RU" altLang="ru-RU" b="1" dirty="0"/>
              <a:t>Факторы, влияющие на </a:t>
            </a:r>
            <a:r>
              <a:rPr lang="en-US" altLang="ru-RU" b="1" dirty="0"/>
              <a:t>ROE</a:t>
            </a:r>
            <a:endParaRPr lang="ru-RU" altLang="ru-RU" b="1" dirty="0"/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DBD6E064-657F-C2EE-5516-1EB7C1CC44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32965" y="2003613"/>
            <a:ext cx="9345705" cy="4521012"/>
          </a:xfrm>
        </p:spPr>
        <p:txBody>
          <a:bodyPr>
            <a:normAutofit/>
          </a:bodyPr>
          <a:lstStyle/>
          <a:p>
            <a:pPr algn="ctr" eaLnBrk="1" hangingPunct="1">
              <a:buFontTx/>
              <a:buNone/>
            </a:pPr>
            <a:r>
              <a:rPr lang="en-US" altLang="ru-RU" sz="3600" b="1" dirty="0"/>
              <a:t>ROE</a:t>
            </a:r>
            <a:r>
              <a:rPr lang="en-US" altLang="ru-RU" sz="3600" dirty="0"/>
              <a:t> =</a:t>
            </a:r>
            <a:r>
              <a:rPr lang="en-US" altLang="ru-RU" sz="3600" b="1" dirty="0"/>
              <a:t> ATR</a:t>
            </a:r>
            <a:r>
              <a:rPr lang="ru-RU" altLang="ru-RU" sz="3600" b="1" baseline="-25000" dirty="0"/>
              <a:t>А</a:t>
            </a:r>
            <a:r>
              <a:rPr lang="en-US" altLang="ru-RU" sz="3600" b="1" dirty="0"/>
              <a:t> * ROS * K</a:t>
            </a:r>
            <a:r>
              <a:rPr lang="en-US" altLang="ru-RU" sz="3600" b="1" baseline="-25000" dirty="0"/>
              <a:t>e</a:t>
            </a:r>
            <a:endParaRPr lang="en-US" altLang="ru-RU" sz="3600" b="1" dirty="0"/>
          </a:p>
          <a:p>
            <a:pPr eaLnBrk="1" hangingPunct="1"/>
            <a:r>
              <a:rPr lang="ru-RU" altLang="ru-RU" sz="2800" dirty="0">
                <a:cs typeface="Times New Roman" panose="02020603050405020304" pitchFamily="18" charset="0"/>
              </a:rPr>
              <a:t>Эффективность использования активов</a:t>
            </a:r>
            <a:endParaRPr lang="en-US" altLang="ru-RU" sz="2800" dirty="0">
              <a:cs typeface="Times New Roman" panose="02020603050405020304" pitchFamily="18" charset="0"/>
            </a:endParaRPr>
          </a:p>
          <a:p>
            <a:pPr lvl="1" eaLnBrk="1" hangingPunct="1"/>
            <a:r>
              <a:rPr lang="ru-RU" altLang="ru-RU" sz="2400" dirty="0">
                <a:cs typeface="Times New Roman" panose="02020603050405020304" pitchFamily="18" charset="0"/>
              </a:rPr>
              <a:t>оборачиваемость активов </a:t>
            </a:r>
            <a:r>
              <a:rPr lang="en-US" altLang="ru-RU" sz="2400" dirty="0">
                <a:cs typeface="Times New Roman" panose="02020603050405020304" pitchFamily="18" charset="0"/>
              </a:rPr>
              <a:t>(ATR, ATP)</a:t>
            </a:r>
            <a:endParaRPr lang="en-US" altLang="ru-RU" sz="2400" dirty="0"/>
          </a:p>
          <a:p>
            <a:pPr eaLnBrk="1" hangingPunct="1"/>
            <a:r>
              <a:rPr lang="ru-RU" altLang="ru-RU" sz="2800" dirty="0">
                <a:cs typeface="Times New Roman" panose="02020603050405020304" pitchFamily="18" charset="0"/>
              </a:rPr>
              <a:t>Производственная эффективность</a:t>
            </a:r>
            <a:endParaRPr lang="en-US" altLang="ru-RU" sz="2800" dirty="0">
              <a:cs typeface="Times New Roman" panose="02020603050405020304" pitchFamily="18" charset="0"/>
            </a:endParaRPr>
          </a:p>
          <a:p>
            <a:pPr lvl="1" eaLnBrk="1" hangingPunct="1"/>
            <a:r>
              <a:rPr lang="ru-RU" altLang="ru-RU" sz="2400" dirty="0">
                <a:cs typeface="Times New Roman" panose="02020603050405020304" pitchFamily="18" charset="0"/>
              </a:rPr>
              <a:t>маржа прибыли</a:t>
            </a:r>
            <a:r>
              <a:rPr lang="en-US" altLang="ru-RU" sz="2400" dirty="0">
                <a:cs typeface="Times New Roman" panose="02020603050405020304" pitchFamily="18" charset="0"/>
              </a:rPr>
              <a:t> (ROS)</a:t>
            </a:r>
            <a:endParaRPr lang="en-US" altLang="ru-RU" sz="2400" dirty="0"/>
          </a:p>
          <a:p>
            <a:pPr eaLnBrk="1" hangingPunct="1"/>
            <a:r>
              <a:rPr lang="ru-RU" altLang="ru-RU" sz="2800" dirty="0">
                <a:cs typeface="Times New Roman" panose="02020603050405020304" pitchFamily="18" charset="0"/>
              </a:rPr>
              <a:t>Эффективность привлечения заёмных средств</a:t>
            </a:r>
          </a:p>
          <a:p>
            <a:pPr lvl="1" eaLnBrk="1" hangingPunct="1"/>
            <a:r>
              <a:rPr lang="ru-RU" altLang="ru-RU" sz="2400" dirty="0">
                <a:cs typeface="Times New Roman" panose="02020603050405020304" pitchFamily="18" charset="0"/>
              </a:rPr>
              <a:t>собственного капитала</a:t>
            </a:r>
            <a:r>
              <a:rPr lang="en-US" altLang="ru-RU" sz="2400" dirty="0">
                <a:cs typeface="Times New Roman" panose="02020603050405020304" pitchFamily="18" charset="0"/>
              </a:rPr>
              <a:t> (</a:t>
            </a:r>
            <a:r>
              <a:rPr lang="en-US" altLang="ru-RU" sz="2400" dirty="0"/>
              <a:t>K</a:t>
            </a:r>
            <a:r>
              <a:rPr lang="en-US" altLang="ru-RU" sz="2400" baseline="-25000" dirty="0"/>
              <a:t>e </a:t>
            </a:r>
            <a:r>
              <a:rPr lang="en-US" altLang="ru-RU" sz="2400" dirty="0">
                <a:cs typeface="Times New Roman" panose="02020603050405020304" pitchFamily="18" charset="0"/>
              </a:rPr>
              <a:t>= A/E)</a:t>
            </a:r>
          </a:p>
          <a:p>
            <a:pPr lvl="1" eaLnBrk="1" hangingPunct="1"/>
            <a:r>
              <a:rPr lang="ru-RU" altLang="ru-RU" sz="2400" dirty="0">
                <a:cs typeface="Times New Roman" panose="02020603050405020304" pitchFamily="18" charset="0"/>
              </a:rPr>
              <a:t>финансового рычага</a:t>
            </a:r>
            <a:r>
              <a:rPr lang="en-US" altLang="ru-RU" sz="2400" dirty="0">
                <a:cs typeface="Times New Roman" panose="02020603050405020304" pitchFamily="18" charset="0"/>
              </a:rPr>
              <a:t> (D/E)</a:t>
            </a:r>
          </a:p>
        </p:txBody>
      </p:sp>
      <p:sp>
        <p:nvSpPr>
          <p:cNvPr id="22532" name="Номер слайда 3">
            <a:extLst>
              <a:ext uri="{FF2B5EF4-FFF2-40B4-BE49-F238E27FC236}">
                <a16:creationId xmlns:a16="http://schemas.microsoft.com/office/drawing/2014/main" id="{5F7ECA83-60FB-0D15-67A2-90B3D0FB5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68AF665-9957-4FB6-9036-E6E9890EB6F3}" type="slidenum">
              <a:rPr lang="ru-RU" altLang="ru-RU" sz="1400">
                <a:solidFill>
                  <a:schemeClr val="bg1"/>
                </a:solidFill>
              </a:rPr>
              <a:pPr/>
              <a:t>18</a:t>
            </a:fld>
            <a:endParaRPr lang="ru-RU" altLang="ru-RU" sz="14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5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3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3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4" grpId="0" autoUpdateAnimBg="0"/>
      <p:bldP spid="23555" grpId="0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Заголовок 1" descr="Large confetti">
            <a:extLst>
              <a:ext uri="{FF2B5EF4-FFF2-40B4-BE49-F238E27FC236}">
                <a16:creationId xmlns:a16="http://schemas.microsoft.com/office/drawing/2014/main" id="{CD998D94-391D-1CDE-6502-1B4A03F33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949" y="55563"/>
            <a:ext cx="9071909" cy="768350"/>
          </a:xfrm>
        </p:spPr>
        <p:txBody>
          <a:bodyPr>
            <a:normAutofit fontScale="90000"/>
          </a:bodyPr>
          <a:lstStyle/>
          <a:p>
            <a:r>
              <a:rPr lang="ru-RU" altLang="ru-RU" dirty="0"/>
              <a:t>Пятифакторная модель</a:t>
            </a:r>
            <a:r>
              <a:rPr lang="en-US" altLang="ru-RU" dirty="0"/>
              <a:t> </a:t>
            </a:r>
            <a:r>
              <a:rPr lang="ru-RU" altLang="ru-RU" dirty="0"/>
              <a:t>Дюпон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B5C9D8-4C3C-DF80-E4B2-A323FD0001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4025" y="3563470"/>
            <a:ext cx="10165976" cy="3105617"/>
          </a:xfrm>
        </p:spPr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ru-RU" dirty="0"/>
              <a:t>TB </a:t>
            </a:r>
            <a:r>
              <a:rPr lang="ru-RU" i="1" dirty="0"/>
              <a:t>(</a:t>
            </a:r>
            <a:r>
              <a:rPr lang="ru-RU" i="1" dirty="0" err="1"/>
              <a:t>Tax</a:t>
            </a:r>
            <a:r>
              <a:rPr lang="ru-RU" dirty="0"/>
              <a:t> </a:t>
            </a:r>
            <a:r>
              <a:rPr lang="ru-RU" i="1" dirty="0" err="1"/>
              <a:t>Burden</a:t>
            </a:r>
            <a:r>
              <a:rPr lang="ru-RU" dirty="0"/>
              <a:t>) – коэффициент налогового бремени;</a:t>
            </a:r>
          </a:p>
          <a:p>
            <a:pPr>
              <a:defRPr/>
            </a:pPr>
            <a:r>
              <a:rPr lang="ru-RU" dirty="0"/>
              <a:t>IB </a:t>
            </a:r>
            <a:r>
              <a:rPr lang="ru-RU" i="1" dirty="0"/>
              <a:t>(</a:t>
            </a:r>
            <a:r>
              <a:rPr lang="ru-RU" i="1" dirty="0" err="1"/>
              <a:t>Interest</a:t>
            </a:r>
            <a:r>
              <a:rPr lang="ru-RU" dirty="0"/>
              <a:t> </a:t>
            </a:r>
            <a:r>
              <a:rPr lang="ru-RU" i="1" dirty="0" err="1"/>
              <a:t>Burden</a:t>
            </a:r>
            <a:r>
              <a:rPr lang="ru-RU" i="1" dirty="0"/>
              <a:t>)</a:t>
            </a:r>
            <a:r>
              <a:rPr lang="ru-RU" dirty="0"/>
              <a:t> – коэффициент процентного бремени;</a:t>
            </a:r>
          </a:p>
          <a:p>
            <a:pPr>
              <a:defRPr/>
            </a:pPr>
            <a:r>
              <a:rPr lang="ru-RU" dirty="0"/>
              <a:t>ROS </a:t>
            </a:r>
            <a:r>
              <a:rPr lang="ru-RU" i="1" dirty="0"/>
              <a:t>(</a:t>
            </a:r>
            <a:r>
              <a:rPr lang="ru-RU" i="1" dirty="0" err="1"/>
              <a:t>Return</a:t>
            </a:r>
            <a:r>
              <a:rPr lang="ru-RU" dirty="0"/>
              <a:t> </a:t>
            </a:r>
            <a:r>
              <a:rPr lang="ru-RU" i="1" dirty="0" err="1"/>
              <a:t>On</a:t>
            </a:r>
            <a:r>
              <a:rPr lang="ru-RU" dirty="0"/>
              <a:t> </a:t>
            </a:r>
            <a:r>
              <a:rPr lang="ru-RU" i="1" dirty="0" err="1"/>
              <a:t>Sales</a:t>
            </a:r>
            <a:r>
              <a:rPr lang="ru-RU" i="1" dirty="0"/>
              <a:t>)</a:t>
            </a:r>
            <a:r>
              <a:rPr lang="ru-RU" dirty="0"/>
              <a:t> – рентабельность продаж предприятия;</a:t>
            </a:r>
          </a:p>
          <a:p>
            <a:pPr>
              <a:defRPr/>
            </a:pPr>
            <a:r>
              <a:rPr lang="ru-RU" dirty="0" err="1"/>
              <a:t>K</a:t>
            </a:r>
            <a:r>
              <a:rPr lang="ru-RU" baseline="-25000" dirty="0" err="1"/>
              <a:t>оа</a:t>
            </a:r>
            <a:r>
              <a:rPr lang="ru-RU" dirty="0"/>
              <a:t> – коэффициент оборачиваемости активов;</a:t>
            </a:r>
          </a:p>
          <a:p>
            <a:pPr>
              <a:defRPr/>
            </a:pPr>
            <a:r>
              <a:rPr lang="ru-RU" dirty="0"/>
              <a:t>LR </a:t>
            </a:r>
            <a:r>
              <a:rPr lang="ru-RU" i="1" dirty="0"/>
              <a:t>(</a:t>
            </a:r>
            <a:r>
              <a:rPr lang="ru-RU" i="1" dirty="0" err="1"/>
              <a:t>Leverage</a:t>
            </a:r>
            <a:r>
              <a:rPr lang="ru-RU" dirty="0"/>
              <a:t> </a:t>
            </a:r>
            <a:r>
              <a:rPr lang="ru-RU" i="1" dirty="0" err="1"/>
              <a:t>ratio</a:t>
            </a:r>
            <a:r>
              <a:rPr lang="ru-RU" i="1" dirty="0"/>
              <a:t>)</a:t>
            </a:r>
            <a:r>
              <a:rPr lang="ru-RU" dirty="0"/>
              <a:t> – коэффициент капитализации (коэффициент финансового рычага).</a:t>
            </a:r>
          </a:p>
          <a:p>
            <a:pPr marL="0" indent="0" algn="ctr">
              <a:buNone/>
              <a:defRPr/>
            </a:pPr>
            <a:r>
              <a:rPr lang="en-US" sz="2400" dirty="0"/>
              <a:t>ROE</a:t>
            </a:r>
            <a:r>
              <a:rPr lang="ru-RU" sz="2400" dirty="0"/>
              <a:t> предприятия формируется за счет:</a:t>
            </a:r>
          </a:p>
          <a:p>
            <a:pPr marL="0" indent="0" algn="ctr">
              <a:buNone/>
              <a:defRPr/>
            </a:pPr>
            <a:r>
              <a:rPr lang="ru-RU" dirty="0"/>
              <a:t>налоговой ставки, процентов по заемному капиталу, эффективности продаж, результативности инвестиционной деятельности и финансового риска</a:t>
            </a:r>
            <a:endParaRPr lang="ru-RU" sz="1600" dirty="0"/>
          </a:p>
        </p:txBody>
      </p:sp>
      <p:sp>
        <p:nvSpPr>
          <p:cNvPr id="23556" name="Номер слайда 4">
            <a:extLst>
              <a:ext uri="{FF2B5EF4-FFF2-40B4-BE49-F238E27FC236}">
                <a16:creationId xmlns:a16="http://schemas.microsoft.com/office/drawing/2014/main" id="{158EF55A-1773-7077-59C7-D1DD948D6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C722687-C9FD-4A55-B077-C0673B7A290B}" type="slidenum">
              <a:rPr lang="ru-RU" altLang="ru-RU" sz="1400">
                <a:solidFill>
                  <a:schemeClr val="bg1"/>
                </a:solidFill>
              </a:rPr>
              <a:pPr/>
              <a:t>19</a:t>
            </a:fld>
            <a:endParaRPr lang="ru-RU" altLang="ru-RU" sz="1400">
              <a:solidFill>
                <a:schemeClr val="bg1"/>
              </a:solidFill>
            </a:endParaRPr>
          </a:p>
        </p:txBody>
      </p:sp>
      <p:pic>
        <p:nvPicPr>
          <p:cNvPr id="25605" name="Picture 2" descr="&amp;Mcy;&amp;ocy;&amp;dcy;&amp;icy;&amp;fcy;&amp;icy;&amp;kcy;&amp;acy;&amp;tscy;&amp;icy;&amp;yacy; &amp;mcy;&amp;ocy;&amp;dcy;&amp;iecy;&amp;lcy;&amp;icy; &amp;Dcy;&amp;yucy;&amp;pcy;&amp;ocy;&amp;ncy;. &amp;Fcy;&amp;ocy;&amp;rcy;&amp;mcy;&amp;ucy;&amp;lcy;&amp;acy; &amp;rcy;&amp;acy;&amp;scy;&amp;chcy;&amp;iecy;&amp;tcy;&amp;acy;. &amp;Pcy;&amp;rcy;&amp;icy;&amp;mcy;&amp;iecy;&amp;rcy;">
            <a:extLst>
              <a:ext uri="{FF2B5EF4-FFF2-40B4-BE49-F238E27FC236}">
                <a16:creationId xmlns:a16="http://schemas.microsoft.com/office/drawing/2014/main" id="{D8826CCB-D630-FE9E-DD19-47FB0F3E9C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0429" y="985277"/>
            <a:ext cx="7434262" cy="232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/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 descr="Large confetti">
            <a:extLst>
              <a:ext uri="{FF2B5EF4-FFF2-40B4-BE49-F238E27FC236}">
                <a16:creationId xmlns:a16="http://schemas.microsoft.com/office/drawing/2014/main" id="{7F5783E8-AB11-0FC9-86B5-31C36DC984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74826" y="260351"/>
            <a:ext cx="3673475" cy="627063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ru-RU" altLang="ru-RU" b="1"/>
              <a:t>Примеры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DB55E26E-8232-6522-2485-D4140351C5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74825" y="1467643"/>
            <a:ext cx="8700433" cy="4908036"/>
          </a:xfrm>
        </p:spPr>
        <p:txBody>
          <a:bodyPr>
            <a:normAutofit/>
          </a:bodyPr>
          <a:lstStyle/>
          <a:p>
            <a:pPr marL="457200" indent="-457200">
              <a:lnSpc>
                <a:spcPct val="90000"/>
              </a:lnSpc>
              <a:buFont typeface="+mj-lt"/>
              <a:buAutoNum type="arabicPeriod"/>
              <a:defRPr/>
            </a:pPr>
            <a:r>
              <a:rPr lang="ru-RU" sz="2400" dirty="0">
                <a:cs typeface="Times New Roman" pitchFamily="18" charset="0"/>
              </a:rPr>
              <a:t>Предприятие имеет коэффициент собственного капитала 2, оборачиваемость активов 1,25 и маржу прибыли 8%. Рассчитайте  </a:t>
            </a:r>
            <a:r>
              <a:rPr lang="en-US" sz="2400" dirty="0">
                <a:cs typeface="Times New Roman" pitchFamily="18" charset="0"/>
              </a:rPr>
              <a:t>ROE, ROA.</a:t>
            </a:r>
            <a:r>
              <a:rPr lang="ru-RU" sz="2400" dirty="0">
                <a:cs typeface="Times New Roman" pitchFamily="18" charset="0"/>
              </a:rPr>
              <a:t> Соблюдается ли соотношение между рассчитанными видами рентабельности?</a:t>
            </a:r>
            <a:endParaRPr lang="ru-RU" sz="2400" dirty="0"/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defRPr/>
            </a:pPr>
            <a:r>
              <a:rPr lang="ru-RU" sz="2400" dirty="0">
                <a:cs typeface="Times New Roman" pitchFamily="18" charset="0"/>
              </a:rPr>
              <a:t>Фирма имеет маржу прибыли 9%, оборачиваемость активов 1,5 и доходность собственного капитала 20,25%. Чему равна величина финансового рычага?</a:t>
            </a:r>
            <a:endParaRPr lang="ru-RU" sz="2400" dirty="0"/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defRPr/>
            </a:pPr>
            <a:r>
              <a:rPr lang="ru-RU" sz="2400" dirty="0">
                <a:cs typeface="Times New Roman" pitchFamily="18" charset="0"/>
              </a:rPr>
              <a:t>Объем продаж предприятия составляет 500 д.е., общая сумма активов 300 д.е., отношение заемных средств к собственному капиталу равно 1. Если доходность собственного капитала составляет 15%, то какова чистая прибыль предприятия? </a:t>
            </a:r>
            <a:endParaRPr lang="ru-RU" sz="2400" dirty="0"/>
          </a:p>
        </p:txBody>
      </p:sp>
      <p:sp>
        <p:nvSpPr>
          <p:cNvPr id="24580" name="Номер слайда 3">
            <a:extLst>
              <a:ext uri="{FF2B5EF4-FFF2-40B4-BE49-F238E27FC236}">
                <a16:creationId xmlns:a16="http://schemas.microsoft.com/office/drawing/2014/main" id="{D13F8E61-17D0-C28B-73A8-95D4D34FC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3574CFE-7863-445C-A00C-E8A4DA663DFC}" type="slidenum">
              <a:rPr lang="ru-RU" altLang="ru-RU" sz="1400">
                <a:solidFill>
                  <a:schemeClr val="bg1"/>
                </a:solidFill>
              </a:rPr>
              <a:pPr/>
              <a:t>20</a:t>
            </a:fld>
            <a:endParaRPr lang="ru-RU" altLang="ru-RU" sz="14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5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5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8" grpId="0" autoUpdateAnimBg="0"/>
      <p:bldP spid="24579" grpId="0" build="p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1A9DE3-87F3-D4A0-6057-879615C02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9090807" cy="1215596"/>
          </a:xfrm>
        </p:spPr>
        <p:txBody>
          <a:bodyPr>
            <a:noAutofit/>
          </a:bodyPr>
          <a:lstStyle/>
          <a:p>
            <a:r>
              <a:rPr lang="ru-RU" sz="4000" dirty="0"/>
              <a:t>4. Финансовая устойчивость </a:t>
            </a:r>
            <a:r>
              <a:rPr lang="en-US" sz="4000" dirty="0"/>
              <a:t>vs</a:t>
            </a:r>
            <a:r>
              <a:rPr lang="ru-RU" sz="4000" dirty="0"/>
              <a:t> банкротство</a:t>
            </a:r>
            <a:br>
              <a:rPr lang="ru-RU" sz="4000" dirty="0"/>
            </a:b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9C3CE7E-3E2F-3507-C400-32CA9E199D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988599"/>
            <a:ext cx="10178322" cy="3890994"/>
          </a:xfrm>
        </p:spPr>
        <p:txBody>
          <a:bodyPr>
            <a:normAutofit/>
          </a:bodyPr>
          <a:lstStyle/>
          <a:p>
            <a:r>
              <a:rPr lang="ru-RU" sz="2400" dirty="0"/>
              <a:t>Коэффициентный анализ</a:t>
            </a:r>
            <a:endParaRPr lang="en-US" sz="2400" dirty="0"/>
          </a:p>
          <a:p>
            <a:pPr lvl="1"/>
            <a:r>
              <a:rPr lang="ru-RU" sz="2000" dirty="0"/>
              <a:t>четыре показателя финансовой устойчивости</a:t>
            </a:r>
          </a:p>
          <a:p>
            <a:pPr lvl="1"/>
            <a:r>
              <a:rPr lang="ru-RU" sz="2000" dirty="0"/>
              <a:t>финансовый леверидж</a:t>
            </a:r>
          </a:p>
          <a:p>
            <a:r>
              <a:rPr lang="ru-RU" sz="2400" dirty="0"/>
              <a:t>Риски</a:t>
            </a:r>
          </a:p>
          <a:p>
            <a:pPr lvl="1"/>
            <a:r>
              <a:rPr lang="ru-RU" sz="2000" dirty="0"/>
              <a:t>большой объем заемных средств</a:t>
            </a:r>
          </a:p>
          <a:p>
            <a:r>
              <a:rPr lang="ru-RU" sz="2400" dirty="0"/>
              <a:t>Причины и методы предупреждения банкротства</a:t>
            </a:r>
          </a:p>
          <a:p>
            <a:r>
              <a:rPr lang="ru-RU" sz="2400" dirty="0"/>
              <a:t>Модели анализа вероятности банкротства</a:t>
            </a:r>
          </a:p>
          <a:p>
            <a:pPr lvl="1"/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946877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6383A7-DF01-11B2-73CA-3FAA7F0EE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833856"/>
          </a:xfrm>
        </p:spPr>
        <p:txBody>
          <a:bodyPr>
            <a:noAutofit/>
          </a:bodyPr>
          <a:lstStyle/>
          <a:p>
            <a:r>
              <a:rPr lang="ru-RU" sz="4000" dirty="0"/>
              <a:t>Причины возникновения банкротства</a:t>
            </a:r>
            <a:endParaRPr lang="ru-RU" sz="36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674416F-4CB8-23CD-B389-43C9D6C6E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118586"/>
            <a:ext cx="10178322" cy="5442012"/>
          </a:xfrm>
        </p:spPr>
        <p:txBody>
          <a:bodyPr>
            <a:normAutofit fontScale="92500"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dirty="0"/>
              <a:t>Банкротство не по вине компании</a:t>
            </a:r>
          </a:p>
          <a:p>
            <a:pPr lvl="1"/>
            <a:r>
              <a:rPr lang="ru-RU" dirty="0"/>
              <a:t>В данном случае несостоятельность компании возникает по причинам, от него не зависящим, таким как стихийные бедствия, политическая нестабильность, банкротство иных организаций, за которыми оставалось обязательство по выплатам данному предприятию, и иные внешние причины.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Ложное банкротство</a:t>
            </a:r>
          </a:p>
          <a:p>
            <a:pPr lvl="1"/>
            <a:r>
              <a:rPr lang="ru-RU" dirty="0"/>
              <a:t>фальсификация собственной несостоятельности, чтобы избежать выплаты долгов. Эта стратегия состоит в сокрытии части собственного имущества, и влечет за собой уголовную ответственность. Банкротство по неосторожности. Данный вид несостоятельности организации случается чаще других, развивается постепенно в результате неэффективной работы предприятия.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Неосторожное банкротство</a:t>
            </a:r>
          </a:p>
          <a:p>
            <a:pPr lvl="1"/>
            <a:r>
              <a:rPr lang="ru-RU" dirty="0"/>
              <a:t>можно выявить заранее и предотвратить, если своевременно проводить анализ состояния компании. Своевременно введенные меры могут надежно защитить компанию от банкротства.</a:t>
            </a:r>
          </a:p>
          <a:p>
            <a:pPr marL="457200" indent="-457200" algn="ctr">
              <a:buFont typeface="+mj-lt"/>
              <a:buAutoNum type="arabicPeriod"/>
            </a:pPr>
            <a:endParaRPr lang="ru-RU" dirty="0"/>
          </a:p>
          <a:p>
            <a:pPr marL="457200" indent="-457200" algn="ctr">
              <a:buFont typeface="+mj-lt"/>
              <a:buAutoNum type="arabicPeriod"/>
            </a:pPr>
            <a:r>
              <a:rPr lang="ru-RU" sz="1900" dirty="0"/>
              <a:t>Подробнее на </a:t>
            </a:r>
            <a:r>
              <a:rPr lang="ru-RU" sz="1900" dirty="0" err="1"/>
              <a:t>Bankiros</a:t>
            </a:r>
            <a:r>
              <a:rPr lang="ru-RU" sz="1900" dirty="0"/>
              <a:t>: </a:t>
            </a:r>
            <a:r>
              <a:rPr lang="en-US" sz="1900" dirty="0">
                <a:hlinkClick r:id="rId2"/>
              </a:rPr>
              <a:t>https://bankiros.ru/wiki/term/priciny-bankrotstva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57264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385FE5-8793-1736-ED3B-AD044CD65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5297" y="199746"/>
            <a:ext cx="10728737" cy="421690"/>
          </a:xfrm>
        </p:spPr>
        <p:txBody>
          <a:bodyPr>
            <a:noAutofit/>
          </a:bodyPr>
          <a:lstStyle/>
          <a:p>
            <a:r>
              <a:rPr lang="ru-RU" sz="2400" dirty="0"/>
              <a:t>Причины возникновения и методы предупреждения банкротства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5AE86E-A4E1-618A-4405-68B2F363E2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5297" y="621436"/>
            <a:ext cx="10728737" cy="6036818"/>
          </a:xfrm>
        </p:spPr>
        <p:txBody>
          <a:bodyPr>
            <a:noAutofit/>
          </a:bodyPr>
          <a:lstStyle/>
          <a:p>
            <a:pPr>
              <a:spcBef>
                <a:spcPts val="300"/>
              </a:spcBef>
            </a:pPr>
            <a:r>
              <a:rPr lang="ru-RU" sz="1300" b="1" dirty="0"/>
              <a:t>Недостаток финансовых ресурсов (капитала, специалистов)</a:t>
            </a:r>
          </a:p>
          <a:p>
            <a:pPr lvl="1">
              <a:spcBef>
                <a:spcPts val="300"/>
              </a:spcBef>
            </a:pPr>
            <a:r>
              <a:rPr lang="ru-RU" sz="1300" dirty="0"/>
              <a:t>компания не сможет покрывать свои расходы и выполнять свои обязательства перед кредиторами</a:t>
            </a:r>
          </a:p>
          <a:p>
            <a:pPr lvl="1">
              <a:spcBef>
                <a:spcPts val="300"/>
              </a:spcBef>
            </a:pPr>
            <a:r>
              <a:rPr lang="ru-RU" sz="1300" dirty="0"/>
              <a:t>финансовый и стратегический план развития, увеличение уставного капитал и финансовой величины оборотных средств</a:t>
            </a:r>
          </a:p>
          <a:p>
            <a:pPr>
              <a:spcBef>
                <a:spcPts val="300"/>
              </a:spcBef>
            </a:pPr>
            <a:r>
              <a:rPr lang="ru-RU" sz="1300" b="1" dirty="0"/>
              <a:t>Недостаточный спрос на товары или услуги</a:t>
            </a:r>
          </a:p>
          <a:p>
            <a:pPr lvl="1">
              <a:spcBef>
                <a:spcPts val="300"/>
              </a:spcBef>
            </a:pPr>
            <a:r>
              <a:rPr lang="ru-RU" sz="1300" dirty="0"/>
              <a:t>проблемы с платежеспособностью и неспособностью выполнять свои обязательства</a:t>
            </a:r>
          </a:p>
          <a:p>
            <a:pPr lvl="1">
              <a:spcBef>
                <a:spcPts val="300"/>
              </a:spcBef>
            </a:pPr>
            <a:r>
              <a:rPr lang="ru-RU" sz="1300" dirty="0"/>
              <a:t>следить за конкурентами, следить за спросом производимых товаров и иметь план по производству альтернативного продукта</a:t>
            </a:r>
          </a:p>
          <a:p>
            <a:pPr>
              <a:spcBef>
                <a:spcPts val="300"/>
              </a:spcBef>
            </a:pPr>
            <a:r>
              <a:rPr lang="ru-RU" sz="1300" b="1" dirty="0"/>
              <a:t>Конкуренция</a:t>
            </a:r>
          </a:p>
          <a:p>
            <a:pPr lvl="1">
              <a:spcBef>
                <a:spcPts val="300"/>
              </a:spcBef>
            </a:pPr>
            <a:r>
              <a:rPr lang="ru-RU" sz="1300" dirty="0"/>
              <a:t>потеря своей доли на рынке</a:t>
            </a:r>
          </a:p>
          <a:p>
            <a:pPr lvl="1">
              <a:spcBef>
                <a:spcPts val="300"/>
              </a:spcBef>
            </a:pPr>
            <a:r>
              <a:rPr lang="ru-RU" sz="1300" dirty="0"/>
              <a:t>анализ своих конкурентов и объективная оценка своих шансов</a:t>
            </a:r>
          </a:p>
          <a:p>
            <a:pPr>
              <a:spcBef>
                <a:spcPts val="300"/>
              </a:spcBef>
            </a:pPr>
            <a:r>
              <a:rPr lang="ru-RU" sz="1300" b="1" dirty="0"/>
              <a:t>Устаревшее оборудование и технологии</a:t>
            </a:r>
          </a:p>
          <a:p>
            <a:pPr lvl="1">
              <a:spcBef>
                <a:spcPts val="300"/>
              </a:spcBef>
            </a:pPr>
            <a:r>
              <a:rPr lang="ru-RU" sz="1300" dirty="0"/>
              <a:t>потеря своей доли на рынке</a:t>
            </a:r>
          </a:p>
          <a:p>
            <a:pPr lvl="1">
              <a:spcBef>
                <a:spcPts val="300"/>
              </a:spcBef>
            </a:pPr>
            <a:r>
              <a:rPr lang="ru-RU" sz="1300" dirty="0"/>
              <a:t>лизинг оборудования (НО надо заплатить)</a:t>
            </a:r>
          </a:p>
          <a:p>
            <a:pPr>
              <a:spcBef>
                <a:spcPts val="300"/>
              </a:spcBef>
            </a:pPr>
            <a:r>
              <a:rPr lang="ru-RU" sz="1300" b="1" dirty="0"/>
              <a:t>Неправильное управление финансами, персоналом и бизнес-процессами</a:t>
            </a:r>
          </a:p>
          <a:p>
            <a:pPr lvl="1">
              <a:spcBef>
                <a:spcPts val="300"/>
              </a:spcBef>
            </a:pPr>
            <a:r>
              <a:rPr lang="ru-RU" sz="1300" dirty="0"/>
              <a:t>проблемы с платежеспособностью</a:t>
            </a:r>
          </a:p>
          <a:p>
            <a:pPr lvl="1">
              <a:spcBef>
                <a:spcPts val="300"/>
              </a:spcBef>
            </a:pPr>
            <a:r>
              <a:rPr lang="ru-RU" sz="1300" dirty="0"/>
              <a:t>реформация организационной структуры предприятия; перераспределение активов и пассивов</a:t>
            </a:r>
          </a:p>
          <a:p>
            <a:pPr>
              <a:spcBef>
                <a:spcPts val="300"/>
              </a:spcBef>
            </a:pPr>
            <a:r>
              <a:rPr lang="ru-RU" sz="1300" b="1" dirty="0"/>
              <a:t>Юридические проблемы</a:t>
            </a:r>
          </a:p>
          <a:p>
            <a:pPr lvl="1">
              <a:spcBef>
                <a:spcPts val="300"/>
              </a:spcBef>
            </a:pPr>
            <a:r>
              <a:rPr lang="ru-RU" sz="1300" dirty="0"/>
              <a:t>например, судебные разбирательства, штрафы и налоговые проблемы, которые напрямую мешают продолжению производства и продаж</a:t>
            </a:r>
          </a:p>
          <a:p>
            <a:pPr>
              <a:spcBef>
                <a:spcPts val="300"/>
              </a:spcBef>
            </a:pPr>
            <a:r>
              <a:rPr lang="ru-RU" sz="1300" b="1" dirty="0"/>
              <a:t>Экономические кризисы</a:t>
            </a:r>
          </a:p>
          <a:p>
            <a:pPr lvl="1">
              <a:spcBef>
                <a:spcPts val="300"/>
              </a:spcBef>
            </a:pPr>
            <a:r>
              <a:rPr lang="ru-RU" sz="1300" dirty="0"/>
              <a:t>например, в результате рецессии, инфляции, высоких процентных ставок</a:t>
            </a:r>
          </a:p>
          <a:p>
            <a:pPr lvl="1">
              <a:spcBef>
                <a:spcPts val="300"/>
              </a:spcBef>
            </a:pPr>
            <a:r>
              <a:rPr lang="ru-RU" sz="1300" dirty="0"/>
              <a:t>можно обезопасить свою компанию при помощи инвестиций и других инструментов</a:t>
            </a:r>
          </a:p>
          <a:p>
            <a:pPr>
              <a:spcBef>
                <a:spcPts val="300"/>
              </a:spcBef>
            </a:pPr>
            <a:r>
              <a:rPr lang="ru-RU" sz="1300" b="1" dirty="0"/>
              <a:t>Причиной для банкротства компании также могут послужить стихийные бедствия, политическая и ситуация в стране и мире</a:t>
            </a:r>
          </a:p>
          <a:p>
            <a:pPr lvl="1">
              <a:spcBef>
                <a:spcPts val="300"/>
              </a:spcBef>
            </a:pPr>
            <a:r>
              <a:rPr lang="ru-RU" sz="1300" dirty="0"/>
              <a:t>осуществление финансовой помощи учредителями и иными лицами и иные меры, предусмотренные Законом о банкротстве</a:t>
            </a:r>
          </a:p>
          <a:p>
            <a:pPr>
              <a:spcBef>
                <a:spcPts val="300"/>
              </a:spcBef>
            </a:pPr>
            <a:endParaRPr lang="ru-RU" sz="1300" dirty="0"/>
          </a:p>
        </p:txBody>
      </p:sp>
    </p:spTree>
    <p:extLst>
      <p:ext uri="{BB962C8B-B14F-4D97-AF65-F5344CB8AC3E}">
        <p14:creationId xmlns:p14="http://schemas.microsoft.com/office/powerpoint/2010/main" val="2257446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5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5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500" fill="hold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500" fill="hold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5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500" fill="hold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500" fill="hold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50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1500" fill="hold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500" fill="hold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7EFA25-8BC4-0BBA-807D-AC0F142F8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187952"/>
            <a:ext cx="10178322" cy="948387"/>
          </a:xfrm>
        </p:spPr>
        <p:txBody>
          <a:bodyPr>
            <a:noAutofit/>
          </a:bodyPr>
          <a:lstStyle/>
          <a:p>
            <a:pPr algn="r"/>
            <a:r>
              <a:rPr lang="ru-RU" sz="3200" dirty="0"/>
              <a:t>Основные модели анализа</a:t>
            </a:r>
            <a:br>
              <a:rPr lang="ru-RU" sz="3200" dirty="0"/>
            </a:br>
            <a:r>
              <a:rPr lang="ru-RU" sz="3200" dirty="0"/>
              <a:t>вероятности банкротства (1-3)</a:t>
            </a:r>
            <a:endParaRPr lang="ru-RU" sz="28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E0A8BE-51B0-78BB-9063-487F528E5B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216239"/>
            <a:ext cx="10178322" cy="5495277"/>
          </a:xfrm>
        </p:spPr>
        <p:txBody>
          <a:bodyPr>
            <a:noAutofit/>
          </a:bodyPr>
          <a:lstStyle/>
          <a:p>
            <a:pPr marL="457200" indent="-457200">
              <a:spcBef>
                <a:spcPts val="300"/>
              </a:spcBef>
              <a:buAutoNum type="arabicPeriod"/>
            </a:pPr>
            <a:r>
              <a:rPr lang="ru-RU" sz="1600" b="1" dirty="0"/>
              <a:t>Модель Альтмана</a:t>
            </a:r>
          </a:p>
          <a:p>
            <a:pPr>
              <a:spcBef>
                <a:spcPts val="300"/>
              </a:spcBef>
            </a:pPr>
            <a:r>
              <a:rPr lang="ru-RU" sz="1600" dirty="0"/>
              <a:t>В основе методики лежит определение интегрального показателя на базе коэффициентов, учитывающих снижение долговых обязательств; а также расчет коэффициента удельного веса оборотных активов, а также соотношение текущей задолженности к общим обязательствам</a:t>
            </a:r>
          </a:p>
          <a:p>
            <a:pPr>
              <a:spcBef>
                <a:spcPts val="300"/>
              </a:spcBef>
            </a:pPr>
            <a:r>
              <a:rPr lang="ru-RU" sz="1600" dirty="0"/>
              <a:t>Для акционерных компаний с целью получения достоверного результата интегральная оценка проводится на основе 5 показателей: чистый денежный поток по сравнению с активами; скорость оборота капитала; соотношение акций с размером задолженности; доходность; процент прибыли по отношению к активам общества</a:t>
            </a:r>
          </a:p>
          <a:p>
            <a:pPr>
              <a:spcBef>
                <a:spcPts val="300"/>
              </a:spcBef>
            </a:pPr>
            <a:r>
              <a:rPr lang="ru-RU" sz="1600" dirty="0"/>
              <a:t>Точность прогноза на основе модели Альтмана для одного года составляет 95%.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ru-RU" sz="1600" b="1" dirty="0"/>
              <a:t>2. Модель </a:t>
            </a:r>
            <a:r>
              <a:rPr lang="ru-RU" sz="1600" b="1" dirty="0" err="1"/>
              <a:t>Таффлера</a:t>
            </a:r>
            <a:endParaRPr lang="ru-RU" sz="1600" b="1" dirty="0"/>
          </a:p>
          <a:p>
            <a:pPr>
              <a:spcBef>
                <a:spcPts val="300"/>
              </a:spcBef>
            </a:pPr>
            <a:r>
              <a:rPr lang="ru-RU" sz="1600" dirty="0"/>
              <a:t>Применяется для акционерных обществ; демонстрирует ситуацию по общей платежеспособности и картину вероятности наступления банкротства</a:t>
            </a:r>
          </a:p>
          <a:p>
            <a:pPr>
              <a:spcBef>
                <a:spcPts val="300"/>
              </a:spcBef>
            </a:pPr>
            <a:r>
              <a:rPr lang="ru-RU" sz="1600" dirty="0"/>
              <a:t>Модель формируется за счет 4-х факторов (показателей), имеющих вес (долю): выполнение обязательств перед кредиторами; ситуация с оборотным капиталом; учет финансовых рисков; способность компании погасить свои долги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ru-RU" sz="1600" b="1" dirty="0"/>
              <a:t>3. Модель Бивера</a:t>
            </a:r>
          </a:p>
          <a:p>
            <a:pPr>
              <a:spcBef>
                <a:spcPts val="300"/>
              </a:spcBef>
            </a:pPr>
            <a:r>
              <a:rPr lang="ru-RU" sz="1600" dirty="0"/>
              <a:t>Модель имеет в основе показатель чистого оборота активов и их доходности; удельного веса кредиторской задолженности; реальной ликвидности; показателя, демонстрирующего превышение прибыли над обязательствами перед сторонними организациями</a:t>
            </a:r>
          </a:p>
        </p:txBody>
      </p:sp>
    </p:spTree>
    <p:extLst>
      <p:ext uri="{BB962C8B-B14F-4D97-AF65-F5344CB8AC3E}">
        <p14:creationId xmlns:p14="http://schemas.microsoft.com/office/powerpoint/2010/main" val="684014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1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1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1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1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1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1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1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1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1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126F7-1281-E7F8-9D75-79FAA1DD5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C1AD10-7DDF-CE00-B641-B59934E48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232342"/>
            <a:ext cx="10178322" cy="877370"/>
          </a:xfrm>
        </p:spPr>
        <p:txBody>
          <a:bodyPr>
            <a:noAutofit/>
          </a:bodyPr>
          <a:lstStyle/>
          <a:p>
            <a:pPr algn="r"/>
            <a:r>
              <a:rPr lang="ru-RU" sz="3200" dirty="0"/>
              <a:t>Основные модели  анализа</a:t>
            </a:r>
            <a:br>
              <a:rPr lang="ru-RU" sz="3200" dirty="0"/>
            </a:br>
            <a:r>
              <a:rPr lang="ru-RU" sz="3200" dirty="0"/>
              <a:t>вероятности банкротства </a:t>
            </a:r>
            <a:r>
              <a:rPr lang="ru-RU" sz="2800" dirty="0"/>
              <a:t>(4-5)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D747652-0F0C-B9E9-7ADF-952D6DB824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109712"/>
            <a:ext cx="10178322" cy="5584054"/>
          </a:xfrm>
        </p:spPr>
        <p:txBody>
          <a:bodyPr>
            <a:normAutofit lnSpcReduction="10000"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ru-RU" b="1" dirty="0"/>
              <a:t>4. Схема Зайцева</a:t>
            </a:r>
          </a:p>
          <a:p>
            <a:pPr>
              <a:spcBef>
                <a:spcPts val="300"/>
              </a:spcBef>
            </a:pPr>
            <a:r>
              <a:rPr lang="ru-RU" dirty="0"/>
              <a:t>Подходит для отечественных предприятий</a:t>
            </a:r>
          </a:p>
          <a:p>
            <a:pPr>
              <a:spcBef>
                <a:spcPts val="300"/>
              </a:spcBef>
            </a:pPr>
            <a:r>
              <a:rPr lang="ru-RU" dirty="0"/>
              <a:t>Основана на 6-и показателях: уровне чистых убытков по отношению к капиталу предприятия; соотношении кредиторской и дебиторской задолженности; соответствии ликвидных активов кратковременной кредиторской задолженности; коэффициенты оборота; уровне собственного капитала по отношению к обязательствам; убытках от продажи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ru-RU" b="1" dirty="0"/>
              <a:t>5. Оценка по методике иркутских ученых</a:t>
            </a:r>
          </a:p>
          <a:p>
            <a:pPr>
              <a:spcBef>
                <a:spcPts val="300"/>
              </a:spcBef>
            </a:pPr>
            <a:r>
              <a:rPr lang="ru-RU" dirty="0"/>
              <a:t>Модель представлена в виде интеграционного показателя, который включает : соотношение оборотных и собственных активов; рентабельность капитала (чистая прибыль делится на все имущество предприятия); скорость оборота активов, определяемая путем деления чистой выручки на общую сумму; норма прибыли (рассчитывается путем соотношения чистых доходов к расходам)</a:t>
            </a:r>
          </a:p>
          <a:p>
            <a:pPr>
              <a:spcBef>
                <a:spcPts val="300"/>
              </a:spcBef>
            </a:pPr>
            <a:r>
              <a:rPr lang="ru-RU" dirty="0"/>
              <a:t>Прогноз по иркутской методике достаточно результативен и учитывает российскую специфику работы предприятий</a:t>
            </a:r>
          </a:p>
          <a:p>
            <a:pPr>
              <a:spcBef>
                <a:spcPts val="300"/>
              </a:spcBef>
            </a:pPr>
            <a:r>
              <a:rPr lang="ru-RU" dirty="0"/>
              <a:t>Единственный недостаток — неприспособленность модели под различные отрасли хозяйствования</a:t>
            </a:r>
          </a:p>
        </p:txBody>
      </p:sp>
    </p:spTree>
    <p:extLst>
      <p:ext uri="{BB962C8B-B14F-4D97-AF65-F5344CB8AC3E}">
        <p14:creationId xmlns:p14="http://schemas.microsoft.com/office/powerpoint/2010/main" val="1366489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1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1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1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1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1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1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1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Эмблема">
  <a:themeElements>
    <a:clrScheme name="Эмблема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Эмблема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Эмблема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TM10001106[[fn=Эмблема]]</Template>
  <TotalTime>432</TotalTime>
  <Words>1917</Words>
  <Application>Microsoft Office PowerPoint</Application>
  <PresentationFormat>Широкоэкранный</PresentationFormat>
  <Paragraphs>243</Paragraphs>
  <Slides>25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35" baseType="lpstr">
      <vt:lpstr>Arial</vt:lpstr>
      <vt:lpstr>Calibri</vt:lpstr>
      <vt:lpstr>Corbel</vt:lpstr>
      <vt:lpstr>Georgia</vt:lpstr>
      <vt:lpstr>Gill Sans MT</vt:lpstr>
      <vt:lpstr>Impact</vt:lpstr>
      <vt:lpstr>Times New Roman</vt:lpstr>
      <vt:lpstr>Wingdings</vt:lpstr>
      <vt:lpstr>Wingdings 3</vt:lpstr>
      <vt:lpstr>Эмблема</vt:lpstr>
      <vt:lpstr>2. Финансовый анализ и финансовое планирование на предприятии</vt:lpstr>
      <vt:lpstr>3. Коэффициентный (или относительный) финансовый анализ </vt:lpstr>
      <vt:lpstr>Категории финансовых коэффициентов и их взаимосвязь</vt:lpstr>
      <vt:lpstr>Показатели рыночной стоимости (1-3)</vt:lpstr>
      <vt:lpstr>Показатели рыночной стоимости (4-6)</vt:lpstr>
      <vt:lpstr>Q-Тобина (6)</vt:lpstr>
      <vt:lpstr>Показатели устойчивости (1)</vt:lpstr>
      <vt:lpstr>Показатели устойчивости (2-4) </vt:lpstr>
      <vt:lpstr>Важный момент для ликвидности</vt:lpstr>
      <vt:lpstr>Показатели ликвидности (1)</vt:lpstr>
      <vt:lpstr>Показатели ликвидности (2, 3)</vt:lpstr>
      <vt:lpstr>Показатели оборачиваемости</vt:lpstr>
      <vt:lpstr>Показатели рентабельности (NE = NI = NP)</vt:lpstr>
      <vt:lpstr>Таким образом,</vt:lpstr>
      <vt:lpstr>Модель Дюпона. Моделирование и факторный анализ прибыли и рентабельности</vt:lpstr>
      <vt:lpstr>Инновационный центр в России URL: http://www.dupont.ru/</vt:lpstr>
      <vt:lpstr>2-х и 3-х факторная модель DuPont</vt:lpstr>
      <vt:lpstr>Факторы, влияющие на ROE</vt:lpstr>
      <vt:lpstr>Пятифакторная модель Дюпон</vt:lpstr>
      <vt:lpstr>Примеры</vt:lpstr>
      <vt:lpstr>4. Финансовая устойчивость vs банкротство </vt:lpstr>
      <vt:lpstr>Причины возникновения банкротства</vt:lpstr>
      <vt:lpstr>Причины возникновения и методы предупреждения банкротства</vt:lpstr>
      <vt:lpstr>Основные модели анализа вероятности банкротства (1-3)</vt:lpstr>
      <vt:lpstr>Основные модели  анализа вероятности банкротства (4-5)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 Финансовый анализ и финансовое планирование на предприятии</dc:title>
  <dc:creator>Пользователь Windows</dc:creator>
  <cp:lastModifiedBy>Тарасова Юлия Александровна</cp:lastModifiedBy>
  <cp:revision>54</cp:revision>
  <cp:lastPrinted>2025-09-16T19:43:49Z</cp:lastPrinted>
  <dcterms:created xsi:type="dcterms:W3CDTF">2025-08-31T15:23:11Z</dcterms:created>
  <dcterms:modified xsi:type="dcterms:W3CDTF">2025-09-17T06:04:51Z</dcterms:modified>
</cp:coreProperties>
</file>